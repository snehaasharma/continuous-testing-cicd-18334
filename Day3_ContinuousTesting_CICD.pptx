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Version Control &amp;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Code Management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743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Day 3  ·  Module 3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45% Theory / 55% Hands-on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14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Git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072384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GitHub / GitLab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Manage test code effectively using Git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Apply commit hygiene, naming conventions, and repository organisation patterns specific to test automation projects.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Implement branching and merge strategies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Understand Feature Branch, GitHub Flow, and Trunk-Based Development — and how each interacts with CI pipelines for test code.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53"/>
                </a:solidFill>
              </a:rPr>
              <a:t>Enable collaboration between Dev and QA teams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Use pull requests, CODEOWNERS, branch protection rules, and code review practices to maintain quality in shared test repositories.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GIT WORKFLOWS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 Workflows for Test Automation Code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9844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12984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914400"/>
            <a:ext cx="8339328" cy="29260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509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Feature Branch Workflow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950976"/>
            <a:ext cx="347472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9601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BCD4"/>
                </a:solidFill>
              </a:rPr>
              <a:t>Use when: Mid-sized teams; structured PR review needed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1252728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Create feat/&lt;ticket&gt;-&lt;slug&gt; branch from main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1572768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Commit test code changes in small logical units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252728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Open PR → CI runs → peer review → merge to 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Delete branch after merge; main always deployable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911096"/>
            <a:ext cx="804672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9293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triggers on PR open/push; blocks merge on failure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304288"/>
            <a:ext cx="8412480" cy="129844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04288"/>
            <a:ext cx="73152" cy="129844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304288"/>
            <a:ext cx="8339328" cy="29260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40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853"/>
                </a:solidFill>
              </a:rPr>
              <a:t>GitHub Flow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2340864"/>
            <a:ext cx="347472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350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C853"/>
                </a:solidFill>
              </a:rPr>
              <a:t>Use when: Fast-moving teams; continuous deployment cadence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2642616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Branch from main (short-lived: hours to 1–2 days max)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2962656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Push frequently; open PR early as draft for visibility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642616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 runs full test suite on every push to PR branch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62656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53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Merge to main triggers auto-deploy to staging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300984"/>
            <a:ext cx="804672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3192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on every push; required status checks gate the merge button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694176"/>
            <a:ext cx="8412480" cy="129844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694176"/>
            <a:ext cx="73152" cy="129844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" y="3694176"/>
            <a:ext cx="8339328" cy="29260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30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Trunk-Based Development (TBD)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0" y="3730752"/>
            <a:ext cx="347472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37398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D600"/>
                </a:solidFill>
              </a:rPr>
              <a:t>Use when: High-trust teams; strong automated test coverage required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403250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Commit directly to main (or very short branches &lt; 1 day)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35254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Feature flags hide incomplete application functionality while changes integrate continuously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032504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Every commit triggers full CI pipeline immediately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352544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Team owns stability of main collectively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690872"/>
            <a:ext cx="804672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7091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on every commit to main; fast suite execution is a prerequisite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STRATEGY COMPARISON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Choosing the Right Strategy for Test Code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2194560" cy="31089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Dimension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868680"/>
            <a:ext cx="201168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877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Feature Branch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2011680" cy="310896"/>
          </a:xfrm>
          <a:prstGeom prst="rect">
            <a:avLst/>
          </a:prstGeom>
          <a:solidFill>
            <a:srgbClr val="00C85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877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GitHub 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868680"/>
            <a:ext cx="2011680" cy="310896"/>
          </a:xfrm>
          <a:prstGeom prst="rect">
            <a:avLst/>
          </a:prstGeom>
          <a:solidFill>
            <a:srgbClr val="FFD600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877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Trunk-Based Dev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225296"/>
            <a:ext cx="21945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26187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Branch lifespan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1225296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126187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Days to weeks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25296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26187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Hours to 1–2 days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1225296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26187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&lt; 1 day (or direct)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755648"/>
            <a:ext cx="219456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1792224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CI trigger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1755648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1792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On PR push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792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On PR push + merge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1755648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1792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On every commit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286000"/>
            <a:ext cx="21945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32257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Merge conflict risk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6040" y="2286000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232257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Medium–High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286000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32257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0840" y="2286000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232257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Very 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2816352"/>
            <a:ext cx="219456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2852928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Review gate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6040" y="2816352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9192" y="28529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Required PR review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2816352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8529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Required PR review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20840" y="2816352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93992" y="28529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Optional / pair prog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346704"/>
            <a:ext cx="21945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38328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Test code stability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06040" y="3346704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79192" y="33832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Good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346704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3832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Very Good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20840" y="3346704"/>
            <a:ext cx="20116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93992" y="33832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Can be very high with fast CI &amp; strong coverage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3877056"/>
            <a:ext cx="219456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391363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Best for QA teams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06040" y="3877056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79192" y="391363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Async / distributed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3877056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391363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CI-first fast teams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20840" y="3877056"/>
            <a:ext cx="201168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93992" y="391363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High-trust senior teams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65760" y="4425696"/>
            <a:ext cx="84124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443984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⚠  GitFlow: Less favored for CI/CD-heavy teams — better suited to release-based workflows than continuous delivery. For new automation projects following CI/CD, GitHub Flow or Trunk-Based Development are the more practical choices.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COMMIT HYGIENE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Code Commit Hygiene &amp; Naming Conventions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Branch Naming Convention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4023360" cy="1993392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34440"/>
            <a:ext cx="40233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52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Branch names — test automation repo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2704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feat/QA-101-login-smoke-tests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76936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feat/QA-204-checkout-api-tests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01168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fix/QA-317-flaky-cart-teardown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25399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chore/QA-400-update-testng-xml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49631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refactor/QA-512-page-object-base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3862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98094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Pattern:  &lt;type&gt;/&lt;ticket&gt;-&lt;slug&gt;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22326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Types: feat | fix | chore | refactor | 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4023360" cy="31089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Commit Message Rules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23360" cy="151790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40233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75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Commit messages — Conventional Commits style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395020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commit — imperative, specific, atomic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19252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feat(login): add smoke test for invalid credentials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43484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7715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commit — references ticket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91947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fix(cart): remove shared WebDriver state in teardown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16178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40410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too vague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64642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 tests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868680"/>
            <a:ext cx="4160520" cy="31089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8686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Managing Test Data &amp; Config Files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1234440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32588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Version-control test data (CSV, JSON) alongside test code in the same repo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17720" y="1746504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37944"/>
            <a:ext cx="274320" cy="2743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029200" y="1792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Store config.properties or pytest.ini in repo — inject env-specific values via CI env-vars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617720" y="2258568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350008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02920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Use .gitignore to exclude: IDE files, /target, /__pycache__, test-output/, *.log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4617720" y="2770632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862072"/>
            <a:ext cx="274320" cy="27432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029200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Never commit credentials, tokens, or PII — use GitHub Secrets or a vault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4617720" y="3282696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374136"/>
            <a:ext cx="274320" cy="27432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029200" y="3328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Never commit large binary test fixtures directly — use Git LFS or external storage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617720" y="3794760"/>
            <a:ext cx="41605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886200"/>
            <a:ext cx="274320" cy="27432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02920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Tag test repo releases to align with app releases: git tag v1.4.2-tests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PULL REQUESTS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Pull Request Best Practices for Test Code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1325880" cy="475488"/>
          </a:xfrm>
          <a:prstGeom prst="rect">
            <a:avLst/>
          </a:prstGeom>
          <a:solidFill>
            <a:srgbClr val="90A4AE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</a:rPr>
              <a:t>Open Draft PR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91640" y="987552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10512" y="914400"/>
            <a:ext cx="13258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CI Runs on Push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36392" y="987552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5264" y="914400"/>
            <a:ext cx="1325880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Peer 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81144" y="987552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0016" y="914400"/>
            <a:ext cx="1325880" cy="475488"/>
          </a:xfrm>
          <a:prstGeom prst="rect">
            <a:avLst/>
          </a:prstGeom>
          <a:solidFill>
            <a:srgbClr val="FFD60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Address Feedback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25896" y="987552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914400"/>
            <a:ext cx="1325880" cy="475488"/>
          </a:xfrm>
          <a:prstGeom prst="rect">
            <a:avLst/>
          </a:prstGeom>
          <a:solidFill>
            <a:srgbClr val="00C85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CI Green + Approve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70648" y="987552"/>
            <a:ext cx="118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914400"/>
            <a:ext cx="132588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9144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Merge &amp; Delete Branch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1508760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508760"/>
            <a:ext cx="54864" cy="10789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856232"/>
            <a:ext cx="310896" cy="3108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96112" y="15636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53"/>
                </a:solidFill>
              </a:rPr>
              <a:t>Keep PRs small and focused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96112" y="187452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Target &lt; 400 lines changed. One PR = one concern (new test, fix, or refactor). Large PRs slow reviews and mask defects.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" y="2660904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" y="2660904"/>
            <a:ext cx="54864" cy="10789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008376"/>
            <a:ext cx="310896" cy="3108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96112" y="2715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Write a meaningful PR description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896112" y="302666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Include: what changed, why, which test scenarios are covered, and how to verify locally. Use PR templates (.github/PULL_REQUEST_TEMPLATE.md).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65760" y="3813048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5760" y="3813048"/>
            <a:ext cx="54864" cy="10789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60520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96112" y="38679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Never merge a PR with failing CI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96112" y="4178808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Configure branch protection to require all status checks to pass before the merge button is enabled. Treat red CI as a blocker.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663440" y="1508760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663440" y="1508760"/>
            <a:ext cx="54864" cy="107899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856232"/>
            <a:ext cx="310896" cy="31089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193792" y="15636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9B6F6"/>
                </a:solidFill>
              </a:rPr>
              <a:t>Request specific reviewers — use CODEOWNERS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5193792" y="187452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Create .github/CODEOWNERS to auto-assign the right engineers. Example: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*/tests/payment/**  @qa-payments-team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4663440" y="2660904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663440" y="2660904"/>
            <a:ext cx="54864" cy="10789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008376"/>
            <a:ext cx="310896" cy="310896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193792" y="2715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53"/>
                </a:solidFill>
              </a:rPr>
              <a:t>Review test logic, not just syntax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193792" y="302666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Check: Does the test verify the right thing? Is it independent? Does it clean up state? Are assertions meaningful?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663440" y="3813048"/>
            <a:ext cx="406908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4663440" y="3813048"/>
            <a:ext cx="54864" cy="10789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160520"/>
            <a:ext cx="310896" cy="310896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193792" y="38679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Dismiss stale approvals on new pushes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5193792" y="4178808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Enable 'Dismiss stale pull request approvals when new commits are pushed' in branch protection so old approvals don't pass changed code.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BRANCH PROTECTION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Branch Protection Rules &amp; CODEOWNERS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6908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Branch Protection — main  (GitHub example)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406908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930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12801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Require pull request before merging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1673352"/>
            <a:ext cx="40690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821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" y="171907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Required approvals: ≥ 1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112264"/>
            <a:ext cx="406908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71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" y="21579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Require status checks to pass (CI build + test)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2551176"/>
            <a:ext cx="40690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06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259689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Require branches to be up to date before merging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2990088"/>
            <a:ext cx="406908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4495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4672" y="303580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600"/>
                </a:solidFill>
              </a:rPr>
              <a:t>Dismiss stale reviews on new push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65760" y="3429000"/>
            <a:ext cx="40690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8386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4672" y="347472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600"/>
                </a:solidFill>
              </a:rPr>
              <a:t>Require review from Code Owners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365760" y="3867912"/>
            <a:ext cx="406908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2277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04672" y="391363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600"/>
                </a:solidFill>
              </a:rPr>
              <a:t>Avoid bypass permissions except for tightly controlled admin/emergency use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663440" y="868680"/>
            <a:ext cx="41148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663440" y="868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CODEOWNERS File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663440" y="1234440"/>
            <a:ext cx="4114800" cy="239572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663440" y="1234440"/>
            <a:ext cx="4114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754880" y="1252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.github/CODEOWNERS — test repository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4773168" y="152704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.github/CODEOWNERS</a:t>
            </a:r>
            <a:endParaRPr lang="en-US" sz="850" dirty="0"/>
          </a:p>
        </p:txBody>
      </p:sp>
      <p:sp>
        <p:nvSpPr>
          <p:cNvPr id="38" name="Text 29"/>
          <p:cNvSpPr/>
          <p:nvPr/>
        </p:nvSpPr>
        <p:spPr>
          <a:xfrm>
            <a:off x="4773168" y="176936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&lt;path-pattern&gt;  &lt;owner(s)&gt;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4773168" y="20116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4773168" y="225399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test files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4773168" y="249631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src/test/**            @qa-team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4773168" y="27386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4773168" y="298094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Payment tests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4773168" y="322326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src/test/**/payment/** @qa-payments</a:t>
            </a:r>
            <a:endParaRPr lang="en-US" sz="850" dirty="0"/>
          </a:p>
        </p:txBody>
      </p:sp>
      <p:sp>
        <p:nvSpPr>
          <p:cNvPr id="45" name="Text 36"/>
          <p:cNvSpPr/>
          <p:nvPr/>
        </p:nvSpPr>
        <p:spPr>
          <a:xfrm>
            <a:off x="4773168" y="34655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4773168" y="370789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 pipeline config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4773168" y="395020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.github/workflows/**   @devops-team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4663440" y="3685032"/>
            <a:ext cx="4114800" cy="1042416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4754880" y="37124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Required Status Checks  ·  Draft PR note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4754880" y="395020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Add CI job names (e.g. build, test) as required checks — merge button stays disabled until all pass. Note: CODEOWNERS auto-requests reviewers only when a PR is marked ready for review, not while in draft.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4754880" y="44439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GitLab equivalent: Code Owners + merge request approval rules.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MERGE CONFLICTS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Handling Merge Conflicts in Test Code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2926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Common Causes in Test Repos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16152"/>
            <a:ext cx="4023360" cy="36576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344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✕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Multiple SDETs updating the same Page Object class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636776"/>
            <a:ext cx="4023360" cy="36576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6550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✕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testng.xml / pytest.ini modified concurrently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4023360" cy="36576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75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✕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Shared base test class changed on two branches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78024"/>
            <a:ext cx="4023360" cy="36576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963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✕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 data files edited independently in parallel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4023360" cy="36576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1693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4336"/>
                </a:solidFill>
              </a:rPr>
              <a:t>✕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Long-lived feature branches drifting far from main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402336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37560"/>
            <a:ext cx="40233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55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Resolving conflicts — rebase workflow (follow team policy)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63016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Prefer rebase for short-lived branches (linear history)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7248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merge if your team policy values explicit merge commits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1480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35711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origin/main   # replays your commits on latest main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59943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84174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conflict markers appear: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508406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&lt;&lt;&lt;&lt;&lt;&lt;&lt; HEAD (your changes)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532638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======= (separator)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56869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&gt;&gt;&gt;&gt;&gt;&gt;&gt; main (incoming changes)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81101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605332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Resolve, then continue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629564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src/test/java/pages/LoginPage.java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653796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678027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702259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tests still pass before pushing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726490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 # or  ./gradlew test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Prevention Strategies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1216152"/>
            <a:ext cx="416052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1216152"/>
            <a:ext cx="54864" cy="8961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472184"/>
            <a:ext cx="274320" cy="27432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02920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53"/>
                </a:solidFill>
              </a:rPr>
              <a:t>Merge or rebase from main daily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029200" y="15453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Short-lived branches and frequent sync eliminates drift. Make it a team habit — rebase every morning.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617720" y="2185416"/>
            <a:ext cx="416052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17720" y="2185416"/>
            <a:ext cx="54864" cy="8961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441448"/>
            <a:ext cx="274320" cy="2743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029200" y="2231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Single responsibility per Page Object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0292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One class per UI page; aim to have one primary SDET working on a given class within a sprint where practical. Reduces the likelihood of concurrent edits to the same file.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617720" y="3154680"/>
            <a:ext cx="416052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617720" y="3154680"/>
            <a:ext cx="54864" cy="89611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410712"/>
            <a:ext cx="274320" cy="27432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50292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Split testng.xml by team / module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5029200" y="34838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Instead of one monolithic suite file, use multiple included suite files. Reduces contention on configuration.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4617720" y="4123944"/>
            <a:ext cx="4160520" cy="89611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617720" y="4123944"/>
            <a:ext cx="54864" cy="89611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379976"/>
            <a:ext cx="274320" cy="274320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502920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Use short-lived feature branches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5029200" y="44531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GitHub Flow / TBD best practice: branches older than 2 days are a conflict risk. Merge early, merge often.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Repo Setup → Commit → PR → Merge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Creating Repositories for Automation Projects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Create a new GitHub repo; initialise with README &amp; .gitignore (Java/Python)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Clone locally: git clone &lt;url&gt; &amp;&amp; cd &lt;repo&gt;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framework skeleton from Day 2 lab; commit initial structure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to origin: git push -u origin main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Commit, Merge, and Pull Request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Create feature branch: git checkout -b feat/QA-101-login-smoke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Write a test, stage &amp; commit: git add . &amp;&amp; git commit -m 'feat(login): add smoke test'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branch: git push origin feat/QA-101-login-smoke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PR on GitHub; observe CI status checks; add reviewer; merge after approval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Handling Merge Conflicts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Simulate conflict: trainer edits LoginPage on main; student edits same file on branch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git fetch origin &amp;&amp; git rebase origin/main — observe conflict markers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Resolve conflict in IDE; git add &lt;file&gt; &amp;&amp; git rebase --continue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with force (rebase): git push --force-with-lease; verify CI is green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Push, Branch, Review &amp; Merge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45% Theory  |  55%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Remote repo with framework code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Push Automation Code to Repository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Initialise or clone the course Git repository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Copy Day 2 framework skeleton into the repo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Stage and commit: git add . &amp;&amp; git commit -m 'chore: add automation framework skeleton'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to remote: git push origin main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Merged PR visible in repo history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Create and Merge Feature Branches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Create: git checkout -b feat/QA-101-login-test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a new test class; commit with Conventional Commit message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Push branch and open a Pull Request on GitHub/GitLab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Swap with a partner: review their PR, leave a comment, approve, and merge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Resolved PR with review comments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Apply Code Review Feedback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Review trainer's PR — find 1 issue (missing assertion, hardcoded URL, etc.)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Leave an inline comment requesting a change on GitHub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Author addresses feedback, pushes a new commit to the PR branch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Re-review, approve, and verify CI is green before merging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3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Git Repository with test automation code pushed to GitHub/GitLab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38528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25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87552" y="1984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Branching &amp; Versioning Strategy Document for the test repo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1280160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12893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GitHub Flow and Trunk-Based Development are the preferred strategies for CI-first test automation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0" y="1792224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1801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Short-lived branches and frequent merges prevent the merge conflicts that plague long-lived test branches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63440" y="2304288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3134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Conventional Commit messages and consistent branch naming make test repo history navigable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663440" y="2816352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Branch protection rules + CODEOWNERS are the primary quality gates for shared test repositories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63440" y="3328416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3337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5.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Never commit credentials or PII — use GitHub Secrets / vault and inject via CI env-vars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4: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148840" y="42336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CI Pipeline Design with Automated Testing  ·  Jenkins / GitHub Actions / Azure DevOps pipeline config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507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Hands-on: Create a CI pipeline · add test execution steps · trigger on commit · analyse failed builds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3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3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What is the main risk of long-lived feature branches in a test automation repo?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The branch drifts far from main, increasing merge conflict probability and delaying integration. The longer the branch, the larger and more complex the eventual merge — and the more likely CI regressions are missed.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What does git push --force-with-lease do, and why is it safer than --force?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--force-with-lease only overwrites the remote branch if no one else has pushed to it since your last fetch. It prevents accidentally overwriting a teammate's commits, making it the safe default for post-rebase pushes.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What two things does a .github/CODEOWNERS file control?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1) It automatically assigns specific reviewers (users or teams) when a PR modifies files matching a path pattern. 2) When 'Require review from Code Owners' is enabled in branch protection, it blocks merges until the assigned owner approves.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What are the advantages of git rebase over git merge when syncing a feature branch, and when might a team choose merge instead?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Rebase replays your commits on top of the latest main, producing a linear history without merge commits — easier to read, bisect, and blame. Teams may prefer merge commits for auditability or when explicit integration points matter. Follow your team's documented policy.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3</dc:title>
  <dc:subject>PptxGenJS Presentation</dc:subject>
  <dc:creator>Jai Singh</dc:creator>
  <cp:lastModifiedBy>Jai Singh</cp:lastModifiedBy>
  <cp:revision>1</cp:revision>
  <dcterms:created xsi:type="dcterms:W3CDTF">2026-04-11T02:05:07Z</dcterms:created>
  <dcterms:modified xsi:type="dcterms:W3CDTF">2026-04-11T02:05:07Z</dcterms:modified>
</cp:coreProperties>
</file>