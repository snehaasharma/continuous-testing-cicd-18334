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68" r:id="rId5"/>
    <p:sldId id="269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08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3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CONTINUOUS TESTING WITH CI/CD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20" y="15087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Test Reporting, Quality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Gates &amp; Optimisation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74320" y="3218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CD4"/>
                </a:solidFill>
              </a:rPr>
              <a:t>Day 7  ·  Module 7  ·  2 Hours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9B6F6"/>
                </a:solidFill>
              </a:rPr>
              <a:t>SDET / DevOps Engineer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9456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9B6F6"/>
                </a:solidFill>
              </a:rPr>
              <a:t>Intermediate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3703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9B6F6"/>
                </a:solidFill>
              </a:rPr>
              <a:t>40% Theory / 60% Hands-on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35040" y="2578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0A4AE"/>
                </a:solidFill>
              </a:rPr>
              <a:t>TOOLS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80760" y="2825496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Allure Report 3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154680"/>
            <a:ext cx="28346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JaCoCo 0.8.14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992624"/>
            <a:ext cx="8778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Jai Singh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LEARNING OUTCOMES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You Will Achieve Today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60120"/>
            <a:ext cx="73152" cy="11155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93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069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CD4"/>
                </a:solidFill>
              </a:rPr>
              <a:t>Generate and interpret Allure test reports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435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D"/>
                </a:solidFill>
              </a:rPr>
              <a:t>Configure Allure 3 with JUnit 5 and TestNG, generate rich HTML reports with trend history, and publish them to a hosting target such as GitHub Pages via CI.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19456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194560"/>
            <a:ext cx="73152" cy="11155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23744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23042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853"/>
                </a:solidFill>
              </a:rPr>
              <a:t>Enforce quality gates with JaCoCo coverage thresholds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6700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D"/>
                </a:solidFill>
              </a:rPr>
              <a:t>Add JaCoCo 0.8.14 to your Maven build, configure minimum coverage rules (line + branch), and fail the build automatically when thresholds are not met.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429000"/>
            <a:ext cx="8412480" cy="111556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429000"/>
            <a:ext cx="73152" cy="11155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581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38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600"/>
                </a:solidFill>
              </a:rPr>
              <a:t>Identify and remove CI pipeline bottlenecks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43000" y="39044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D"/>
                </a:solidFill>
              </a:rPr>
              <a:t>Measure stage durations, apply test sharding, dependency caching, and parallel job strategies to bring slow pipelines under a target threshold.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ALLURE REPORT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Allure Report 3 — Setup &amp; Key Features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69080" cy="4087368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68680"/>
            <a:ext cx="406908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pom.xml — Allure JUnit 5 integration (adapter v2.x)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868680"/>
            <a:ext cx="41148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Allure 3 — Key Features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1216152"/>
            <a:ext cx="41148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399032"/>
            <a:ext cx="256032" cy="25603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047488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Rich HTML reports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047488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Interactive dashboards: pass/fail/skipped breakdown, duration bars, step-level execution detail, screenshots, and attachments. Far richer than JUnit XML alone.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663440" y="1984248"/>
            <a:ext cx="41148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167128"/>
            <a:ext cx="256032" cy="25603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047488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Trend history across runs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047488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Allure tracks test stability over time when reports are published. Identify tests that consistently fail, recently became flaky, or regressed after a specific commit.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663440" y="2752344"/>
            <a:ext cx="41148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935224"/>
            <a:ext cx="256032" cy="25603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047488" y="27980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853"/>
                </a:solidFill>
              </a:rPr>
              <a:t>Annotations — @Epic, @Feature, @Story, @Step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5047488" y="3072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Annotate tests with business context: @Feature("Login") groups tests by feature; @Step annotates method calls for drill-down in the report; @Severity labels criticality.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663440" y="3520440"/>
            <a:ext cx="41148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703320"/>
            <a:ext cx="256032" cy="256032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047488" y="3566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9B6F6"/>
                </a:solidFill>
              </a:rPr>
              <a:t>Quality Gate via allure-framework/allure-action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5047488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Allure 3 supports GitHub Action that posts PR summaries and — if quality gate settings are configured in allurerc.mjs — posts a pass/fail Check on the PR.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4663440" y="4288536"/>
            <a:ext cx="41148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471416"/>
            <a:ext cx="256032" cy="256032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047488" y="4334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Allure 3 platform — 2.x Java adapters</a:t>
            </a:r>
            <a:endParaRPr lang="en-US" sz="950" dirty="0"/>
          </a:p>
        </p:txBody>
      </p:sp>
      <p:sp>
        <p:nvSpPr>
          <p:cNvPr id="52" name="Text 45"/>
          <p:cNvSpPr/>
          <p:nvPr/>
        </p:nvSpPr>
        <p:spPr>
          <a:xfrm>
            <a:off x="5047488" y="4608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Allure Report 3 is the current report platform. Java adapters (allure-junit5, allure-testng) still use the 2.x Maven artifact line. Both are actively maintained by Qameta.</a:t>
            </a:r>
            <a:endParaRPr lang="en-US" sz="850" dirty="0"/>
          </a:p>
        </p:txBody>
      </p:sp>
      <p:sp>
        <p:nvSpPr>
          <p:cNvPr id="200" name="CodeBlock"/>
          <p:cNvSpPr txBox="1">
            <a:spLocks noGrp="1"/>
          </p:cNvSpPr>
          <p:nvPr/>
        </p:nvSpPr>
        <p:spPr>
          <a:xfrm>
            <a:off x="475488" y="1161288"/>
            <a:ext cx="3849624" cy="37947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Allure Report 3 is the current platform;     --&gt;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Java adapters still use the 2.x artifact line --&gt;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&lt;groupId&gt;io.qameta.allure&lt;/groupId&gt;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&lt;artifactId&gt;allure-junit5&lt;/artifactId&gt;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&lt;version&gt;2.33.0&lt;/version&gt;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&lt;scope&gt;test&lt;/scope&gt;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allure-maven plugin --&gt;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&lt;plugin&gt;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&lt;groupId&gt;io.qameta.allure&lt;/groupId&gt;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&lt;artifactId&gt;allure-maven&lt;/artifactId&gt;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&lt;version&gt;2.17.0&lt;/version&gt;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&lt;/plugin&gt;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Generate: mvn allure:report --&gt;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Results:  target/allure-results/  --&gt;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Report:   target/site/allure-maven-plugin/ --&gt;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093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ALLURE IN CI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Publishing Allure Reports in GitHub Actions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720210"/>
            <a:ext cx="5120640" cy="4261104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68680"/>
            <a:ext cx="512064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869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.github/workflows/ci.yml — Allure report with history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669280" y="868680"/>
            <a:ext cx="3108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868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CI Reporting Notes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69280" y="1216152"/>
            <a:ext cx="3108960" cy="79552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417320"/>
            <a:ext cx="256032" cy="256032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6035040" y="126187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853"/>
                </a:solidFill>
              </a:rPr>
              <a:t>if: always() on every step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6035040" y="1554480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Ensures report generation and publish steps run even when tests fail — the report is most useful when there are failures to diagnose.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5669280" y="2066544"/>
            <a:ext cx="3108960" cy="79552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2267712"/>
            <a:ext cx="256032" cy="256032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6035040" y="211226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Trend history via gh-pages branch</a:t>
            </a:r>
            <a:endParaRPr lang="en-US" sz="950" dirty="0"/>
          </a:p>
        </p:txBody>
      </p:sp>
      <p:sp>
        <p:nvSpPr>
          <p:cNvPr id="66" name="Text 62"/>
          <p:cNvSpPr/>
          <p:nvPr/>
        </p:nvSpPr>
        <p:spPr>
          <a:xfrm>
            <a:off x="6035040" y="2404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Each run checks out the existing gh-pages branch, reuses prior report history from it, then publishes the updated report — enabling trend charts across runs.</a:t>
            </a:r>
            <a:endParaRPr lang="en-US" sz="850" dirty="0"/>
          </a:p>
        </p:txBody>
      </p:sp>
      <p:sp>
        <p:nvSpPr>
          <p:cNvPr id="67" name="Shape 63"/>
          <p:cNvSpPr/>
          <p:nvPr/>
        </p:nvSpPr>
        <p:spPr>
          <a:xfrm>
            <a:off x="5669280" y="2916936"/>
            <a:ext cx="3108960" cy="795528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3118104"/>
            <a:ext cx="256032" cy="256032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6035040" y="296265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Two CI patterns — choose one</a:t>
            </a:r>
            <a:endParaRPr lang="en-US" sz="950" dirty="0"/>
          </a:p>
        </p:txBody>
      </p:sp>
      <p:sp>
        <p:nvSpPr>
          <p:cNvPr id="70" name="Text 65"/>
          <p:cNvSpPr/>
          <p:nvPr/>
        </p:nvSpPr>
        <p:spPr>
          <a:xfrm>
            <a:off x="6035040" y="3255264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Pattern A (left): simple-elf + peaceiris → publishes HTML to GitHub Pages. No PR annotation; only contents: write permission needed. Pattern B: allure-framework/allure-action → posts PR summaries + Checks (needs pull-requests: write + checks: write). Do not mix the two.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5669280" y="3767328"/>
            <a:ext cx="3108960" cy="795528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7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3968496"/>
            <a:ext cx="256032" cy="256032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6035040" y="381304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4336"/>
                </a:solidFill>
              </a:rPr>
              <a:t>Allure report ≠ JUnit XML upload</a:t>
            </a:r>
            <a:endParaRPr lang="en-US" sz="950" dirty="0"/>
          </a:p>
        </p:txBody>
      </p:sp>
      <p:sp>
        <p:nvSpPr>
          <p:cNvPr id="74" name="Text 68"/>
          <p:cNvSpPr/>
          <p:nvPr/>
        </p:nvSpPr>
        <p:spPr>
          <a:xfrm>
            <a:off x="6035040" y="4105656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Allure generates a full HTML report from allure-results/ JSON files. It is separate from upload-artifact (raw XML). Use both: JUnit XML for CI parsing, Allure for human-readable review.</a:t>
            </a:r>
            <a:endParaRPr lang="en-US" sz="850" dirty="0"/>
          </a:p>
        </p:txBody>
      </p:sp>
      <p:sp>
        <p:nvSpPr>
          <p:cNvPr id="200" name="CodeBlock"/>
          <p:cNvSpPr txBox="1">
            <a:spLocks noGrp="1"/>
          </p:cNvSpPr>
          <p:nvPr/>
        </p:nvSpPr>
        <p:spPr>
          <a:xfrm>
            <a:off x="475488" y="1161288"/>
            <a:ext cx="4901184" cy="3813048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test-and-report: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permissions: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pull-requests: write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checks: write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contents: write   # needed for gh-pages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actions/setup-java@v5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java-version: '21'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distribution: temurin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actions/cache@v4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~/.m2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key: ${{ runner.os }}-m2-${{ hashFiles('**/pom.xml') }}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tests (generates allure-results/)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mvn test -B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        # collect results even on test failure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--- Allure 2 / gh-pages publish approach ---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Load Allure history from gh-pages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actions/checkout@v4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continue-on-error: true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ref: gh-pages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gh-pages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Generate Allure Report with history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simple-elf/allure-report-action@v1.13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gh_pages: gh-pages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allure_history: allure-history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allure_results: target/allure-results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Publish report to GitHub Pages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peaceiris/actions-gh-pages@v4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if: always()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github_token: ${{ secrets.GITHUB_TOKEN }}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publish_branch: gh-pages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publish_dir: allure-history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572448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COVERAGE GATES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JaCoCo 0.8.14 — Coverage Gates in Maven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solidFill>
            <a:srgbClr val="0E1F35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86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💡  Coverage thresholds are team heuristics, not universal standards. Risk-based guidance: 70–85% line coverage for typical code; 85–95% for critical business logic. 100% coverage is usually counterproductive — it leads to brittle tests that verify implementation details rather than behaviour.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316736"/>
            <a:ext cx="5029200" cy="3703320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16736"/>
            <a:ext cx="5029200" cy="237744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350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A4AE"/>
                </a:solidFill>
              </a:rPr>
              <a:t>pom.xml — JaCoCo 0.8.14 with LINE + BRANCH thresholds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577840" y="1316736"/>
            <a:ext cx="32004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1316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JaCoCo Key Concepts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577840" y="1664208"/>
            <a:ext cx="32004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6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1847088"/>
            <a:ext cx="256032" cy="256032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5961888" y="1709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853"/>
                </a:solidFill>
              </a:rPr>
              <a:t>prepare-agent goal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5961888" y="1984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Attaches JaCoCo runtime agent via argLine before Surefire runs tests. Coverage data is written to target/jacoco.exec automatically.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5577840" y="2432304"/>
            <a:ext cx="32004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6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615184"/>
            <a:ext cx="256032" cy="256032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5961888" y="2478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LINE vs BRANCH coverage</a:t>
            </a:r>
            <a:endParaRPr lang="en-US" sz="950" dirty="0"/>
          </a:p>
        </p:txBody>
      </p:sp>
      <p:sp>
        <p:nvSpPr>
          <p:cNvPr id="69" name="Text 65"/>
          <p:cNvSpPr/>
          <p:nvPr/>
        </p:nvSpPr>
        <p:spPr>
          <a:xfrm>
            <a:off x="5961888" y="2752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LINE: % of source lines executed. BRANCH: % of decision branches taken (if/else, switch). Both matter — high line coverage can still miss untested branches.</a:t>
            </a:r>
            <a:endParaRPr lang="en-US" sz="850" dirty="0"/>
          </a:p>
        </p:txBody>
      </p:sp>
      <p:sp>
        <p:nvSpPr>
          <p:cNvPr id="70" name="Shape 66"/>
          <p:cNvSpPr/>
          <p:nvPr/>
        </p:nvSpPr>
        <p:spPr>
          <a:xfrm>
            <a:off x="5577840" y="3200400"/>
            <a:ext cx="32004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3383280"/>
            <a:ext cx="256032" cy="256032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5961888" y="3246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check goal — fails the build</a:t>
            </a:r>
            <a:endParaRPr lang="en-US" sz="950" dirty="0"/>
          </a:p>
        </p:txBody>
      </p:sp>
      <p:sp>
        <p:nvSpPr>
          <p:cNvPr id="73" name="Text 68"/>
          <p:cNvSpPr/>
          <p:nvPr/>
        </p:nvSpPr>
        <p:spPr>
          <a:xfrm>
            <a:off x="5961888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check runs in the verify phase after tests. If coverage is below minimum, Maven exits with BUILD FAILURE — same as a test failure. Blocks the merge gate.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5577840" y="3968496"/>
            <a:ext cx="32004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7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4151376"/>
            <a:ext cx="256032" cy="256032"/>
          </a:xfrm>
          <a:prstGeom prst="rect">
            <a:avLst/>
          </a:prstGeom>
        </p:spPr>
      </p:pic>
      <p:sp>
        <p:nvSpPr>
          <p:cNvPr id="76" name="Text 70"/>
          <p:cNvSpPr/>
          <p:nvPr/>
        </p:nvSpPr>
        <p:spPr>
          <a:xfrm>
            <a:off x="5961888" y="40142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4336"/>
                </a:solidFill>
              </a:rPr>
              <a:t>Exclude generated / config code</a:t>
            </a:r>
            <a:endParaRPr lang="en-US" sz="950" dirty="0"/>
          </a:p>
        </p:txBody>
      </p:sp>
      <p:sp>
        <p:nvSpPr>
          <p:cNvPr id="77" name="Text 71"/>
          <p:cNvSpPr/>
          <p:nvPr/>
        </p:nvSpPr>
        <p:spPr>
          <a:xfrm>
            <a:off x="5961888" y="4288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Use &lt;excludes&gt; to skip generated classes, Spring config, DTOs. Coverage thresholds should measure business logic, not boilerplate that cannot be meaningfully tested.</a:t>
            </a:r>
            <a:endParaRPr lang="en-US" sz="850" dirty="0"/>
          </a:p>
        </p:txBody>
      </p:sp>
      <p:sp>
        <p:nvSpPr>
          <p:cNvPr id="78" name="Shape 72"/>
          <p:cNvSpPr/>
          <p:nvPr/>
        </p:nvSpPr>
        <p:spPr>
          <a:xfrm>
            <a:off x="5577840" y="4736592"/>
            <a:ext cx="320040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7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848" y="4919472"/>
            <a:ext cx="256032" cy="256032"/>
          </a:xfrm>
          <a:prstGeom prst="rect">
            <a:avLst/>
          </a:prstGeom>
        </p:spPr>
      </p:pic>
      <p:sp>
        <p:nvSpPr>
          <p:cNvPr id="80" name="Text 73"/>
          <p:cNvSpPr/>
          <p:nvPr/>
        </p:nvSpPr>
        <p:spPr>
          <a:xfrm>
            <a:off x="5961888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9B6F6"/>
                </a:solidFill>
              </a:rPr>
              <a:t>v0.8.14 — Java 25 support</a:t>
            </a:r>
            <a:endParaRPr lang="en-US" sz="950" dirty="0"/>
          </a:p>
        </p:txBody>
      </p:sp>
      <p:sp>
        <p:nvSpPr>
          <p:cNvPr id="81" name="Text 74"/>
          <p:cNvSpPr/>
          <p:nvPr/>
        </p:nvSpPr>
        <p:spPr>
          <a:xfrm>
            <a:off x="5961888" y="5056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Released Oct 2025. Current stable release. Adds Java 25 support and improved Kotlin coverage filtering. Use 0.8.10+ for Java 17/21 compatibility.</a:t>
            </a:r>
            <a:endParaRPr lang="en-US" sz="850" dirty="0"/>
          </a:p>
        </p:txBody>
      </p:sp>
      <p:sp>
        <p:nvSpPr>
          <p:cNvPr id="200" name="CodeBlock"/>
          <p:cNvSpPr txBox="1">
            <a:spLocks noGrp="1"/>
          </p:cNvSpPr>
          <p:nvPr/>
        </p:nvSpPr>
        <p:spPr>
          <a:xfrm>
            <a:off x="475488" y="1609344"/>
            <a:ext cx="4809744" cy="3310128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&lt;plugin&gt;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&lt;groupId&gt;org.jacoco&lt;/groupId&gt;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&lt;artifactId&gt;jacoco-maven-plugin&lt;/artifactId&gt;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&lt;version&gt;0.8.14&lt;/version&gt;  &lt;!-- Oct 2025, Java 25 support --&gt;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&lt;executions&gt;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&lt;!-- 1. Attach agent before tests run --&gt;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&lt;execution&gt;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&lt;goals&gt;&lt;goal&gt;prepare-agent&lt;/goal&gt;&lt;/goals&gt;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&lt;/execution&gt;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&lt;!-- 2. Generate report after tests --&gt;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&lt;execution&gt;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&lt;id&gt;report&lt;/id&gt;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&lt;phase&gt;verify&lt;/phase&gt;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&lt;goals&gt;&lt;goal&gt;report&lt;/goal&gt;&lt;/goals&gt;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&lt;/execution&gt;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&lt;!-- 3. Enforce coverage threshold --&gt;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&lt;execution&gt;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&lt;id&gt;coverage-gate&lt;/id&gt;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&lt;phase&gt;verify&lt;/phase&gt;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&lt;goals&gt;&lt;goal&gt;check&lt;/goal&gt;&lt;/goals&gt;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&lt;configuration&gt;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&lt;rules&gt;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&lt;rule&gt;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&lt;limits&gt;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&lt;!-- Fail build if line coverage &lt; 80% --&gt;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&lt;limit&gt;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&lt;counter&gt;LINE&lt;/counter&gt;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&lt;value&gt;COVEREDRATIO&lt;/value&gt;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&lt;minimum&gt;0.80&lt;/minimum&gt;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&lt;/limit&gt;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&lt;!-- Fail build if branch coverage &lt; 70% --&gt;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&lt;limit&gt;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&lt;counter&gt;BRANCH&lt;/counter&gt;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&lt;value&gt;COVEREDRATIO&lt;/value&gt;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&lt;minimum&gt;0.70&lt;/minimum&gt;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&lt;/limit&gt;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&lt;/limits&gt;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&lt;/rule&gt;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&lt;/rules&gt;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&lt;/configuration&gt;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&lt;/execution&gt;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&lt;/executions&gt;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&lt;/plugin&gt;</a:t>
            </a:r>
            <a:endParaRPr lang="en-US" sz="600" dirty="0"/>
          </a:p>
          <a:p>
            <a:pPr marL="0" indent="0" algn="l">
              <a:buNone/>
            </a:pP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Run: mvn verify  --&gt;</a:t>
            </a:r>
            <a:endParaRPr lang="en-US" sz="6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Report: target/site/jacoco/index.html --&gt;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400176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PIPELINE OPTIMISATION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CI Pipeline Optimisation Strategies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59536"/>
            <a:ext cx="8412480" cy="384048"/>
          </a:xfrm>
          <a:prstGeom prst="rect">
            <a:avLst/>
          </a:prstGeom>
          <a:solidFill>
            <a:srgbClr val="0E1F35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🔍  Diagnose before optimising. Check GitHub Actions job timings per step before applying fixes. The bottleneck is almost always in a specific step (slow test class, uncached dependencies, or sequential jobs that could run in parallel), not evenly spread across the pipeline.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325880"/>
            <a:ext cx="4160520" cy="17190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25880"/>
            <a:ext cx="416052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62456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Dependency Caching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1673352"/>
            <a:ext cx="226771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Cache ~/.m2 (Maven) or ~/.gradle keyed on pom.xml hash. Eliminates 1–3 min of repeated network downloads on every run. Most impactful single optimisation for Java projects.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88920" y="1655064"/>
            <a:ext cx="1682496" cy="1335024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98648" y="1746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uses: actions/cache@v4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2898648" y="197693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with: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2898648" y="220736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~/.m2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2898648" y="243779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key: ${{ runner.os }}-m2-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2898648" y="266821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${{ hashFiles('**/pom.xml') }}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4681728" y="1325880"/>
            <a:ext cx="4160520" cy="17190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81728" y="1325880"/>
            <a:ext cx="4160520" cy="2926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62456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10912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Fail-Fast Unit Tests First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773168" y="1673352"/>
            <a:ext cx="226771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Run unit tests (&lt; 2 min) before integration tests. Add needs: unit-test to the integration-test job. Fast feedback: if unit tests fail, integration tests never start — saves compute.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104888" y="1655064"/>
            <a:ext cx="1682496" cy="1335024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14616" y="1746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820" dirty="0"/>
          </a:p>
        </p:txBody>
      </p:sp>
      <p:sp>
        <p:nvSpPr>
          <p:cNvPr id="29" name="Text 25"/>
          <p:cNvSpPr/>
          <p:nvPr/>
        </p:nvSpPr>
        <p:spPr>
          <a:xfrm>
            <a:off x="7214616" y="197693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unit-test: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7214616" y="220736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820" dirty="0"/>
          </a:p>
        </p:txBody>
      </p:sp>
      <p:sp>
        <p:nvSpPr>
          <p:cNvPr id="31" name="Text 27"/>
          <p:cNvSpPr/>
          <p:nvPr/>
        </p:nvSpPr>
        <p:spPr>
          <a:xfrm>
            <a:off x="7214616" y="243779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integration-test:</a:t>
            </a:r>
            <a:endParaRPr lang="en-US" sz="820" dirty="0"/>
          </a:p>
        </p:txBody>
      </p:sp>
      <p:sp>
        <p:nvSpPr>
          <p:cNvPr id="32" name="Text 28"/>
          <p:cNvSpPr/>
          <p:nvPr/>
        </p:nvSpPr>
        <p:spPr>
          <a:xfrm>
            <a:off x="7214616" y="266821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unit-test  # gate</a:t>
            </a:r>
            <a:endParaRPr lang="en-US" sz="820" dirty="0"/>
          </a:p>
        </p:txBody>
      </p:sp>
      <p:sp>
        <p:nvSpPr>
          <p:cNvPr id="33" name="Shape 29"/>
          <p:cNvSpPr/>
          <p:nvPr/>
        </p:nvSpPr>
        <p:spPr>
          <a:xfrm>
            <a:off x="365760" y="3136392"/>
            <a:ext cx="4160520" cy="171907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65760" y="3136392"/>
            <a:ext cx="4160520" cy="29260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172968"/>
            <a:ext cx="219456" cy="21945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94944" y="3172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Sharding (Parallel Matrix)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57200" y="3483864"/>
            <a:ext cx="226771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Split integration tests across N runners using matrix: shard: [1,2,3,4]. Can substantially reduce wall-clock time when tests are independent and evenly distributed. Set fail-fast: false to see all shard results.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2788920" y="3465576"/>
            <a:ext cx="1682496" cy="1335024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898648" y="3557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strategy:</a:t>
            </a:r>
            <a:endParaRPr lang="en-US" sz="820" dirty="0"/>
          </a:p>
        </p:txBody>
      </p:sp>
      <p:sp>
        <p:nvSpPr>
          <p:cNvPr id="40" name="Text 35"/>
          <p:cNvSpPr/>
          <p:nvPr/>
        </p:nvSpPr>
        <p:spPr>
          <a:xfrm>
            <a:off x="2898648" y="378744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fail-fast: false</a:t>
            </a:r>
            <a:endParaRPr lang="en-US" sz="820" dirty="0"/>
          </a:p>
        </p:txBody>
      </p:sp>
      <p:sp>
        <p:nvSpPr>
          <p:cNvPr id="41" name="Text 36"/>
          <p:cNvSpPr/>
          <p:nvPr/>
        </p:nvSpPr>
        <p:spPr>
          <a:xfrm>
            <a:off x="2898648" y="401787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matrix:</a:t>
            </a:r>
            <a:endParaRPr lang="en-US" sz="820" dirty="0"/>
          </a:p>
        </p:txBody>
      </p:sp>
      <p:sp>
        <p:nvSpPr>
          <p:cNvPr id="42" name="Text 37"/>
          <p:cNvSpPr/>
          <p:nvPr/>
        </p:nvSpPr>
        <p:spPr>
          <a:xfrm>
            <a:off x="2898648" y="424830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shard: [1, 2, 3, 4]</a:t>
            </a:r>
            <a:endParaRPr lang="en-US" sz="820" dirty="0"/>
          </a:p>
        </p:txBody>
      </p:sp>
      <p:sp>
        <p:nvSpPr>
          <p:cNvPr id="43" name="Text 38"/>
          <p:cNvSpPr/>
          <p:nvPr/>
        </p:nvSpPr>
        <p:spPr>
          <a:xfrm>
            <a:off x="2898648" y="447873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run: mvn verify -Dshard.index=${{</a:t>
            </a:r>
            <a:endParaRPr lang="en-US" sz="820" dirty="0"/>
          </a:p>
        </p:txBody>
      </p:sp>
      <p:sp>
        <p:nvSpPr>
          <p:cNvPr id="44" name="Text 39"/>
          <p:cNvSpPr/>
          <p:nvPr/>
        </p:nvSpPr>
        <p:spPr>
          <a:xfrm>
            <a:off x="2898648" y="4709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matrix.shard }} -Dshard.total=4</a:t>
            </a:r>
            <a:endParaRPr lang="en-US" sz="820" dirty="0"/>
          </a:p>
        </p:txBody>
      </p:sp>
      <p:sp>
        <p:nvSpPr>
          <p:cNvPr id="45" name="Shape 40"/>
          <p:cNvSpPr/>
          <p:nvPr/>
        </p:nvSpPr>
        <p:spPr>
          <a:xfrm>
            <a:off x="4681728" y="3136392"/>
            <a:ext cx="4160520" cy="171907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681728" y="3136392"/>
            <a:ext cx="4160520" cy="29260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172968"/>
            <a:ext cx="219456" cy="219456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010912" y="3172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1B2A"/>
                </a:solidFill>
              </a:rPr>
              <a:t>Parallel Jobs — Not Everything Sequential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4773168" y="3483864"/>
            <a:ext cx="226771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Linting, SAST security scans, and API tests can often run in parallel with unit tests. Use needs: only where there is a real dependency. Unnecessary sequencing is a common source of slow pipelines.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7104888" y="3465576"/>
            <a:ext cx="1682496" cy="1335024"/>
          </a:xfrm>
          <a:prstGeom prst="rect">
            <a:avLst/>
          </a:prstGeom>
          <a:solidFill>
            <a:srgbClr val="0A0F1A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214616" y="3557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820" dirty="0"/>
          </a:p>
        </p:txBody>
      </p:sp>
      <p:sp>
        <p:nvSpPr>
          <p:cNvPr id="52" name="Text 46"/>
          <p:cNvSpPr/>
          <p:nvPr/>
        </p:nvSpPr>
        <p:spPr>
          <a:xfrm>
            <a:off x="7214616" y="378744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lint:      # no needs — runs in parallel</a:t>
            </a:r>
            <a:endParaRPr lang="en-US" sz="820" dirty="0"/>
          </a:p>
        </p:txBody>
      </p:sp>
      <p:sp>
        <p:nvSpPr>
          <p:cNvPr id="53" name="Text 47"/>
          <p:cNvSpPr/>
          <p:nvPr/>
        </p:nvSpPr>
        <p:spPr>
          <a:xfrm>
            <a:off x="7214616" y="401787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unit-test: # no needs — runs in parallel</a:t>
            </a:r>
            <a:endParaRPr lang="en-US" sz="820" dirty="0"/>
          </a:p>
        </p:txBody>
      </p:sp>
      <p:sp>
        <p:nvSpPr>
          <p:cNvPr id="54" name="Text 48"/>
          <p:cNvSpPr/>
          <p:nvPr/>
        </p:nvSpPr>
        <p:spPr>
          <a:xfrm>
            <a:off x="7214616" y="424830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api-test:</a:t>
            </a:r>
            <a:endParaRPr lang="en-US" sz="820" dirty="0"/>
          </a:p>
        </p:txBody>
      </p:sp>
      <p:sp>
        <p:nvSpPr>
          <p:cNvPr id="55" name="Text 49"/>
          <p:cNvSpPr/>
          <p:nvPr/>
        </p:nvSpPr>
        <p:spPr>
          <a:xfrm>
            <a:off x="7214616" y="447873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unit-test  # real dependency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REPORT ANALYSIS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Reading Allure Reports &amp; Key CI Metrics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40233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Allure Report Sections — What to Read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16152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9903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2618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Overview dashboard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" y="153619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Total pass/fail/skip counts, pass rate %, and execution time. First stop after a CI run — tells you immediately whether the build is healthy or needs investigation.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" y="1984248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167128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9808" y="202996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D600"/>
                </a:solidFill>
              </a:rPr>
              <a:t>Trend chart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49808" y="230428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Pass rate and failure count over the last N runs. A downward trend in pass rate signals deteriorating test stability. A spike in failures after a specific commit points to a regression.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5760" y="2752344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44336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93522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9808" y="279806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44336"/>
                </a:solidFill>
              </a:rPr>
              <a:t>Failures tab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49808" y="30723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Each failed test shows: full stack trace, step-by-step execution log, and any attached screenshots or logs. Read the step log top-down — find the first failing step, not just the final exception.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65760" y="3520440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70332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" y="35661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9B6F6"/>
                </a:solidFill>
              </a:rPr>
              <a:t>Categories — known flaky vs new failures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49808" y="38404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Allure categories let you classify failures: 'Product defects' (assertion failures), 'Test defects' (test code issues), 'Broken tests' (environment/config). Helps triage quickly.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365760" y="4288536"/>
            <a:ext cx="402336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47141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9808" y="433425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853"/>
                </a:solidFill>
              </a:rPr>
              <a:t>Duration bars — find slow tests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49808" y="460857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Sort by duration to find the slowest tests. A single slow test class in a suite can dominate wall-clock time. Candidate for sharding or parallelisation.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617720" y="8686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CI Pipeline Metrics to Track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617720" y="1216152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617720" y="1216152"/>
            <a:ext cx="1188720" cy="71323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663440" y="1261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C853"/>
                </a:solidFill>
              </a:rPr>
              <a:t>Test pass rate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466344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 &gt; 95%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870448" y="13075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Percentage of tests passing per run. Dips below 90% signal systemic stability issues.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4617720" y="1984248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617720" y="1984248"/>
            <a:ext cx="1188720" cy="71323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663440" y="2029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BCD4"/>
                </a:solidFill>
              </a:rPr>
              <a:t>Pipeline duration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4663440" y="23682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 &lt; 10 min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5870448" y="20756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Total wall-clock time from push to green. Over 15 min discourages developers from pushing frequently.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4617720" y="2752344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617720" y="2752344"/>
            <a:ext cx="1188720" cy="71323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663440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D600"/>
                </a:solidFill>
              </a:rPr>
              <a:t>Flake rate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4663440" y="3136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 &lt; 2%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5870448" y="28437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Tests that fail without a code change. Track per-test and set SLAs for resolution.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4617720" y="3520440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617720" y="3520440"/>
            <a:ext cx="1188720" cy="71323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66344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9B6F6"/>
                </a:solidFill>
              </a:rPr>
              <a:t>Coverage %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4663440" y="3904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Per team policy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5870448" y="36118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Line + branch coverage. Enforce via JaCoCo gate; report trend over time to avoid decay.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4617720" y="4288536"/>
            <a:ext cx="4160520" cy="71323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4617720" y="4288536"/>
            <a:ext cx="1188720" cy="71323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4663440" y="4334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897B"/>
                </a:solidFill>
              </a:rPr>
              <a:t>Mean time to green</a:t>
            </a:r>
            <a:endParaRPr lang="en-US" sz="850" dirty="0"/>
          </a:p>
        </p:txBody>
      </p:sp>
      <p:sp>
        <p:nvSpPr>
          <p:cNvPr id="56" name="Text 49"/>
          <p:cNvSpPr/>
          <p:nvPr/>
        </p:nvSpPr>
        <p:spPr>
          <a:xfrm>
            <a:off x="4663440" y="4672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Trend down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5870448" y="43799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D"/>
                </a:solidFill>
              </a:rPr>
              <a:t>Average time from test failure detection to green CI. Measures team responsiveness to test debt.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DEMO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Demo: Report → Gate → Optimise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65836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9692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</a:rPr>
              <a:t>Generating and Publishing an Allure Report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Add allure-junit5 dependency and allure-maven plugin to pom.xml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Annotate a test: @Feature("Login") @Story("valid credentials") @Severity(SeverityLevel.CRITICAL)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Run mvn test — observe target/allure-results/ JSON files generated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Run mvn allure:report — open target/site/allure-maven-plugin/index.html in browser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65836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4261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2313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97B"/>
                </a:solidFill>
              </a:rPr>
              <a:t>Configuring JaCoCo Coverage Thresholds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Add jacoco-maven-plugin 0.8.14 to pom.xml with prepare-agent + report + check goals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55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Set LINE minimum: 0.80, BRANCH minimum: 0.70 in the check execution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26426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Run mvn verify — observe coverage report at target/site/jacoco/index.html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30358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Drop coverage by commenting out a test — watch mvn verify fail with BUILD FAILURE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02736"/>
            <a:ext cx="658368" cy="1261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15568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CD4"/>
                </a:solidFill>
              </a:rPr>
              <a:t>Identifying and Fixing a Pipeline Bottleneck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Review Actions tab: click any completed job → expand step timings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55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Identify the slowest step (likely: dependency download or slow integration test class)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Add actions/cache@v4 for ~/.m2 — re-run and compare duration before vs after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4379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▸  </a:t>
            </a:r>
            <a:r>
              <a:rPr lang="en-US" sz="950" dirty="0">
                <a:solidFill>
                  <a:srgbClr val="E8F4FD"/>
                </a:solidFill>
              </a:rPr>
              <a:t>Split integration tests into 2 shards using matrix strategy — observe wall-clock improvement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HANDS-ON LAB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Lab: Report, Gate &amp; Optimise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474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CD4"/>
                </a:solidFill>
              </a:rPr>
              <a:t>40% Theory  |  60% Hands-on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914400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14400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7899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5819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Task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</a:rPr>
              <a:t>Allure report URL (GitHub Pages)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194560" y="9692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</a:rPr>
              <a:t>Generate Allure Report with Test Annotations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19456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1.  </a:t>
            </a:r>
            <a:r>
              <a:rPr lang="en-US" sz="950" dirty="0">
                <a:solidFill>
                  <a:srgbClr val="E8F4FD"/>
                </a:solidFill>
              </a:rPr>
              <a:t>Add allure-junit5 v2.33.0 to pom.xml; configure allure-maven plugin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9456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2.  </a:t>
            </a:r>
            <a:r>
              <a:rPr lang="en-US" sz="950" dirty="0">
                <a:solidFill>
                  <a:srgbClr val="E8F4FD"/>
                </a:solidFill>
              </a:rPr>
              <a:t>Annotate 3 existing tests: @Feature, @Story, and @Severity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068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3.  </a:t>
            </a:r>
            <a:r>
              <a:rPr lang="en-US" sz="950" dirty="0">
                <a:solidFill>
                  <a:srgbClr val="E8F4FD"/>
                </a:solidFill>
              </a:rPr>
              <a:t>Run mvn test &amp;&amp; mvn allure:report — open index.html, verify annotations appear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565C0"/>
                </a:solidFill>
              </a:rPr>
              <a:t>4.  </a:t>
            </a:r>
            <a:r>
              <a:rPr lang="en-US" sz="950" dirty="0">
                <a:solidFill>
                  <a:srgbClr val="E8F4FD"/>
                </a:solidFill>
              </a:rPr>
              <a:t>Add the CI publish steps (simple-elf + peaceiris) to ci.yml; push and confirm report publishes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258568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258568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231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97B"/>
                </a:solidFill>
              </a:rPr>
              <a:t>Task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576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</a:rPr>
              <a:t>CI build showing gate pass + failure evidence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194560" y="2313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97B"/>
                </a:solidFill>
              </a:rPr>
              <a:t>Configure and Trigger a JaCoCo Coverage Gate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19456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1.  </a:t>
            </a:r>
            <a:r>
              <a:rPr lang="en-US" sz="950" dirty="0">
                <a:solidFill>
                  <a:srgbClr val="E8F4FD"/>
                </a:solidFill>
              </a:rPr>
              <a:t>Add jacoco-maven-plugin 0.8.14 with prepare-agent + report + check goals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19456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2.  </a:t>
            </a:r>
            <a:r>
              <a:rPr lang="en-US" sz="950" dirty="0">
                <a:solidFill>
                  <a:srgbClr val="E8F4FD"/>
                </a:solidFill>
              </a:rPr>
              <a:t>Set LINE minimum: 0.80 — run mvn verify and confirm gate passes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440680" y="2642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3.  </a:t>
            </a:r>
            <a:r>
              <a:rPr lang="en-US" sz="950" dirty="0">
                <a:solidFill>
                  <a:srgbClr val="E8F4FD"/>
                </a:solidFill>
              </a:rPr>
              <a:t>Comment out test method(s) to drop coverage — run mvn verify and confirm BUILD FAILURE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44068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897B"/>
                </a:solidFill>
              </a:rPr>
              <a:t>4.  </a:t>
            </a:r>
            <a:r>
              <a:rPr lang="en-US" sz="950" dirty="0">
                <a:solidFill>
                  <a:srgbClr val="E8F4FD"/>
                </a:solidFill>
              </a:rPr>
              <a:t>Restore tests — confirm gate passes again; add ci.yml step: mvn verify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65760" y="3602736"/>
            <a:ext cx="8412480" cy="1261872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5760" y="3602736"/>
            <a:ext cx="1737360" cy="1261872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6732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65760" y="4270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CD4"/>
                </a:solidFill>
              </a:rPr>
              <a:t>Task 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65760" y="4553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</a:rPr>
              <a:t>Before/after timing comparison note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194560" y="3657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CD4"/>
                </a:solidFill>
              </a:rPr>
              <a:t>Optimise Slow CI Pipeline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219456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1.  </a:t>
            </a:r>
            <a:r>
              <a:rPr lang="en-US" sz="950" dirty="0">
                <a:solidFill>
                  <a:srgbClr val="E8F4FD"/>
                </a:solidFill>
              </a:rPr>
              <a:t>Record current pipeline duration from the Actions tab (baseline)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219456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2.  </a:t>
            </a:r>
            <a:r>
              <a:rPr lang="en-US" sz="950" dirty="0">
                <a:solidFill>
                  <a:srgbClr val="E8F4FD"/>
                </a:solidFill>
              </a:rPr>
              <a:t>Add actions/cache@v4 for ~/.m2 — push and record new duration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5440680" y="39867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3.  </a:t>
            </a:r>
            <a:r>
              <a:rPr lang="en-US" sz="950" dirty="0">
                <a:solidFill>
                  <a:srgbClr val="E8F4FD"/>
                </a:solidFill>
              </a:rPr>
              <a:t>Split integration-test job into 2 shards via matrix strategy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5440680" y="4379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BCD4"/>
                </a:solidFill>
              </a:rPr>
              <a:t>4.  </a:t>
            </a:r>
            <a:r>
              <a:rPr lang="en-US" sz="950" dirty="0">
                <a:solidFill>
                  <a:srgbClr val="E8F4FD"/>
                </a:solidFill>
              </a:rPr>
              <a:t>Record final duration; document before/after comparison in a short note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DELIVERABLES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7 Deliverables &amp; Key Takeaways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Deliverables You Take Away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3931920" cy="603504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44168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4FD"/>
                </a:solidFill>
              </a:rPr>
              <a:t>Published Allure Test Report with trend history (GitHub Pages URL)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1938528"/>
            <a:ext cx="3931920" cy="603504"/>
          </a:xfrm>
          <a:prstGeom prst="rect">
            <a:avLst/>
          </a:prstGeom>
          <a:solidFill>
            <a:srgbClr val="112233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025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87552" y="19842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4FD"/>
                </a:solidFill>
              </a:rPr>
              <a:t>CI Evidence — JaCoCo gate pass + deliberate failure screenshot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 Key Takeaways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1280160"/>
            <a:ext cx="41148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12893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1.  </a:t>
            </a:r>
            <a:r>
              <a:rPr lang="en-US" sz="880" dirty="0">
                <a:solidFill>
                  <a:srgbClr val="E8F4FD"/>
                </a:solidFill>
              </a:rPr>
              <a:t>Allure reports give human-readable insight into failures, trends, and test health that raw JUnit XML cannot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4663440" y="1737360"/>
            <a:ext cx="411480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17465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2.  </a:t>
            </a:r>
            <a:r>
              <a:rPr lang="en-US" sz="880" dirty="0">
                <a:solidFill>
                  <a:srgbClr val="E8F4FD"/>
                </a:solidFill>
              </a:rPr>
              <a:t>JaCoCo check goal fails the Maven build automatically — coverage enforcement is a first-class quality gate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4663440" y="2194560"/>
            <a:ext cx="41148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22037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3.  </a:t>
            </a:r>
            <a:r>
              <a:rPr lang="en-US" sz="880" dirty="0">
                <a:solidFill>
                  <a:srgbClr val="E8F4FD"/>
                </a:solidFill>
              </a:rPr>
              <a:t>Use LINE + BRANCH coverage together; line coverage alone misses untested decision branches</a:t>
            </a:r>
            <a:endParaRPr lang="en-US" sz="880" dirty="0"/>
          </a:p>
        </p:txBody>
      </p:sp>
      <p:sp>
        <p:nvSpPr>
          <p:cNvPr id="25" name="Shape 21"/>
          <p:cNvSpPr/>
          <p:nvPr/>
        </p:nvSpPr>
        <p:spPr>
          <a:xfrm>
            <a:off x="4663440" y="2651760"/>
            <a:ext cx="411480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26609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4.  </a:t>
            </a:r>
            <a:r>
              <a:rPr lang="en-US" sz="880" dirty="0">
                <a:solidFill>
                  <a:srgbClr val="E8F4FD"/>
                </a:solidFill>
              </a:rPr>
              <a:t>Coverage thresholds are team heuristics: 70–85% for typical code; avoid targeting 100% (leads to brittle tests)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4663440" y="3108960"/>
            <a:ext cx="4114800" cy="402336"/>
          </a:xfrm>
          <a:prstGeom prst="rect">
            <a:avLst/>
          </a:prstGeom>
          <a:solidFill>
            <a:srgbClr val="112233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31181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5.  </a:t>
            </a:r>
            <a:r>
              <a:rPr lang="en-US" sz="880" dirty="0">
                <a:solidFill>
                  <a:srgbClr val="E8F4FD"/>
                </a:solidFill>
              </a:rPr>
              <a:t>Diagnose before optimising — check step timings in Actions tab to find the actual bottleneck</a:t>
            </a:r>
            <a:endParaRPr lang="en-US" sz="880" dirty="0"/>
          </a:p>
        </p:txBody>
      </p:sp>
      <p:sp>
        <p:nvSpPr>
          <p:cNvPr id="29" name="Shape 25"/>
          <p:cNvSpPr/>
          <p:nvPr/>
        </p:nvSpPr>
        <p:spPr>
          <a:xfrm>
            <a:off x="4663440" y="3566160"/>
            <a:ext cx="4114800" cy="402336"/>
          </a:xfrm>
          <a:prstGeom prst="rect">
            <a:avLst/>
          </a:prstGeom>
          <a:solidFill>
            <a:srgbClr val="0E1F35"/>
          </a:solidFill>
          <a:ln w="12700">
            <a:solidFill>
              <a:srgbClr val="1F3A5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0" y="35753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0BCD4"/>
                </a:solidFill>
              </a:rPr>
              <a:t>6.  </a:t>
            </a:r>
            <a:r>
              <a:rPr lang="en-US" sz="880" dirty="0">
                <a:solidFill>
                  <a:srgbClr val="E8F4FD"/>
                </a:solidFill>
              </a:rPr>
              <a:t>Dependency caching and parallel jobs are the highest-return CI optimisations for most Java projects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365760" y="4041648"/>
            <a:ext cx="8412480" cy="566928"/>
          </a:xfrm>
          <a:prstGeom prst="rect">
            <a:avLst/>
          </a:prstGeom>
          <a:solidFill>
            <a:srgbClr val="0E1F35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" y="4069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D600"/>
                </a:solidFill>
              </a:rPr>
              <a:t>▶  Tomorrow — Day 8: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2148840" y="40690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D"/>
                </a:solidFill>
              </a:rPr>
              <a:t>End-to-End Continuous Testing Strategy &amp; Capstone Preparation  ·  Integrating all modules into a cohesive strategy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48640" y="43434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</a:rPr>
              <a:t>Hands-on: Capstone project brief · end-to-end pipeline design · strategy document · peer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56632"/>
            <a:ext cx="6858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0A4AE"/>
                </a:solidFill>
              </a:rPr>
              <a:t>Continuous Testing with CI/CD  |  Day 7  |  Jai Singh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0" y="505663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0A4AE"/>
                </a:solidFill>
              </a:rPr>
              <a:t>Module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"/>
            <a:ext cx="146304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RECAP QUIZ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7 – Quick Knowledge Check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4400"/>
            <a:ext cx="73152" cy="9692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</a:rPr>
              <a:t>Q1.  Why do all Allure-related steps in the CI workflow use if: always()?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2984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▸  Without if: always(), GitHub Actions skips subsequent steps when a previous step fails. If tests fail and the report step is skipped, there is no report to diagnose the failure — exactly when you need it most. always() ensures report generation and publishing run regardless of test outcome.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47672"/>
            <a:ext cx="73152" cy="9692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933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897B"/>
                </a:solidFill>
              </a:rPr>
              <a:t>Q2.  What is the difference between LINE coverage and BRANCH coverage in JaCoCo?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▸  LINE coverage measures what percentage of source code lines were executed during tests. BRANCH coverage measures what percentage of decision branches (if/else, switch cases) were taken. High line coverage can still miss untested branches — you need both metrics for meaningful quality gates.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80944"/>
            <a:ext cx="73152" cy="9692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26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CD4"/>
                </a:solidFill>
              </a:rPr>
              <a:t>Q3.  A team sets a JaCoCo LINE coverage minimum of 0.90 (90%) and the build fails. Where do you look first?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6499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▸  Open target/site/jacoco/index.html. Click through to the lowest-coverage packages and classes. Look for red/orange lines — these are uncovered. Check if any recently added classes lack tests, or if generated/config classes (which cannot be meaningfully tested) need to be excluded from the JaCoCo check rule.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14216"/>
            <a:ext cx="8412480" cy="969264"/>
          </a:xfrm>
          <a:prstGeom prst="rect">
            <a:avLst/>
          </a:prstGeom>
          <a:solidFill>
            <a:srgbClr val="112233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14216"/>
            <a:ext cx="73152" cy="9692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600"/>
                </a:solidFill>
              </a:rPr>
              <a:t>Q4.  You add Maven dependency caching to a CI job and the pipeline duration barely changes. What are the likely causes?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9826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F4FD"/>
                </a:solidFill>
              </a:rPr>
              <a:t>▸  The cache may not be hitting: check the cache key matches the actual path (~/.m2 for Maven). Alternatively, dependency download was not the bottleneck — use GitHub Actions step timings to find the actual slow step. Common real bottlenecks: a slow integration test class, a sequential job that could run in parallel, or a Docker image pull.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9EDBF0-F5A8-A74E-8EF9-E2243BC3484A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7e4bc9b3-0a06-4515-a092-d7995053d72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3293</Words>
  <Application>Microsoft Macintosh PowerPoint</Application>
  <PresentationFormat>On-screen Show (16:9)</PresentationFormat>
  <Paragraphs>331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Testing with CI/CD – Day 7</dc:title>
  <dc:subject>PptxGenJS Presentation</dc:subject>
  <dc:creator>Jai Singh</dc:creator>
  <cp:lastModifiedBy>Jai Singh</cp:lastModifiedBy>
  <cp:revision>5</cp:revision>
  <dcterms:created xsi:type="dcterms:W3CDTF">2026-04-12T20:24:15Z</dcterms:created>
  <dcterms:modified xsi:type="dcterms:W3CDTF">2026-04-12T21:14:06Z</dcterms:modified>
</cp:coreProperties>
</file>