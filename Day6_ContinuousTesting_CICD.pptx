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2" r:id="rId5"/>
    <p:sldId id="273" r:id="rId6"/>
    <p:sldId id="271" r:id="rId7"/>
    <p:sldId id="274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9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155448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 Environment,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Containers &amp; Test Data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743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CD4"/>
                </a:solidFill>
              </a:rPr>
              <a:t>Day 6  ·  Module 6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40% Theory / 60% Hands-on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825496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Docker / Docker Compose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154680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Testcontainers (Java)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B7ED"/>
                </a:solidFill>
              </a:rPr>
              <a:t>Containerise test execution using Docker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Write a Dockerfile for test execution, run automated tests inside containers, and wire Docker-based test jobs into a CI pipeline for consistent, reproducible results.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600"/>
                </a:solidFill>
              </a:rPr>
              <a:t>Manage test data safely across environments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Apply seed-script patterns, UUID-prefixed isolation, and environment-specific configuration to keep test data clean, reproducible, and compliant across dev, CI, and staging.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53"/>
                </a:solidFill>
              </a:rPr>
              <a:t>Provision and configure test environments reliably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Use Testcontainers for programmatic on-demand containers in integration tests, and manage environment-specific configuration via config files and CI env-vars without hardcoding.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ENVIRONMENT STRATEGIES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Environment Provisioning Strategies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59536"/>
            <a:ext cx="84124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📊  Test environment instability is consistently cited as one of the most significant blockers in test automation. The core problem: tests that fail due to environment issues, not code defects, erode team confidence in CI pipelines.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2029968" cy="3438144"/>
          </a:xfrm>
          <a:prstGeom prst="rect">
            <a:avLst/>
          </a:prstGeom>
          <a:solidFill>
            <a:srgbClr val="112233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16736"/>
            <a:ext cx="2029968" cy="5120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074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133502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F4FD"/>
                </a:solidFill>
              </a:rPr>
              <a:t>Shared Persistent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E8F4FD"/>
                </a:solidFill>
              </a:rPr>
              <a:t>Environment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C853"/>
                </a:solidFill>
              </a:rPr>
              <a:t>✓ PROS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No spin-up time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45720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Simple setup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45720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4336"/>
                </a:solidFill>
              </a:rPr>
              <a:t>✕ CONS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Data pollution between runs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5720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Configuration drift over time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5720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Parallel run conflicts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365760" y="4407408"/>
            <a:ext cx="2029968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441655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Small teams, early-stage projects with low CI volume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2514600" y="1316736"/>
            <a:ext cx="2029968" cy="34381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14600" y="1316736"/>
            <a:ext cx="2029968" cy="5120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380744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971800" y="133502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Docker / Compose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Ephemeral Env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60604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C853"/>
                </a:solidFill>
              </a:rPr>
              <a:t>✓ PROS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6060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Fresh state per run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260604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Identical dev ↔ CI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260604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No host-port conflicts (service-name networking)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260604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4336"/>
                </a:solidFill>
              </a:rPr>
              <a:t>✕ CONS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60604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Docker daemon required in CI</a:t>
            </a:r>
            <a:endParaRPr lang="en-US" sz="820" dirty="0"/>
          </a:p>
        </p:txBody>
      </p:sp>
      <p:sp>
        <p:nvSpPr>
          <p:cNvPr id="34" name="Text 30"/>
          <p:cNvSpPr/>
          <p:nvPr/>
        </p:nvSpPr>
        <p:spPr>
          <a:xfrm>
            <a:off x="260604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Slower than in-memory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2514600" y="4407408"/>
            <a:ext cx="2029968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587752" y="441655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BCD4"/>
                </a:solidFill>
              </a:rPr>
              <a:t>Standard choice for integration and API test layers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663440" y="1316736"/>
            <a:ext cx="2029968" cy="34381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663440" y="1316736"/>
            <a:ext cx="2029968" cy="5120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380744"/>
            <a:ext cx="347472" cy="34747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120640" y="133502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Testcontainers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(Programmatic)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475488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C853"/>
                </a:solidFill>
              </a:rPr>
              <a:t>✓ PROS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Controlled from test code</a:t>
            </a:r>
            <a:endParaRPr lang="en-US" sz="820" dirty="0"/>
          </a:p>
        </p:txBody>
      </p:sp>
      <p:sp>
        <p:nvSpPr>
          <p:cNvPr id="43" name="Text 38"/>
          <p:cNvSpPr/>
          <p:nvPr/>
        </p:nvSpPr>
        <p:spPr>
          <a:xfrm>
            <a:off x="475488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Auto-cleanup via Ryuk</a:t>
            </a:r>
            <a:endParaRPr lang="en-US" sz="820" dirty="0"/>
          </a:p>
        </p:txBody>
      </p:sp>
      <p:sp>
        <p:nvSpPr>
          <p:cNvPr id="44" name="Text 39"/>
          <p:cNvSpPr/>
          <p:nvPr/>
        </p:nvSpPr>
        <p:spPr>
          <a:xfrm>
            <a:off x="475488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Parallel-safe — no fixed ports</a:t>
            </a:r>
            <a:endParaRPr lang="en-US" sz="820" dirty="0"/>
          </a:p>
        </p:txBody>
      </p:sp>
      <p:sp>
        <p:nvSpPr>
          <p:cNvPr id="45" name="Text 40"/>
          <p:cNvSpPr/>
          <p:nvPr/>
        </p:nvSpPr>
        <p:spPr>
          <a:xfrm>
            <a:off x="475488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4336"/>
                </a:solidFill>
              </a:rPr>
              <a:t>✕ CONS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75488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Requires Docker-API runtime</a:t>
            </a:r>
            <a:endParaRPr lang="en-US" sz="820" dirty="0"/>
          </a:p>
        </p:txBody>
      </p:sp>
      <p:sp>
        <p:nvSpPr>
          <p:cNvPr id="47" name="Text 42"/>
          <p:cNvSpPr/>
          <p:nvPr/>
        </p:nvSpPr>
        <p:spPr>
          <a:xfrm>
            <a:off x="475488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More complex for first-timers</a:t>
            </a:r>
            <a:endParaRPr lang="en-US" sz="820" dirty="0"/>
          </a:p>
        </p:txBody>
      </p:sp>
      <p:sp>
        <p:nvSpPr>
          <p:cNvPr id="48" name="Shape 43"/>
          <p:cNvSpPr/>
          <p:nvPr/>
        </p:nvSpPr>
        <p:spPr>
          <a:xfrm>
            <a:off x="4663440" y="4407408"/>
            <a:ext cx="2029968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736592" y="441655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C853"/>
                </a:solidFill>
              </a:rPr>
              <a:t>Integration tests needing real DB / broker / service dependencies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6812280" y="1316736"/>
            <a:ext cx="2029968" cy="343814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812280" y="1316736"/>
            <a:ext cx="2029968" cy="5120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1380744"/>
            <a:ext cx="347472" cy="34747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269480" y="133502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Ephemeral Cloud /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PR Environments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690372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C853"/>
                </a:solidFill>
              </a:rPr>
              <a:t>✓ PROS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69037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Production-like isolation</a:t>
            </a:r>
            <a:endParaRPr lang="en-US" sz="820" dirty="0"/>
          </a:p>
        </p:txBody>
      </p:sp>
      <p:sp>
        <p:nvSpPr>
          <p:cNvPr id="56" name="Text 50"/>
          <p:cNvSpPr/>
          <p:nvPr/>
        </p:nvSpPr>
        <p:spPr>
          <a:xfrm>
            <a:off x="690372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Per-PR preview environments</a:t>
            </a:r>
            <a:endParaRPr lang="en-US" sz="820" dirty="0"/>
          </a:p>
        </p:txBody>
      </p:sp>
      <p:sp>
        <p:nvSpPr>
          <p:cNvPr id="57" name="Text 51"/>
          <p:cNvSpPr/>
          <p:nvPr/>
        </p:nvSpPr>
        <p:spPr>
          <a:xfrm>
            <a:off x="690372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Zero infra management</a:t>
            </a:r>
            <a:endParaRPr lang="en-US" sz="820" dirty="0"/>
          </a:p>
        </p:txBody>
      </p:sp>
      <p:sp>
        <p:nvSpPr>
          <p:cNvPr id="58" name="Text 52"/>
          <p:cNvSpPr/>
          <p:nvPr/>
        </p:nvSpPr>
        <p:spPr>
          <a:xfrm>
            <a:off x="690372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4336"/>
                </a:solidFill>
              </a:rPr>
              <a:t>✕ CONS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690372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Slower provisioning</a:t>
            </a:r>
            <a:endParaRPr lang="en-US" sz="820" dirty="0"/>
          </a:p>
        </p:txBody>
      </p:sp>
      <p:sp>
        <p:nvSpPr>
          <p:cNvPr id="60" name="Text 54"/>
          <p:cNvSpPr/>
          <p:nvPr/>
        </p:nvSpPr>
        <p:spPr>
          <a:xfrm>
            <a:off x="690372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</a:rPr>
              <a:t>· Cost per environment</a:t>
            </a:r>
            <a:endParaRPr lang="en-US" sz="820" dirty="0"/>
          </a:p>
        </p:txBody>
      </p:sp>
      <p:sp>
        <p:nvSpPr>
          <p:cNvPr id="61" name="Shape 55"/>
          <p:cNvSpPr/>
          <p:nvPr/>
        </p:nvSpPr>
        <p:spPr>
          <a:xfrm>
            <a:off x="6812280" y="4407408"/>
            <a:ext cx="2029968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885432" y="441655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D600"/>
                </a:solidFill>
              </a:rPr>
              <a:t>Staging-level E2E tests; environment-as-a-service platforms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DOCKER FOR TESTS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Dockerfile for Test Execution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74904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0233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Dockerfile.test — Maven + Java 21 (temurin-alpine)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40233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81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docker-compose.test.yml — env-var injection (no hardcoded secrets)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 Test Execution — Key Rules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17720" y="1216152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399032"/>
            <a:ext cx="256032" cy="256032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5001768" y="12618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Use Alpine / slim base images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5001768" y="153619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eclipse-temurin:21-jdk-alpine is ~200MB vs ~500MB for full JDK. Smaller images = faster CI layer pulls. Pre-fetch dependencies in a separate RUN layer for effective caching.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4617720" y="1984248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167128"/>
            <a:ext cx="256032" cy="25603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5001768" y="20299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Health checks before test runner starts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5001768" y="230428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depends_on: condition: service_healthy ensures the database is accepting connections before tests run. Without this, tests fail with connection-refused errors on slow CI runners.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4617720" y="2752344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935224"/>
            <a:ext cx="256032" cy="256032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5001768" y="27980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Never use fixed ports — use Docker networking</a:t>
            </a:r>
            <a:endParaRPr lang="en-US" sz="950" dirty="0"/>
          </a:p>
        </p:txBody>
      </p:sp>
      <p:sp>
        <p:nvSpPr>
          <p:cNvPr id="70" name="Text 65"/>
          <p:cNvSpPr/>
          <p:nvPr/>
        </p:nvSpPr>
        <p:spPr>
          <a:xfrm>
            <a:off x="5001768" y="307238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Container-to-container communication uses service names (postgres:5432), not localhost. This avoids port collisions in parallel CI runs and mirrors production networking.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4617720" y="3520440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703320"/>
            <a:ext cx="256032" cy="256032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5001768" y="35661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Docker-in-Docker (DinD) — avoid where possible</a:t>
            </a:r>
            <a:endParaRPr lang="en-US" sz="950" dirty="0"/>
          </a:p>
        </p:txBody>
      </p:sp>
      <p:sp>
        <p:nvSpPr>
          <p:cNvPr id="74" name="Text 68"/>
          <p:cNvSpPr/>
          <p:nvPr/>
        </p:nvSpPr>
        <p:spPr>
          <a:xfrm>
            <a:off x="5001768" y="384048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DinD is complex, needs privileged mode, and is prone to performance issues. Prefer running tests in a container with Docker socket mounted, or use Testcontainers Cloud.</a:t>
            </a:r>
            <a:endParaRPr lang="en-US" sz="850" dirty="0"/>
          </a:p>
        </p:txBody>
      </p:sp>
      <p:sp>
        <p:nvSpPr>
          <p:cNvPr id="75" name="Shape 69"/>
          <p:cNvSpPr/>
          <p:nvPr/>
        </p:nvSpPr>
        <p:spPr>
          <a:xfrm>
            <a:off x="4617720" y="4288536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471416"/>
            <a:ext cx="256032" cy="256032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5001768" y="433425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Never commit credentials to Dockerfile</a:t>
            </a:r>
            <a:endParaRPr lang="en-US" sz="950" dirty="0"/>
          </a:p>
        </p:txBody>
      </p:sp>
      <p:sp>
        <p:nvSpPr>
          <p:cNvPr id="78" name="Text 71"/>
          <p:cNvSpPr/>
          <p:nvPr/>
        </p:nvSpPr>
        <p:spPr>
          <a:xfrm>
            <a:off x="5001768" y="4608576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Pass DB passwords, API keys, and secrets via CI env-vars (environment: in compose, or --env in docker run). Store secrets in your CI secrets store, not in the image.</a:t>
            </a:r>
            <a:endParaRPr lang="en-US" sz="850" dirty="0"/>
          </a:p>
        </p:txBody>
      </p:sp>
      <p:sp>
        <p:nvSpPr>
          <p:cNvPr id="9001" name="CodeBlock_9001"/>
          <p:cNvSpPr>
            <a:spLocks noGrp="1"/>
          </p:cNvSpPr>
          <p:nvPr/>
        </p:nvSpPr>
        <p:spPr>
          <a:xfrm>
            <a:off x="457200" y="1155700"/>
            <a:ext cx="3835400" cy="345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Dockerfile.test — test execution image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eclipse-temurin:21-jdk-alpine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Maven (or use Maven wrapper in repo)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apk add --no-cache maven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project files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pom.xml .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src/ src/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Pre-fetch dependencies (cached layer)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dependency:go-offline -B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tests by default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["mvn", "test", "-B", "--no-transfer-progress"]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compose.test.yml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Passwords via env-vars — never hardcode in file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testdb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testuser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${DB_PASS}  # from CI secret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["CMD","pg_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isready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","-U","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testuser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interval: 5s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retries: 5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test-runner: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context: .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Dockerfile.test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service_healthy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DB_URL: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jdbc:postgresql</a:t>
            </a: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://postgres:5432/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testdb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DB_USER: </a:t>
            </a:r>
            <a:r>
              <a:rPr lang="en-US" sz="82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testuser</a:t>
            </a: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DB_PASS: ${DB_PASS}  # injected from CI secret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335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4727929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TESTCONTAINERS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Testcontainers — Programmatic Docker in Tests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59536"/>
            <a:ext cx="84124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Testcontainers: open-source library providing a programmatic API to spin up Docker containers within test lifecycle hooks. Supports Java, Python, Go, .NET, Node.js. Auto-cleans containers via Ryuk sidecar. Requires a Docker-API compatible runtime — no DinD needed.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307592"/>
            <a:ext cx="3931920" cy="368960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07592"/>
            <a:ext cx="41605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25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Testcontainers — PostgreSQL integration test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1307592"/>
            <a:ext cx="411480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1307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Testcontainers Key Concepts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1655064"/>
            <a:ext cx="4114800" cy="5394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837944"/>
            <a:ext cx="256032" cy="256032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5047488" y="1700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@Testcontainers + @Container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084064" y="18790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</a:rPr>
              <a:t>@Testcontainers enables JUnit 5 extension. Static @Container is shared across all tests in the class (started once). Non-static = new container per test method.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4663440" y="2249906"/>
            <a:ext cx="4114800" cy="580643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432786"/>
            <a:ext cx="256032" cy="256032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047488" y="229562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Random ports — never use fixed ports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047488" y="248307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</a:rPr>
              <a:t>Testcontainers maps container ports to random host ports automatically. Use getMappedPort() or getJdbcUrl() to connect. Fixed ports cause collisions in parallel CI runs.</a:t>
            </a:r>
            <a:endParaRPr lang="en-US" sz="600" dirty="0"/>
          </a:p>
        </p:txBody>
      </p:sp>
      <p:sp>
        <p:nvSpPr>
          <p:cNvPr id="58" name="Shape 54"/>
          <p:cNvSpPr/>
          <p:nvPr/>
        </p:nvSpPr>
        <p:spPr>
          <a:xfrm>
            <a:off x="4663440" y="2862553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045433"/>
            <a:ext cx="256032" cy="25603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5047488" y="2908273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Ryuk auto-cleanup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5047488" y="3182593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</a:rPr>
              <a:t>Testcontainers attaches labels to all created resources. The Ryuk sidecar removes them automatically after the test process exits — even on crash or SIGKILL.</a:t>
            </a:r>
            <a:endParaRPr lang="en-US" sz="600" dirty="0"/>
          </a:p>
        </p:txBody>
      </p:sp>
      <p:sp>
        <p:nvSpPr>
          <p:cNvPr id="62" name="Shape 57"/>
          <p:cNvSpPr/>
          <p:nvPr/>
        </p:nvSpPr>
        <p:spPr>
          <a:xfrm>
            <a:off x="4663440" y="3630649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13529"/>
            <a:ext cx="256032" cy="256032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5047488" y="3676369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Wait strategies — reliability in CI</a:t>
            </a:r>
            <a:endParaRPr lang="en-US" sz="950" dirty="0"/>
          </a:p>
        </p:txBody>
      </p:sp>
      <p:sp>
        <p:nvSpPr>
          <p:cNvPr id="65" name="Text 59"/>
          <p:cNvSpPr/>
          <p:nvPr/>
        </p:nvSpPr>
        <p:spPr>
          <a:xfrm>
            <a:off x="5047488" y="3950689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</a:rPr>
              <a:t>Containers start before they are ready. Use .waitingFor(Wait.forHealthcheck()) or .waitingFor(Wait.forLogMessage("ready")) to block until the service is fully initialised.</a:t>
            </a:r>
            <a:endParaRPr lang="en-US" sz="600" dirty="0"/>
          </a:p>
        </p:txBody>
      </p:sp>
      <p:sp>
        <p:nvSpPr>
          <p:cNvPr id="66" name="Shape 60"/>
          <p:cNvSpPr/>
          <p:nvPr/>
        </p:nvSpPr>
        <p:spPr>
          <a:xfrm>
            <a:off x="4663440" y="4398745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581625"/>
            <a:ext cx="256032" cy="256032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5047488" y="4444465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Testcontainers Cloud — for DinD-free CI</a:t>
            </a:r>
            <a:endParaRPr lang="en-US" sz="950" dirty="0"/>
          </a:p>
        </p:txBody>
      </p:sp>
      <p:sp>
        <p:nvSpPr>
          <p:cNvPr id="69" name="Text 62"/>
          <p:cNvSpPr/>
          <p:nvPr/>
        </p:nvSpPr>
        <p:spPr>
          <a:xfrm>
            <a:off x="5047488" y="4718785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</a:rPr>
              <a:t>Runs containers remotely; no Docker daemon needed on the CI runner. Eliminates DinD complexity and privileged mode. Useful for GitHub Actions hosted runners.</a:t>
            </a:r>
            <a:endParaRPr lang="en-US" sz="600" dirty="0"/>
          </a:p>
        </p:txBody>
      </p:sp>
      <p:sp>
        <p:nvSpPr>
          <p:cNvPr id="9001" name="CodeBlock_9001"/>
          <p:cNvSpPr>
            <a:spLocks noGrp="1"/>
          </p:cNvSpPr>
          <p:nvPr/>
        </p:nvSpPr>
        <p:spPr>
          <a:xfrm>
            <a:off x="457200" y="1600200"/>
            <a:ext cx="3460282" cy="35433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Maven dependency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&lt;groupId&gt;org.testcontainers&lt;/groupId&gt;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&lt;artifactId&gt;postgresql&lt;/artifactId&gt;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&lt;scope&gt;test&lt;/scope&gt;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JUnit 5 integration test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@Testcontainers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UserRepositoryIT {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@Container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PostgreSQLContainer&lt;?&gt; postgres =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PostgreSQLContainer&lt;&gt;("postgres:16-alpine")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.withDatabaseName("testdb")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.withUsername("testuser")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.withPassword("testpass");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@BeforeEach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setUp() {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Testcontainers maps to a RANDOM port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— get it via postgres.getMappedPort(5432)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DataSource ds = DataSourceBuilder.create()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.url(postgres.getJdbcUrl())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.username(postgres.getUsername())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.password(postgres.getPassword())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.build();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saveUser_persistsToRealDatabase() {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test runs against REAL postgres — not H2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7505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4000741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TEST DATA MANAGEMENT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Data Management Strategies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59536"/>
            <a:ext cx="4023360" cy="2926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59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Core Strategies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16152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9903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Seed scripts in version control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" y="153619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Store SQL/JSON seed scripts in src/test/resources/data/. Run before tests via @BeforeAll or init scripts. Every developer and CI run starts from the same known state.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1984248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6712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20299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UUID / timestamp-prefixed test data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49808" y="23042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Create test records with unique prefixes: user_test_&lt;uuid&gt;, order_&lt;timestamp&gt;. Prevents conflicts between parallel test runs and makes cleanup trivial.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2752344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93522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" y="27980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Transactional rollback per test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49808" y="30723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Wrap each test in a @Transactional annotation (Spring) or begin/rollback block. DB is reset after every test without running cleanup scripts — fast and reliable.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65760" y="3520440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7033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" y="3566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Scheduled daily refresh for shared envs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8404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For shared staging environments, run a nightly data-refresh job (CI scheduled workflow) to restore a clean baseline. Prevents drift accumulation over days of testing.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65760" y="4288536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47141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9808" y="433425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Never use production data — mask or synthesise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49808" y="460857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Production data in test environments violates GDPR/DPDP. Use synthetic data generators or masked exports. Mask email, phone, PAN fields at minimum before seeding.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617720" y="859536"/>
            <a:ext cx="4160520" cy="224028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17720" y="859536"/>
            <a:ext cx="41605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09160" y="877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src/test/resources/data/seed.sql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4617720" y="3113773"/>
            <a:ext cx="4160520" cy="2029727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617720" y="3113773"/>
            <a:ext cx="41605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709160" y="3132061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application-test.properties — env-var injection</a:t>
            </a:r>
            <a:endParaRPr lang="en-US" sz="800" dirty="0"/>
          </a:p>
        </p:txBody>
      </p:sp>
      <p:sp>
        <p:nvSpPr>
          <p:cNvPr id="9001" name="CodeBlock_9001"/>
          <p:cNvSpPr>
            <a:spLocks noGrp="1"/>
          </p:cNvSpPr>
          <p:nvPr/>
        </p:nvSpPr>
        <p:spPr>
          <a:xfrm>
            <a:off x="4711700" y="1155700"/>
            <a:ext cx="3975100" cy="18801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src/test/resources/data/seed.sql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Run once before test suite via @BeforeAll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orders WHERE user_id LIKE 'test_%';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users  WHERE id LIKE 'test_%';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users (id, name, email) VALUES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('test_alice', 'Alice',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'alice_test@example.com'),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('test_bob',   'Bob',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'bob_test@example.com');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orders (id, user_id, amount) VALUES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('ord_001', 'test_alice', 99.99),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('ord_002', 'test_bob',   49.50);</a:t>
            </a:r>
          </a:p>
        </p:txBody>
      </p:sp>
      <p:sp>
        <p:nvSpPr>
          <p:cNvPr id="9002" name="CodeBlock_9002"/>
          <p:cNvSpPr>
            <a:spLocks noGrp="1"/>
          </p:cNvSpPr>
          <p:nvPr/>
        </p:nvSpPr>
        <p:spPr>
          <a:xfrm>
            <a:off x="4711700" y="3401809"/>
            <a:ext cx="3975100" cy="1741691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src/test/resources/application-test.properties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Override for test profile — injected via CI env-vars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spring.datasource.url=${DB_URL:jdbc:h2:mem:testdb}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spring.datasource.username=${DB_USER:sa}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spring.datasource.password=${DB_PASS:}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Disable real email/SMS in test env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app.notifications.enabled=false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app.payment.gateway=sandbox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hardcode credentials — use env-vars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DB_URL, DB_USER, DB_PASS in CI secrets</a:t>
            </a:r>
          </a:p>
        </p:txBody>
      </p:sp>
    </p:spTree>
    <p:extLst>
      <p:ext uri="{BB962C8B-B14F-4D97-AF65-F5344CB8AC3E}">
        <p14:creationId xmlns:p14="http://schemas.microsoft.com/office/powerpoint/2010/main" val="312905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CI INTEGRATION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Docker Test Execution in CI Pipeline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658627" cy="4187952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8463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GitHub Actions — Docker Compose test job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CI Integration Notes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94960" y="1216152"/>
            <a:ext cx="338328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417320"/>
            <a:ext cx="256032" cy="25603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5760720" y="12618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ubuntu-latest has Docker pre-installed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760720" y="155448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GitHub-hosted ubuntu-latest runners include Docker Engine. No setup step needed — you can call docker and docker compose directly.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394960" y="2066544"/>
            <a:ext cx="338328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2267712"/>
            <a:ext cx="256032" cy="256032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760720" y="21122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--abort-on-container-exit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5760720" y="240487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Stops all services as soon as any container exits. --exit-code-from test-runner propagates the test runner exit code to the CI job — pipeline fails if tests fail.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5394960" y="2916936"/>
            <a:ext cx="338328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6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118104"/>
            <a:ext cx="256032" cy="256032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5760720" y="296265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Secrets via CI env-vars, never in compose file</a:t>
            </a:r>
            <a:endParaRPr lang="en-US" sz="950" dirty="0"/>
          </a:p>
        </p:txBody>
      </p:sp>
      <p:sp>
        <p:nvSpPr>
          <p:cNvPr id="64" name="Text 59"/>
          <p:cNvSpPr/>
          <p:nvPr/>
        </p:nvSpPr>
        <p:spPr>
          <a:xfrm>
            <a:off x="5760720" y="32552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Pass DB_PASS via GitHub secrets → env: block. The compose file reads it as ${DB_PASS}. Never write passwords in docker-compose.test.yml — it lives in version control.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5394960" y="3767328"/>
            <a:ext cx="338328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6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3968496"/>
            <a:ext cx="256032" cy="256032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5760720" y="381304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Copy reports before compose down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5760720" y="4105656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Reports inside the test-runner container are lost when compose cleans up. Use docker compose cp to extract them before teardown, then upload-artifact.</a:t>
            </a:r>
            <a:endParaRPr lang="en-US" sz="850" dirty="0"/>
          </a:p>
        </p:txBody>
      </p:sp>
      <p:sp>
        <p:nvSpPr>
          <p:cNvPr id="9001" name="CodeBlock_9001"/>
          <p:cNvSpPr>
            <a:spLocks noGrp="1"/>
          </p:cNvSpPr>
          <p:nvPr/>
        </p:nvSpPr>
        <p:spPr>
          <a:xfrm>
            <a:off x="457200" y="1155700"/>
            <a:ext cx="4567187" cy="39009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integration-test: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unit-test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   # Docker pre-installed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Build test image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build -f Dockerfile.test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-t myapp-test:${{ github.sha }} .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integration tests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compose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-f docker-compose.test.yml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up --abort-on-container-exit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--exit-code-from test-runner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DB_PASS: ${{ secrets.TEST_DB_PASS }}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Copy test reports from container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compose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-f docker-compose.test.yml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cp test-runner:/app/target/surefire-reports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./test-reports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Tear down containers and volumes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compose \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-f docker-compose.test.yml down -v</a:t>
            </a:r>
          </a:p>
          <a:p>
            <a:pPr marL="0" indent="0" algn="l">
              <a:buNone/>
            </a:pPr>
            <a:endParaRPr lang="en-US" sz="820" dirty="0">
              <a:solidFill>
                <a:srgbClr val="E8F4F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actions/upload-artifact@v4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integration-test-results</a:t>
            </a:r>
          </a:p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./test-reports/</a:t>
            </a:r>
          </a:p>
        </p:txBody>
      </p:sp>
    </p:spTree>
    <p:extLst>
      <p:ext uri="{BB962C8B-B14F-4D97-AF65-F5344CB8AC3E}">
        <p14:creationId xmlns:p14="http://schemas.microsoft.com/office/powerpoint/2010/main" val="15138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Containerise → Seed → Run → Report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</a:rPr>
              <a:t>Running Tests in Docker Containers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Write Dockerfile.test based on eclipse-temurin:21-jdk-alpine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Build image: docker build -f Dockerfile.test -t myapp-test 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with Docker Compose: docker compose -f docker-compose.test.yml up --abort-on-container-exit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Observe: postgres health check completes before test-runner starts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</a:rPr>
              <a:t>Configuring Environment Variables for 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Show application-test.properties reading ${DB_URL}, ${DB_USER}, ${DB_PASS}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without env-vars — observe fallback to H2 in-memory (default value)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Export DB_URL pointing to dockerised postgres — observe switch to real 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Push to CI — inject secrets via GitHub repo settings → confirm pipeline uses them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CD4"/>
                </a:solidFill>
              </a:rPr>
              <a:t>Managing Test Data 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seed.sql via @BeforeAll — show deterministic test data in place before tests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Demonstrate UUID-prefixed data creation: INSERT user_test_&lt;uuid&gt; during 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Show transactional rollback: verify DB state is clean after each test method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Introduce a data conflict (duplicate key) — observe failure, fix with unique prefix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Containerise, Seed &amp; Configure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</a:rPr>
              <a:t>40% Theory  |  60%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B7ED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Docker image running tests (screenshot)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7ED"/>
                </a:solidFill>
              </a:rPr>
              <a:t>Create Dockerfile for Test Execution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Create Dockerfile.test: FROM eclipse-temurin:21-jdk-alpine, COPY pom.xml + src/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Add RUN mvn dependency:go-offline for dependency caching layer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Build: docker build -f Dockerfile.test -t myapp-test . — verify image builds cleanly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B7ED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Run tests: docker run --rm myapp-test mvn test — confirm tests pass inside container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0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Compose run with green test output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600"/>
                </a:solidFill>
              </a:rPr>
              <a:t>Set Up Docker Compose with Test Database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Write docker-compose.test.yml: postgres:16-alpine service with health check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Add test-runner service with depends_on: postgres: condition: service_healthy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Pass DB_URL via environment: block (read from CI env-var, not hardcoded)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Run: docker compose -f docker-compose.test.yml up --abort-on-container-exit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Environment config doc + working CI job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CD4"/>
                </a:solidFill>
              </a:rPr>
              <a:t>Environment Configuration Documentation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Create application-test.properties using ${DB_URL}, ${DB_USER}, ${DB_PASS} with H2 fallbacks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Write seed.sql with prefixed test records; run via @BeforeAll ScriptUtils or Flyway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Add CI job to ci.yml: build image → compose up → copy reports → upload-artifact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Document the environment setup: which env-vars are required, where secrets are stored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6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416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D"/>
                </a:solidFill>
              </a:rPr>
              <a:t>Dockerfile for test execution + docker-compose.test.yml with health-checked database service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38528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025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87552" y="1984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D"/>
                </a:solidFill>
              </a:rPr>
              <a:t>Environment Configuration Documentation — env-vars map, secrets locations, seed data guide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12801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1289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1.  </a:t>
            </a:r>
            <a:r>
              <a:rPr lang="en-US" sz="880" dirty="0">
                <a:solidFill>
                  <a:srgbClr val="E8F4FD"/>
                </a:solidFill>
              </a:rPr>
              <a:t>Docker ephemeral environments eliminate 'works on my machine' — tests run identically on dev and CI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4663440" y="17373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17465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2.  </a:t>
            </a:r>
            <a:r>
              <a:rPr lang="en-US" sz="880" dirty="0">
                <a:solidFill>
                  <a:srgbClr val="E8F4FD"/>
                </a:solidFill>
              </a:rPr>
              <a:t>Never use fixed ports in Docker test setups — random ports prevent parallel run collisions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4663440" y="21945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2037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3.  </a:t>
            </a:r>
            <a:r>
              <a:rPr lang="en-US" sz="880" dirty="0">
                <a:solidFill>
                  <a:srgbClr val="E8F4FD"/>
                </a:solidFill>
              </a:rPr>
              <a:t>Testcontainers gives programmatic control of containers in test lifecycle hooks with auto-cleanup via Ryuk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4663440" y="26517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6609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4.  </a:t>
            </a:r>
            <a:r>
              <a:rPr lang="en-US" sz="880" dirty="0">
                <a:solidFill>
                  <a:srgbClr val="E8F4FD"/>
                </a:solidFill>
              </a:rPr>
              <a:t>Seed scripts in version control + UUID-prefixed data = reproducible, conflict-free test data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4663440" y="31089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3118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5.  </a:t>
            </a:r>
            <a:r>
              <a:rPr lang="en-US" sz="880" dirty="0">
                <a:solidFill>
                  <a:srgbClr val="E8F4FD"/>
                </a:solidFill>
              </a:rPr>
              <a:t>Never commit credentials to Dockerfiles or compose files — inject via CI secrets and env-vars</a:t>
            </a:r>
            <a:endParaRPr lang="en-US" sz="880" dirty="0"/>
          </a:p>
        </p:txBody>
      </p:sp>
      <p:sp>
        <p:nvSpPr>
          <p:cNvPr id="29" name="Shape 25"/>
          <p:cNvSpPr/>
          <p:nvPr/>
        </p:nvSpPr>
        <p:spPr>
          <a:xfrm>
            <a:off x="4663440" y="35661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3575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6.  </a:t>
            </a:r>
            <a:r>
              <a:rPr lang="en-US" sz="880" dirty="0">
                <a:solidFill>
                  <a:srgbClr val="E8F4FD"/>
                </a:solidFill>
              </a:rPr>
              <a:t>Never use unmasked production data in test environments — GDPR/DPDP compliance is non-negotiable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365760" y="4041648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7: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2148840" y="40690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D"/>
                </a:solidFill>
              </a:rPr>
              <a:t>Test Reporting, Quality Gates &amp; Optimisation  ·  Allure, coverage gates, pipeline dashboards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8640" y="4343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</a:rPr>
              <a:t>Hands-on: Generate Allure reports · configure coverage thresholds · optimise slow CI pipeline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6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6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How do Testcontainers and Docker Compose each handle port assignment, and why does it matter for CI?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Testcontainers automatically maps container ports to random host ports — use getMappedPort() or getJdbcUrl() to connect. This prevents collisions when parallel test runs start multiple containers on the same host. Docker Compose uses internal service-name networking (postgres:5432 inside the Compose network) — host ports are only published if you explicitly configure them, so avoid fixed published ports unless host access is actually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What is the role of the Ryuk sidecar in Testcontainers?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Ryuk is a sidecar container started by Testcontainers that tracks all created resources (containers, volumes, networks) via labels. It automatically removes them after the test process exits — including on crash or SIGKILL — ensuring no orphaned containers accumulate on CI runners.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A test passes locally against H2 but fails in CI against PostgreSQL. Name two likely causes.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1) SQL dialect differences: H2 is lenient about syntax that PostgreSQL enforces strictly (e.g. quoting, type coercions, unsupported functions). 2) Environment config mismatch: the CI DB_URL env-var is pointing to the wrong host, or credentials are incorrect — check the CI secret values and connection string.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Why is production data prohibited in test environments, and what are the alternatives?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Production data contains PII (names, emails, payment info) protected under GDPR, DPDP, and HIPAA. Using it untreated in test environments risks legal liability and data leakage. Alternatives: synthetic data generators, masked/anonymised exports (email → anonymised, phone → redacted), or seed scripts with realistic but fictional test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67E149-F0FF-D742-B7D3-1ADD3F5D576A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f72f2fa7-b3f6-415b-955f-ca7554453f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3149</Words>
  <Application>Microsoft Macintosh PowerPoint</Application>
  <PresentationFormat>On-screen Show (16:9)</PresentationFormat>
  <Paragraphs>362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6</dc:title>
  <dc:subject>PptxGenJS Presentation</dc:subject>
  <dc:creator>Jai Singh</dc:creator>
  <cp:lastModifiedBy>Jai Singh</cp:lastModifiedBy>
  <cp:revision>4</cp:revision>
  <dcterms:created xsi:type="dcterms:W3CDTF">2026-04-11T11:23:16Z</dcterms:created>
  <dcterms:modified xsi:type="dcterms:W3CDTF">2026-04-11T13:28:55Z</dcterms:modified>
</cp:coreProperties>
</file>