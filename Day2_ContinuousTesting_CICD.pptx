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005840"/>
            <a:ext cx="1371600" cy="1371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73152"/>
            <a:ext cx="3474720" cy="2560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731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CONTINUOUS TESTING WITH CI/CD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74320" y="150876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Test Automation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Frameworks for CI/CD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274320" y="321868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BCD4"/>
                </a:solidFill>
              </a:rPr>
              <a:t>Day 2  ·  Module 2  ·  2 Hours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74320" y="3703320"/>
            <a:ext cx="182880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37033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9B6F6"/>
                </a:solidFill>
              </a:rPr>
              <a:t>SDET / DevOps Engineer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194560" y="3703320"/>
            <a:ext cx="182880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94560" y="37033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9B6F6"/>
                </a:solidFill>
              </a:rPr>
              <a:t>Intermediate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114800" y="3703320"/>
            <a:ext cx="182880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0" y="37033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9B6F6"/>
                </a:solidFill>
              </a:rPr>
              <a:t>45% Theory / 55% Hands-on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035040" y="25146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A4AE"/>
                </a:solidFill>
              </a:rPr>
              <a:t>TOOLS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080760" y="2761488"/>
            <a:ext cx="28346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80760" y="27614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Selenium / Playwright / Cypress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080760" y="3072384"/>
            <a:ext cx="28346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80760" y="30723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TestNG / JUnit 5 / PyTest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080760" y="3383280"/>
            <a:ext cx="28346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80760" y="3383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Maven / Gradle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82880" y="4992624"/>
            <a:ext cx="8778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Jai Singh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2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LEARNING OUTCOMES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You Will Achieve Today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960120"/>
            <a:ext cx="8412480" cy="1115568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960120"/>
            <a:ext cx="73152" cy="11155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9304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" y="106984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CD4"/>
                </a:solidFill>
              </a:rPr>
              <a:t>Design automation frameworks for CI execution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43000" y="143560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Apply modular, maintainable architecture patterns suitable for pipeline-first test execution.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2194560"/>
            <a:ext cx="8412480" cy="1115568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5760" y="2194560"/>
            <a:ext cx="73152" cy="111556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23744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43000" y="230428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853"/>
                </a:solidFill>
              </a:rPr>
              <a:t>Apply modular and maintainable test design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143000" y="267004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Use data-driven, keyword-driven, and CI-friendly design patterns across TestNG, JUnit 5, and PyTest.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65760" y="3429000"/>
            <a:ext cx="8412480" cy="1115568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65760" y="3429000"/>
            <a:ext cx="73152" cy="111556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58184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43000" y="353872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600"/>
                </a:solidFill>
              </a:rPr>
              <a:t>Integrate test frameworks with build tools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143000" y="390448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Wire Maven Surefire/Failsafe and Gradle test tasks to run tests from the command line and in CI.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2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FRAMEWORK ARCHITECTURES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Automation Framework Architectures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8412480" cy="731520"/>
          </a:xfrm>
          <a:prstGeom prst="rect">
            <a:avLst/>
          </a:prstGeom>
          <a:solidFill>
            <a:srgbClr val="112233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914400"/>
            <a:ext cx="73152" cy="73152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9875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0A4AE"/>
                </a:solidFill>
              </a:rPr>
              <a:t>Linear / Record-and-Playback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12984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Use when: Quick PoC only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971800" y="987552"/>
            <a:ext cx="502920" cy="20116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9875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2A"/>
                </a:solidFill>
              </a:rPr>
              <a:t>PRO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520440" y="978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Zero setup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71800" y="1316736"/>
            <a:ext cx="502920" cy="201168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13167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CON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520440" y="1307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Brittle, not maintainable, no reuse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1709928"/>
            <a:ext cx="8412480" cy="7315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1709928"/>
            <a:ext cx="73152" cy="7315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17830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CD4"/>
                </a:solidFill>
              </a:rPr>
              <a:t>Modular Framework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" y="20939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Use when: Small–mid teams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971800" y="1783080"/>
            <a:ext cx="502920" cy="20116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71800" y="17830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2A"/>
                </a:solidFill>
              </a:rPr>
              <a:t>PRO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520440" y="17739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Reusable functions, clean separation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971800" y="2112264"/>
            <a:ext cx="502920" cy="201168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71800" y="21122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CON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520440" y="21031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Can grow messy without discipline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2505456"/>
            <a:ext cx="8412480" cy="7315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2505456"/>
            <a:ext cx="73152" cy="73152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5786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C853"/>
                </a:solidFill>
              </a:rPr>
              <a:t>Data-Driven Framework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352" y="288950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Use when: Many test variants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971800" y="2578608"/>
            <a:ext cx="502920" cy="20116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71800" y="2578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2A"/>
                </a:solidFill>
              </a:rPr>
              <a:t>PRO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520440" y="25694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Tests + data decoupled; easy scaling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971800" y="2907792"/>
            <a:ext cx="502920" cy="201168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71800" y="29077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CON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520440" y="28986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Needs external data layer (CSV/Excel/DB)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3300984"/>
            <a:ext cx="8412480" cy="731520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3300984"/>
            <a:ext cx="73152" cy="73152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33741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600"/>
                </a:solidFill>
              </a:rPr>
              <a:t>Keyword-Driven Framework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0352" y="36850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Use when: Mixed skill teams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971800" y="3374136"/>
            <a:ext cx="502920" cy="20116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71800" y="33741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2A"/>
                </a:solidFill>
              </a:rPr>
              <a:t>PRO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520440" y="33649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Non-devs can add tests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971800" y="3703320"/>
            <a:ext cx="502920" cy="201168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71800" y="37033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CON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520440" y="369417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Heavy upfront keyword library cost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65760" y="4096512"/>
            <a:ext cx="8412480" cy="731520"/>
          </a:xfrm>
          <a:prstGeom prst="rect">
            <a:avLst/>
          </a:prstGeom>
          <a:solidFill>
            <a:srgbClr val="112233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5760" y="4096512"/>
            <a:ext cx="73152" cy="73152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0352" y="41696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9B6F6"/>
                </a:solidFill>
              </a:rPr>
              <a:t>Hybrid Framework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30352" y="44805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Use when: Enterprise / CI-first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971800" y="4169664"/>
            <a:ext cx="502920" cy="20116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71800" y="41696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2A"/>
                </a:solidFill>
              </a:rPr>
              <a:t>PRO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520440" y="4160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Best of modular + data-driven + POM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971800" y="4498848"/>
            <a:ext cx="502920" cy="201168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71800" y="44988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CON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520440" y="448970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Highest setup complexity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2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FRAMEWORK COMPARISON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TestNG vs JUnit 5 vs PyTest — Choosing for CI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2697480" cy="47548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7782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TestNG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112471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v7.x  ·  Java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1389888"/>
            <a:ext cx="2697480" cy="201168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39903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0A4AE"/>
                </a:solidFill>
              </a:rPr>
              <a:t>KEY STRENGTHS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57200" y="163677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D600"/>
                </a:solidFill>
              </a:rPr>
              <a:t>✓  </a:t>
            </a:r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XML suite config (testng.xml)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198424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D600"/>
                </a:solidFill>
              </a:rPr>
              <a:t>✓  </a:t>
            </a:r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Built-in parallel execution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233172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D600"/>
                </a:solidFill>
              </a:rPr>
              <a:t>✓  </a:t>
            </a:r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Group, sequence &amp; dependency control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267919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D600"/>
                </a:solidFill>
              </a:rPr>
              <a:t>✓  </a:t>
            </a:r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Rich HTML reports out of the box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302666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D600"/>
                </a:solidFill>
              </a:rPr>
              <a:t>✓  </a:t>
            </a:r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Strong for large Selenium suites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2697480" cy="329184"/>
          </a:xfrm>
          <a:prstGeom prst="rect">
            <a:avLst/>
          </a:prstGeom>
          <a:solidFill>
            <a:srgbClr val="0A0F1A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447288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CI:  mvn test  (via Surefire plugin)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3813048"/>
            <a:ext cx="2697480" cy="201168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82219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4336"/>
                </a:solidFill>
              </a:rPr>
              <a:t>WATCH OUT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57200" y="4059936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44336"/>
                </a:solidFill>
              </a:rPr>
              <a:t>⚠  </a:t>
            </a:r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XML config can become complex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4398264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44336"/>
                </a:solidFill>
              </a:rPr>
              <a:t>⚠  </a:t>
            </a:r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Less unit-test-friendly than JUnit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0" y="868680"/>
            <a:ext cx="2697480" cy="47548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87782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JUnit 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0400" y="112471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v5.14.x  ·  Java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0" y="1389888"/>
            <a:ext cx="2697480" cy="201168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0" y="139903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0A4AE"/>
                </a:solidFill>
              </a:rPr>
              <a:t>KEY STRENGTHS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291840" y="163677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BCD4"/>
                </a:solidFill>
              </a:rPr>
              <a:t>✓  </a:t>
            </a:r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Modular (Platform / Jupiter / Vintage)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91840" y="198424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BCD4"/>
                </a:solidFill>
              </a:rPr>
              <a:t>✓  </a:t>
            </a:r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Parameterized tests via @ParameterizedTest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91840" y="233172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BCD4"/>
                </a:solidFill>
              </a:rPr>
              <a:t>✓  </a:t>
            </a:r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Extension model replaces Rules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291840" y="267919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BCD4"/>
                </a:solidFill>
              </a:rPr>
              <a:t>✓  </a:t>
            </a:r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Default in Spring Boot Test &amp; most Java stacks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291840" y="302666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BCD4"/>
                </a:solidFill>
              </a:rPr>
              <a:t>✓  </a:t>
            </a:r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Native IDE &amp; Maven/Gradle support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0" y="3429000"/>
            <a:ext cx="2697480" cy="329184"/>
          </a:xfrm>
          <a:prstGeom prst="rect">
            <a:avLst/>
          </a:prstGeom>
          <a:solidFill>
            <a:srgbClr val="0A0F1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73552" y="3447288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CI:  mvn test  /  ./gradlew test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00400" y="3813048"/>
            <a:ext cx="2697480" cy="201168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0" y="382219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4336"/>
                </a:solidFill>
              </a:rPr>
              <a:t>WATCH OUT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291840" y="4059936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44336"/>
                </a:solidFill>
              </a:rPr>
              <a:t>⚠  </a:t>
            </a:r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No built-in HTML report (add Allure)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291840" y="4398264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44336"/>
                </a:solidFill>
              </a:rPr>
              <a:t>⚠  </a:t>
            </a:r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Parallel config needs extra setup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035040" y="868680"/>
            <a:ext cx="2697480" cy="47548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0" y="87782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PyTest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035040" y="112471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v9.0.x  ·  Python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035040" y="1389888"/>
            <a:ext cx="2697480" cy="201168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35040" y="139903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0A4AE"/>
                </a:solidFill>
              </a:rPr>
              <a:t>KEY STRENGTHS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126480" y="163677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C853"/>
                </a:solidFill>
              </a:rPr>
              <a:t>✓  </a:t>
            </a:r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Simple assert rewriting — no boilerplate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126480" y="198424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C853"/>
                </a:solidFill>
              </a:rPr>
              <a:t>✓  </a:t>
            </a:r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800+ plugins (pytest-xdist, pytest-cov)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126480" y="233172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C853"/>
                </a:solidFill>
              </a:rPr>
              <a:t>✓  </a:t>
            </a:r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Powerful fixture injection &amp; scoping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126480" y="267919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C853"/>
                </a:solidFill>
              </a:rPr>
              <a:t>✓  </a:t>
            </a:r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Supports Python 3.10–3.14+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126480" y="302666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C853"/>
                </a:solidFill>
              </a:rPr>
              <a:t>✓  </a:t>
            </a:r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Dominant Python test framework for API &amp; service testing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035040" y="3429000"/>
            <a:ext cx="2697480" cy="329184"/>
          </a:xfrm>
          <a:prstGeom prst="rect">
            <a:avLst/>
          </a:prstGeom>
          <a:solidFill>
            <a:srgbClr val="0A0F1A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08192" y="3447288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CI:  pytest --junitxml=report.xml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035040" y="3813048"/>
            <a:ext cx="2697480" cy="201168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35040" y="382219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4336"/>
                </a:solidFill>
              </a:rPr>
              <a:t>WATCH OUT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126480" y="4059936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44336"/>
                </a:solidFill>
              </a:rPr>
              <a:t>⚠  </a:t>
            </a:r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Fixture scoping can confuse newcomers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126480" y="4398264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44336"/>
                </a:solidFill>
              </a:rPr>
              <a:t>⚠  </a:t>
            </a:r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Async test support needs pytest-asyncio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2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TEST DESIGN PATTERNS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Data-Driven &amp; Keyword-Driven Testing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4114800" cy="32918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686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Data-Driven Testing (DDT)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114800" cy="1627632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2984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C853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Test logic and test data separated into distinct layers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16642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C853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Same test executes N times with N data rows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029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C853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Data sources: CSV, Excel, JSON, DB, or @ParameterizedTest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3957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C853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CI executes all variants automatically — no code duplication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4114800" cy="1828800"/>
          </a:xfrm>
          <a:prstGeom prst="rect">
            <a:avLst/>
          </a:prstGeom>
          <a:solidFill>
            <a:srgbClr val="0A0F1A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926080"/>
            <a:ext cx="411480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443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0A4AE"/>
                </a:solidFill>
              </a:rPr>
              <a:t>JUnit 5 — @ParameterizedTest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" y="3218688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@ParameterizedTest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3465576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@CsvSource({"user1,pass1", "user2,pass2"})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3712464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loginTest(String user, String pwd) {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959352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loginPage.login(user, pwd);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4206240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assertThat(dashboard.isDisplayed());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4453128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868680"/>
            <a:ext cx="4114800" cy="32918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8686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Keyword-Driven Testing (KDT)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1243584"/>
            <a:ext cx="4114800" cy="1627632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2984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D600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Tests expressed as readable action keywords in a table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00600" y="16642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D600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Implementation hidden behind keyword library functions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00600" y="2029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D600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Non-developers can write or modify test scenarios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00600" y="23957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D600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Framework maps keywords → Java/Python method calls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2926080"/>
            <a:ext cx="4114800" cy="1828800"/>
          </a:xfrm>
          <a:prstGeom prst="rect">
            <a:avLst/>
          </a:prstGeom>
          <a:solidFill>
            <a:srgbClr val="0A0F1A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2926080"/>
            <a:ext cx="411480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9443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0A4AE"/>
                </a:solidFill>
              </a:rPr>
              <a:t>Keyword Table (Robot Framework style)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36592" y="32186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062472" y="32186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 1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388352" y="32186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 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36592" y="35112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Browser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062472" y="35112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https://app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388352" y="35112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36592" y="38039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Text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062472" y="38039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username_fld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388352" y="38039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testuser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736592" y="4096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 Element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062472" y="4096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login_btn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388352" y="4096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736592" y="43891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 Title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062472" y="43891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388352" y="43891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2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CI-FRIENDLY DESIGN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CI-Friendly Test Design Principles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8412480" cy="749808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914400"/>
            <a:ext cx="73152" cy="7498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115568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969264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C853"/>
                </a:solidFill>
              </a:rPr>
              <a:t>Tests must be Independent &amp; Idempotent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05840" y="1261872"/>
            <a:ext cx="7635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No shared mutable state between tests. Each test sets up its own data and cleans up after itself. Avoids order-dependent failures in parallel CI runs.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65760" y="1737360"/>
            <a:ext cx="8412480" cy="749808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5760" y="1737360"/>
            <a:ext cx="73152" cy="7498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938528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05840" y="1792224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CD4"/>
                </a:solidFill>
              </a:rPr>
              <a:t>Optimise for fast feedback — unit tests should be very fast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005840" y="2084832"/>
            <a:ext cx="7635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Slow tests drag CI feedback loops. Isolate I/O, mock external dependencies, and use fixtures that don't hit networks or databases. Aim to keep the full unit suite under a few minutes in CI.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365760" y="2560320"/>
            <a:ext cx="8412480" cy="749808"/>
          </a:xfrm>
          <a:prstGeom prst="rect">
            <a:avLst/>
          </a:prstGeom>
          <a:solidFill>
            <a:srgbClr val="112233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65760" y="2560320"/>
            <a:ext cx="73152" cy="749808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761488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05840" y="2615184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4336"/>
                </a:solidFill>
              </a:rPr>
              <a:t>Zero tolerance for flaky tests in CI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1005840" y="2907792"/>
            <a:ext cx="7635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A test that passes/fails intermittently is worse than no test. Quarantine flaky tests, fix root cause (timing, shared state, env), then reinstate.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365760" y="3383280"/>
            <a:ext cx="8412480" cy="749808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65760" y="3383280"/>
            <a:ext cx="73152" cy="7498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584448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05840" y="3438144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600"/>
                </a:solidFill>
              </a:rPr>
              <a:t>Environment configuration via properties/env-vars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1005840" y="3730752"/>
            <a:ext cx="7635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No hardcoded URLs, credentials, or paths. Use application.properties (Maven), gradle.properties, or .env files — inject at pipeline runtime.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365760" y="4206240"/>
            <a:ext cx="8412480" cy="749808"/>
          </a:xfrm>
          <a:prstGeom prst="rect">
            <a:avLst/>
          </a:prstGeom>
          <a:solidFill>
            <a:srgbClr val="112233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65760" y="4206240"/>
            <a:ext cx="73152" cy="749808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4407408"/>
            <a:ext cx="347472" cy="34747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005840" y="4261104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9B6F6"/>
                </a:solidFill>
              </a:rPr>
              <a:t>Tag &amp; group tests for selective CI execution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1005840" y="4553712"/>
            <a:ext cx="7635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Use TestNG groups, JUnit 5 @Tag, or pytest marks to run smoke, regression, or integration subsets on different pipeline triggers.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2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BUILD TOOL INTEGRATION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Maven &amp; Gradle — Wiring Tests to CI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4069080" cy="329184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6868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Apache Maven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252728"/>
            <a:ext cx="4069080" cy="2212848"/>
          </a:xfrm>
          <a:prstGeom prst="rect">
            <a:avLst/>
          </a:prstGeom>
          <a:solidFill>
            <a:srgbClr val="0A0F1A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252728"/>
            <a:ext cx="406908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27101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0A4AE"/>
                </a:solidFill>
              </a:rPr>
              <a:t>pom.xml — Surefire (unit tests)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5488" y="1545336"/>
            <a:ext cx="3849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&lt;plugin&gt;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1792224"/>
            <a:ext cx="3849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&lt;groupId&gt;org.apache.maven.plugins&lt;/groupId&gt;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039112"/>
            <a:ext cx="3849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&lt;artifactId&gt;maven-surefire-plugin&lt;/artifactId&gt;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286000"/>
            <a:ext cx="3849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&lt;version&gt;3.5.5&lt;/version&gt;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532888"/>
            <a:ext cx="3849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&lt;configuration&gt;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2779776"/>
            <a:ext cx="3849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&lt;includes&gt;**/*Test.java&lt;/includes&gt;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3026664"/>
            <a:ext cx="3849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&lt;parallel&gt;methods&lt;/parallel&gt;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3273552"/>
            <a:ext cx="3849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&lt;threadCount&gt;4&lt;/threadCount&gt;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520440"/>
            <a:ext cx="3849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&lt;/configuration&gt;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767328"/>
            <a:ext cx="3849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&lt;/plugin&gt;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529584"/>
            <a:ext cx="4069080" cy="1572768"/>
          </a:xfrm>
          <a:prstGeom prst="rect">
            <a:avLst/>
          </a:prstGeom>
          <a:solidFill>
            <a:srgbClr val="0A0F1A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529584"/>
            <a:ext cx="406908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54787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0A4AE"/>
                </a:solidFill>
              </a:rPr>
              <a:t>Common Maven CLI commands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5488" y="3822192"/>
            <a:ext cx="3849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all unit tests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4069080"/>
            <a:ext cx="3849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test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4315968"/>
            <a:ext cx="3849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" y="4562856"/>
            <a:ext cx="3849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specific test class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" y="4809744"/>
            <a:ext cx="3849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test -Dtest=LoginTest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" y="5056632"/>
            <a:ext cx="3849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" y="5303520"/>
            <a:ext cx="3849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Skip tests (CI workaround)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" y="5550408"/>
            <a:ext cx="3849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install -DskipTests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63440" y="868680"/>
            <a:ext cx="4114800" cy="32918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8686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Gradle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63440" y="1252728"/>
            <a:ext cx="4114800" cy="2212848"/>
          </a:xfrm>
          <a:prstGeom prst="rect">
            <a:avLst/>
          </a:prstGeom>
          <a:solidFill>
            <a:srgbClr val="0A0F1A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1252728"/>
            <a:ext cx="411480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12710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0A4AE"/>
                </a:solidFill>
              </a:rPr>
              <a:t>build.gradle — test task (JUnit 5)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73168" y="1545336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{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73168" y="1792224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useJUnitPlatform()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73168" y="2039112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maxParallelForks = Runtime.runtime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773168" y="2286000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.availableProcessors().intdiv(2) ?: 1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773168" y="2532888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testLogging {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773168" y="2779776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events 'passed','failed','skipped'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773168" y="3026664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showStandardStreams = true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773168" y="3273552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773168" y="3520440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663440" y="3529584"/>
            <a:ext cx="4114800" cy="1572768"/>
          </a:xfrm>
          <a:prstGeom prst="rect">
            <a:avLst/>
          </a:prstGeom>
          <a:solidFill>
            <a:srgbClr val="0A0F1A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63440" y="3529584"/>
            <a:ext cx="411480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35478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0A4AE"/>
                </a:solidFill>
              </a:rPr>
              <a:t>Common Gradle CLI commands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773168" y="3822192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all tests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773168" y="4069080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./gradlew test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773168" y="4315968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773168" y="4562856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specific test class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773168" y="4809744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./gradlew test --tests LoginTest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773168" y="5056632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773168" y="5303520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Continuous test watch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773168" y="5550408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./gradlew test --continuous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2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DEMO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Demo: Framework Setup → CLI Execution → Reports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914400"/>
            <a:ext cx="658368" cy="1261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9844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96926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Framework Project Structure Walkthrough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15568" y="12984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Open a sample Maven/Gradle project in IDE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15568" y="16916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Walk through: src/test/java, resources, pom.xml / build.gradle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73168" y="12984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Identify package structure: pages, tests, utils, data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73168" y="16916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Show how Page Object Model separates UI logic from test logic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258568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258568"/>
            <a:ext cx="658368" cy="12618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642616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15568" y="23134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897B"/>
                </a:solidFill>
              </a:rPr>
              <a:t>Executing Tests via Command Line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15568" y="264261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Run full suite:  mvn test  /  ./gradlew test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15568" y="30358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Run tagged subset:  mvn test -Dgroups=smoke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73168" y="264261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Inspect console output — pass/fail counts, assertion errors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73168" y="30358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Observe exit code: 0 = success, non-zero = failure → CI fails build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602736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602736"/>
            <a:ext cx="658368" cy="12618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986784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115568" y="36576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Generating Test Reports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15568" y="398678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Maven Surefire generates XML in target/surefire-reports/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15568" y="437997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Gradle test reports in build/reports/tests/test/index.html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73168" y="398678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Add Allure to JUnit 5: allure generate / allure serve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73168" y="437997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▸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CI systems (Jenkins, GitHub Actions) publish JUnit XML natively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2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FRAMEWORK STRUCTURE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CI-Ready Framework — Project Skeleton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4937760" cy="3977640"/>
          </a:xfrm>
          <a:prstGeom prst="rect">
            <a:avLst/>
          </a:prstGeom>
          <a:solidFill>
            <a:srgbClr val="0A0F1A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868680"/>
            <a:ext cx="493776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88696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0A4AE"/>
                </a:solidFill>
              </a:rPr>
              <a:t>Maven project structure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488" y="1161288"/>
            <a:ext cx="4718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my-automation-framework/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1408176"/>
            <a:ext cx="4718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pom.xml                    # deps + Surefire/Failsafe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1655064"/>
            <a:ext cx="4718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1901952"/>
            <a:ext cx="4718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main/java/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148840"/>
            <a:ext cx="4718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pages/             # Page Object classes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395728"/>
            <a:ext cx="4718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test/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642616"/>
            <a:ext cx="4718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java/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2889504"/>
            <a:ext cx="4718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│   ├── tests/         # @Test classes (TestNG / JUnit5)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3136392"/>
            <a:ext cx="4718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│   ├── utils/         # Helpers, base classes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3383280"/>
            <a:ext cx="4718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│   └── data/          # Data providers / factories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630168"/>
            <a:ext cx="4718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resources/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877056"/>
            <a:ext cx="4718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├── testng.xml     # Suite config (TestNG)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4123944"/>
            <a:ext cx="4718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├── config.properties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4370832"/>
            <a:ext cx="4718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└── testdata/      # CSV / JSON data files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4617720"/>
            <a:ext cx="4718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.github/workflows/ci.yml  # GitHub Actions pipeline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532120" y="868680"/>
            <a:ext cx="324612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32120" y="8686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Design Notes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32120" y="1216152"/>
            <a:ext cx="3246120" cy="822960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32120" y="1216152"/>
            <a:ext cx="54864" cy="8229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50992" y="127101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CD4"/>
                </a:solidFill>
              </a:rPr>
              <a:t>Page Object Model (POM)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50992" y="152704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Each UI page = one class. Tests call page methods, never raw locators. Reduces duplication; locator changes in one place.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532120" y="2112264"/>
            <a:ext cx="3246120" cy="822960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32120" y="2112264"/>
            <a:ext cx="54864" cy="82296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50992" y="21671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853"/>
                </a:solidFill>
              </a:rPr>
              <a:t>Shared Setup via Lifecycle Hooks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50992" y="242316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Common in Java frameworks: shared driver init and config via base classes. In JUnit 5, use @BeforeEach/@BeforeAll; TestNG uses @BeforeSuite; PyTest uses session-scoped fixtures. Choose the mechanism that fits your framework.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32120" y="3008376"/>
            <a:ext cx="3246120" cy="822960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32120" y="3008376"/>
            <a:ext cx="54864" cy="82296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50992" y="30632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D600"/>
                </a:solidFill>
              </a:rPr>
              <a:t>Config properties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650992" y="331927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BASE_URL, BROWSER, TIMEOUT loaded from config.properties or env-vars. Never hardcode in test code.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532120" y="3904488"/>
            <a:ext cx="3246120" cy="822960"/>
          </a:xfrm>
          <a:prstGeom prst="rect">
            <a:avLst/>
          </a:prstGeom>
          <a:solidFill>
            <a:srgbClr val="112233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532120" y="3904488"/>
            <a:ext cx="54864" cy="82296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50992" y="39593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9B6F6"/>
                </a:solidFill>
              </a:rPr>
              <a:t>Test Data Layer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650992" y="421538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4FD"/>
                </a:solidFill>
              </a:rPr>
              <a:t>CSV/JSON data files or @DataProvider methods. Keep test data version-controlled alongside test code in the repo.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2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HANDS-ON LAB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Lab: Set Up, Configure &amp; Execute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92240" y="347472"/>
            <a:ext cx="2286000" cy="475488"/>
          </a:xfrm>
          <a:prstGeom prst="rect">
            <a:avLst/>
          </a:prstGeom>
          <a:solidFill>
            <a:srgbClr val="0E1F35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34747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CD4"/>
                </a:solidFill>
              </a:rPr>
              <a:t>45% Theory  |  55% Hands-on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914400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914400"/>
            <a:ext cx="1737360" cy="1261872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78992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65760" y="15819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</a:rPr>
              <a:t>Task 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65760" y="18653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Working framework imported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2194560" y="96926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Set Up a Basic Automation Framework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194560" y="12984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1.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Clone starter repo: git clone &lt;course-repo&gt;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194560" y="16916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2.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Import into IDE as Maven or Gradle project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440680" y="12984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3.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Verify dependencies resolve: mvn dependency:resolve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440680" y="16916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4.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Review project structure — identify each folder's role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65760" y="2258568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5760" y="2258568"/>
            <a:ext cx="1737360" cy="1261872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23160"/>
            <a:ext cx="457200" cy="4572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65760" y="29260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97B"/>
                </a:solidFill>
              </a:rPr>
              <a:t>Task 2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65760" y="32095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Configured pom.xml or build.gradle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2194560" y="231343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897B"/>
                </a:solidFill>
              </a:rPr>
              <a:t>Configure Build Tool Integration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2194560" y="26426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1.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Add Surefire (Maven) or useJUnitPlatform() (Gradle) config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2194560" y="30358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2.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Set parallel thread count to 2 in pom.xml / build.gradle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5440680" y="26426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3.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Add a test group/tag: @Tag("smoke") [JUnit 5] or groups="smoke" [TestNG]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5440680" y="30358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4.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Run subset: mvn test -Dgroups=smoke [TestNG]  or configure includeTags in pom.xml [JUnit 5]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365760" y="3602736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365760" y="3602736"/>
            <a:ext cx="1737360" cy="1261872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67328"/>
            <a:ext cx="457200" cy="4572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365760" y="42702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CD4"/>
                </a:solidFill>
              </a:rPr>
              <a:t>Task 3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365760" y="45537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Execution logs + report screenshot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2194560" y="36576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Execute Tests Locally via CLI &amp; View Report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2194560" y="398678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1.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Run full suite from terminal: mvn test / ./gradlew test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2194560" y="437997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2.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Run smoke subset: mvn test -Dgroups=smoke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5440680" y="398678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3.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Locate and open the HTML report in browser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5440680" y="437997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4.  </a:t>
            </a:r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Introduce a deliberate failure — observe exit code and log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2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DELIVERABLES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Day 2 Deliverables &amp; Key Takeaways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39319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68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📦  Deliverables You Take Away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280160"/>
            <a:ext cx="3931920" cy="566928"/>
          </a:xfrm>
          <a:prstGeom prst="rect">
            <a:avLst/>
          </a:prstGeom>
          <a:solidFill>
            <a:srgbClr val="112233"/>
          </a:solidFill>
          <a:ln w="12700">
            <a:solidFill>
              <a:srgbClr val="1976D2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44168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60120" y="1325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Automation Framework Skeleton (Maven/Gradle project)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5760" y="1901952"/>
            <a:ext cx="3931920" cy="566928"/>
          </a:xfrm>
          <a:prstGeom prst="rect">
            <a:avLst/>
          </a:prstGeom>
          <a:solidFill>
            <a:srgbClr val="112233"/>
          </a:solidFill>
          <a:ln w="12700">
            <a:solidFill>
              <a:srgbClr val="1976D2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6596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60120" y="19476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Build &amp; Execution Configuration Files (pom.xml / build.gradle)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65760" y="2523744"/>
            <a:ext cx="3931920" cy="566928"/>
          </a:xfrm>
          <a:prstGeom prst="rect">
            <a:avLst/>
          </a:prstGeom>
          <a:solidFill>
            <a:srgbClr val="112233"/>
          </a:solidFill>
          <a:ln w="12700">
            <a:solidFill>
              <a:srgbClr val="1976D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87752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0120" y="256946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Test Execution Report Screenshot + CLI log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663440" y="868680"/>
            <a:ext cx="411480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663440" y="868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💡  Key Takeaways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663440" y="1280160"/>
            <a:ext cx="4114800" cy="457200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754880" y="1289304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</a:rPr>
              <a:t>1.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Hybrid frameworks (modular + data-driven + POM) suit CI-first projects best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663440" y="1792224"/>
            <a:ext cx="4114800" cy="457200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754880" y="180136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</a:rPr>
              <a:t>2.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TestNG excels for Selenium suites; JUnit 5 dominates Java unit testing; PyTest is the dominant Python testing framework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663440" y="2304288"/>
            <a:ext cx="4114800" cy="457200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754880" y="231343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</a:rPr>
              <a:t>3.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Maven Surefire/Failsafe and Gradle test task are the standard CI integration points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4663440" y="2816352"/>
            <a:ext cx="4114800" cy="457200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754880" y="282549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</a:rPr>
              <a:t>4.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CI-friendly tests: independent, fast, no hardcoded config, tagged for selective runs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4663440" y="3328416"/>
            <a:ext cx="4114800" cy="457200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754880" y="333756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CD4"/>
                </a:solidFill>
              </a:rPr>
              <a:t>5.  </a:t>
            </a:r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</a:rPr>
              <a:t>Test reports (JUnit XML) are the contract between your framework and your CI system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365760" y="4206240"/>
            <a:ext cx="8412480" cy="566928"/>
          </a:xfrm>
          <a:prstGeom prst="rect">
            <a:avLst/>
          </a:prstGeom>
          <a:solidFill>
            <a:srgbClr val="0E1F35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548640" y="42336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D600"/>
                </a:solidFill>
              </a:rPr>
              <a:t>▶  Tomorrow — Day 3: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2148840" y="423367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Version Control &amp; Test Code Management  ·  Git workflows, branching strategies, PR best practices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548640" y="45079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Hands-on: Push automation code to repo · create feature branch · raise and merge a PR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2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0A4AE"/>
                </a:solidFill>
              </a:rPr>
              <a:t>Module 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RECAP QUIZ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Module 2 – Quick Knowledge Check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8412480" cy="969264"/>
          </a:xfrm>
          <a:prstGeom prst="rect">
            <a:avLst/>
          </a:prstGeom>
          <a:solidFill>
            <a:srgbClr val="112233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914400"/>
            <a:ext cx="73152" cy="9692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960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Q1.  Which Maven plugin runs unit tests, and which runs integration tests?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129844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▸  maven-surefire-plugin runs unit tests (mvn test). maven-failsafe-plugin runs integration tests — it does not fail the build during integration-test, allowing post-integration-test cleanup to run first; results are checked and the build fails (if needed) only during the verify phase.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947672"/>
            <a:ext cx="8412480" cy="969264"/>
          </a:xfrm>
          <a:prstGeom prst="rect">
            <a:avLst/>
          </a:prstGeom>
          <a:solidFill>
            <a:srgbClr val="112233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947672"/>
            <a:ext cx="73152" cy="9692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9933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897B"/>
                </a:solidFill>
              </a:rPr>
              <a:t>Q2.  Name two key differences between TestNG and JUnit 5.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33172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▸  Any two: TestNG uses testng.xml for suite config; JUnit 5 uses a modular Extension model. TestNG has built-in parallel execution; JUnit 5 needs config. TestNG has built-in HTML reports; JUnit 5 requires Allure or similar.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980944"/>
            <a:ext cx="8412480" cy="969264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980944"/>
            <a:ext cx="73152" cy="9692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26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CD4"/>
                </a:solidFill>
              </a:rPr>
              <a:t>Q3.  What is data-driven testing and why does it reduce code duplication?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364992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▸  DDT separates test logic from test data — the same test method runs repeatedly with different inputs (e.g., via @ParameterizedTest or @DataProvider). Adding new scenarios only requires a new data row, not new test code.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4014216"/>
            <a:ext cx="8412480" cy="969264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014216"/>
            <a:ext cx="73152" cy="96926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5993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600"/>
                </a:solidFill>
              </a:rPr>
              <a:t>Q4.  What exit code does a failed test suite return, and why does that matter in CI?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398264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▸  A non-zero exit code (typically 1). CI systems interpret a non-zero exit as build failure, automatically blocking the pipeline and notifying the team — the core quality gate mechanism.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Continuous Testing with CI/CD – Day 2</dc:title>
  <dc:subject>PptxGenJS Presentation</dc:subject>
  <dc:creator>Jai Singh</dc:creator>
  <cp:lastModifiedBy>Jai Singh</cp:lastModifiedBy>
  <cp:revision>1</cp:revision>
  <dcterms:created xsi:type="dcterms:W3CDTF">2026-04-10T23:22:23Z</dcterms:created>
  <dcterms:modified xsi:type="dcterms:W3CDTF">2026-04-10T23:22:23Z</dcterms:modified>
</cp:coreProperties>
</file>