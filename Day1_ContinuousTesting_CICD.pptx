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Continuous Testing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Fundamentals &amp;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Role of SDET/DevOps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74320" y="3493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Day 1  ·  Module 1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9319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9319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9319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16-Hour Programme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852928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3154680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0760" y="3456432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Jenkins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3758184"/>
            <a:ext cx="2834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758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Azure DevOps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972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9B6F6"/>
                </a:solidFill>
              </a:rPr>
              <a:t>Explain Continuous Testing in DevOps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Understand how CT fits across CI, CD &amp; production monitoring stages.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221992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221992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1176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591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9B6F6"/>
                </a:solidFill>
              </a:rPr>
              <a:t>SDET &amp; DevOps Collaboration Models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97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Map the shared responsibilities between SDETs and DevOps engineers.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83864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83864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1304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6210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9B6F6"/>
                </a:solidFill>
              </a:rPr>
              <a:t>Identify Benefits &amp; Challenges of CI Testing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59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Recognise what shifts when testing moves into the pipeline — and what breaks.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EVOLUTION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From Traditional to Continuous Testing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Traditional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98448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075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Testing happens at the END of development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Separate QA phase — often gated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58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Manual regression cycles dominate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340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Defects found late → expensive fixes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95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Weeks-long release cycles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850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Dev &amp; Test teams work in silos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151376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60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Feedback arrives after the fact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 Testing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298448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3075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Quality checks integrated across the delivery lifecycle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773936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830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Automated gates reduce manual checkpoints significantly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249424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258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Shift-left pulls quality conversations into dev sprints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724912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7340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Defects caught in minutes rather than weeks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00400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095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High-performing teams deploy frequently with safer recovery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675888"/>
            <a:ext cx="402336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6850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Dev × QA × Ops share quality ownership across stages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151376"/>
            <a:ext cx="4023360" cy="420624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160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853"/>
                </a:solidFill>
              </a:rPr>
              <a:t>✓  Fast feedback on commits; deeper signals on merges &amp; deploys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34840" y="868680"/>
            <a:ext cx="274320" cy="33649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25112" y="23774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Shift-Left &amp; Shift-Right: The Full Spectrum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1014984" cy="475488"/>
          </a:xfrm>
          <a:prstGeom prst="rect">
            <a:avLst/>
          </a:prstGeom>
          <a:solidFill>
            <a:srgbClr val="1565C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17320" y="960120"/>
            <a:ext cx="1014984" cy="475488"/>
          </a:xfrm>
          <a:prstGeom prst="rect">
            <a:avLst/>
          </a:prstGeom>
          <a:solidFill>
            <a:srgbClr val="1565C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960120"/>
            <a:ext cx="1014984" cy="475488"/>
          </a:xfrm>
          <a:prstGeom prst="rect">
            <a:avLst/>
          </a:prstGeom>
          <a:solidFill>
            <a:srgbClr val="1565C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960120"/>
            <a:ext cx="1014984" cy="475488"/>
          </a:xfrm>
          <a:prstGeom prst="rect">
            <a:avLst/>
          </a:prstGeom>
          <a:solidFill>
            <a:srgbClr val="00897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1014984" cy="475488"/>
          </a:xfrm>
          <a:prstGeom prst="rect">
            <a:avLst/>
          </a:prstGeom>
          <a:solidFill>
            <a:srgbClr val="00897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Release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960120"/>
            <a:ext cx="1014984" cy="475488"/>
          </a:xfrm>
          <a:prstGeom prst="rect">
            <a:avLst/>
          </a:prstGeom>
          <a:solidFill>
            <a:srgbClr val="00BCD4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960120"/>
            <a:ext cx="1014984" cy="475488"/>
          </a:xfrm>
          <a:prstGeom prst="rect">
            <a:avLst/>
          </a:prstGeom>
          <a:solidFill>
            <a:srgbClr val="00BCD4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26680" y="960120"/>
            <a:ext cx="1014984" cy="475488"/>
          </a:xfrm>
          <a:prstGeom prst="rect">
            <a:avLst/>
          </a:prstGeom>
          <a:solidFill>
            <a:srgbClr val="00BCD4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96012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1536192"/>
            <a:ext cx="3840480" cy="2560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◀  SHIFT-LEFT  (Prevent Defects Earlier)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536192"/>
            <a:ext cx="3840480" cy="25603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SHIFT-RIGHT  (Monitor &amp; Learn in Prod)  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1920240"/>
            <a:ext cx="4023360" cy="2926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1920240"/>
            <a:ext cx="4023360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47672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7724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Shift-Left Practices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23591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TDD/BDD — specify expected behaviour early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920" y="2825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Static analysis (SAST) integrated in IDE/PR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2920" y="3291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Unit tests on every commit; contracts on PR merge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02920" y="37581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Dev × QA pairing on acceptance criteria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" y="42245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Early environment provisioning &amp; test data prep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0" y="1920240"/>
            <a:ext cx="4023360" cy="2926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54880" y="1920240"/>
            <a:ext cx="4023360" cy="3474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47672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16636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B6F6"/>
                </a:solidFill>
              </a:rPr>
              <a:t>Shift-Right Practices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4892040" y="23591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Chaos engineering &amp; fault injection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4892040" y="2825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Canary / blue-green deployments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892040" y="3291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A/B testing with feature flags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4892040" y="37581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Observability, alerting &amp; distributed tracing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4892040" y="42245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▸  </a:t>
            </a:r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Synthetic monitoring (scripted user journeys)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CI/CD INTEGRATION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Where Testing Lives in the CI/CD Pipeline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1572768" cy="2560320"/>
          </a:xfrm>
          <a:prstGeom prst="rect">
            <a:avLst/>
          </a:prstGeom>
          <a:solidFill>
            <a:srgbClr val="112233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914400"/>
            <a:ext cx="157276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144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01752" y="19202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Pre-commit hooks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01752" y="23317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Linting / SAST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01752" y="2743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PR checks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801368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11680" y="914400"/>
            <a:ext cx="1572768" cy="2560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914400"/>
            <a:ext cx="1572768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1168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 Test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084832" y="19202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mvn test / pytest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084832" y="23317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Code coverage gates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084832" y="2743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Fast feedback &lt;5 min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584448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794760" y="914400"/>
            <a:ext cx="1572768" cy="2560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794760" y="914400"/>
            <a:ext cx="157276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91440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9476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867912" y="19202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API contract tests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3867912" y="23317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Service-level checks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3867912" y="2743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Parallel execution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367528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577840" y="914400"/>
            <a:ext cx="1572768" cy="2560320"/>
          </a:xfrm>
          <a:prstGeom prst="rect">
            <a:avLst/>
          </a:prstGeom>
          <a:solidFill>
            <a:srgbClr val="112233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577840" y="914400"/>
            <a:ext cx="157276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1440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7784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Regression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650992" y="19202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UI smoke suites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5650992" y="23317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Perf baselines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5650992" y="2743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Quality gates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7150608" y="19659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7360920" y="914400"/>
            <a:ext cx="1572768" cy="2560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360920" y="914400"/>
            <a:ext cx="1572768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914400"/>
            <a:ext cx="502920" cy="5029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36092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7434072" y="19202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Synthetic tests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7434072" y="23317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Alerting / Tracing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7434072" y="2743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• Chaos probes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57200" y="36301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600"/>
                </a:solidFill>
              </a:rPr>
              <a:t>📊  Industry benchmarks (DORA research): elite teams deploy frequently, with low change failure rates and fast recovery times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365760" y="4160520"/>
            <a:ext cx="841248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65760" y="41605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B6F6"/>
                </a:solidFill>
              </a:rPr>
              <a:t>◀──────────  Continuous Feedback Loop  ──────────▶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TEST STRATEGY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Test Pyramid &amp; Strategy Alignment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200400" cy="1005840"/>
          </a:xfrm>
          <a:prstGeom prst="rect">
            <a:avLst/>
          </a:prstGeom>
          <a:solidFill>
            <a:srgbClr val="F44336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7840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E2E / UI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31673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~10% (example) of suite  ·  Slowest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59105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Count: Few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914400"/>
            <a:ext cx="530352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1005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4336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Critical user journeys 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3048" y="1289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4336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Browser-level regression suite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3048" y="1572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4336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Run nightly or pre-release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3200400" cy="1005840"/>
          </a:xfrm>
          <a:prstGeom prst="rect">
            <a:avLst/>
          </a:prstGeom>
          <a:solidFill>
            <a:srgbClr val="FFD60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07568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Integration Tests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41401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~30% (example) of suite  ·  Medium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268833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Count: Some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75888" y="2011680"/>
            <a:ext cx="530352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2103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API contract &amp; schema tests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3048" y="23865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Cross-service interactions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13048" y="2670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Triggered on every PR merge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3200400" cy="1005840"/>
          </a:xfrm>
          <a:prstGeom prst="rect">
            <a:avLst/>
          </a:prstGeom>
          <a:solidFill>
            <a:srgbClr val="00C853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17296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Unit Tests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351129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~60% (example) of suite  ·  Fastest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378561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Count: Many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5888" y="3108960"/>
            <a:ext cx="530352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3048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Business logic &amp; edge cases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13048" y="3483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Fully isolated components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13048" y="3767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Runs on every git commit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315968"/>
            <a:ext cx="8412480" cy="411480"/>
          </a:xfrm>
          <a:prstGeom prst="rect">
            <a:avLst/>
          </a:prstGeom>
          <a:solidFill>
            <a:srgbClr val="0E1F35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</a:rPr>
              <a:t>⚠  Anti-pattern: Ice Cream Cone — too many E2E, too few unit tests → slow pipelines.  Percentages above are illustrative heuristics, not fixed rules.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TEAM ROLES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SDET × DevOps: Collaboration Model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SDET  (Software Dev Engineer in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Design &amp; author automated test suites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Define test strategy &amp; coverage goals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Code-review test code alongside developers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97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Analyse test results → quality signal reporting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Champion BDD / TDD adoption in sprint planning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Raise defects with reproduction steps &amp; severity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Engineer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167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Design &amp; maintain CI/CD pipeline stages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7739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783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Configure and provision test execution environments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2311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Integrate automated test jobs into pipeline workflows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6883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697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Enforce quality gates &amp; pipeline policy controls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145536"/>
            <a:ext cx="393192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Monitor pipeline health &amp; delivery performance metrics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602736"/>
            <a:ext cx="393192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◈  Coordinate release readiness &amp; deployment approvals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Shared Ownership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Pipeline failures  ·  Flaky test triage  ·  Quality gate thresholds  ·  Release readiness sign-off  ·  Retrospectives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868680"/>
            <a:ext cx="3657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600"/>
                </a:solidFill>
              </a:rPr>
              <a:t>⟷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Metrics for Continuous Testing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778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DORA-aligned Delivery Metrics used in this course  (dora.dev — historical benchmark bands, not fixed 2026 thresholds)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170432"/>
            <a:ext cx="1591056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70432"/>
            <a:ext cx="1591056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887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1197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 Frequency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11480" y="157276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Elite: Multiple/day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195681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How often code ships to prod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11480" y="2286000"/>
            <a:ext cx="149961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286000"/>
            <a:ext cx="1225296" cy="91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4140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A4AE"/>
                </a:solidFill>
              </a:rPr>
              <a:t>DORA benchmark band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2066544" y="1170432"/>
            <a:ext cx="1591056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66544" y="1170432"/>
            <a:ext cx="1591056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118872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32304" y="1197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Lead Time for Changes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112264" y="157276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Elite: &lt; 1 hour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112264" y="195681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Last commit → running in prod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2112264" y="2286000"/>
            <a:ext cx="149961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112264" y="2286000"/>
            <a:ext cx="1225296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12264" y="24140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A4AE"/>
                </a:solidFill>
              </a:rPr>
              <a:t>DORA benchmark band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3767328" y="1170432"/>
            <a:ext cx="1591056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FFD60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767328" y="1170432"/>
            <a:ext cx="1591056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18872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133088" y="1197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Change Failure Rate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813048" y="157276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Elite: 0–15%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813048" y="195681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Deployments needing remediation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813048" y="2286000"/>
            <a:ext cx="149961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813048" y="2286000"/>
            <a:ext cx="122529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813048" y="24140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A4AE"/>
                </a:solidFill>
              </a:rPr>
              <a:t>DORA benchmark band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5468112" y="1170432"/>
            <a:ext cx="1591056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468112" y="1170432"/>
            <a:ext cx="1591056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1188720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833872" y="1197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Failed Deploy Recovery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5513832" y="157276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4336"/>
                </a:solidFill>
              </a:rPr>
              <a:t>Elite: &lt; 1 hour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513832" y="195681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Time to restore service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5513832" y="2286000"/>
            <a:ext cx="149961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513832" y="2286000"/>
            <a:ext cx="1225296" cy="914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513832" y="24140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A4AE"/>
                </a:solidFill>
              </a:rPr>
              <a:t>DORA benchmark band</a:t>
            </a:r>
            <a:endParaRPr lang="en-US" sz="650" dirty="0"/>
          </a:p>
        </p:txBody>
      </p:sp>
      <p:sp>
        <p:nvSpPr>
          <p:cNvPr id="47" name="Shape 41"/>
          <p:cNvSpPr/>
          <p:nvPr/>
        </p:nvSpPr>
        <p:spPr>
          <a:xfrm>
            <a:off x="7168896" y="1170432"/>
            <a:ext cx="1591056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29B6F6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168896" y="1170432"/>
            <a:ext cx="1591056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534656" y="1197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 Rework Rate</a:t>
            </a:r>
            <a:endParaRPr lang="en-US" sz="750" dirty="0"/>
          </a:p>
        </p:txBody>
      </p:sp>
      <p:sp>
        <p:nvSpPr>
          <p:cNvPr id="51" name="Text 44"/>
          <p:cNvSpPr/>
          <p:nvPr/>
        </p:nvSpPr>
        <p:spPr>
          <a:xfrm>
            <a:off x="7214616" y="157276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6F6"/>
                </a:solidFill>
              </a:rPr>
              <a:t>Added: 2024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7214616" y="195681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Unplanned re-deploys post-incident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7214616" y="2286000"/>
            <a:ext cx="149961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7214616" y="2286000"/>
            <a:ext cx="1225296" cy="9144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7214616" y="24140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A4AE"/>
                </a:solidFill>
              </a:rPr>
              <a:t>DORA benchmark band</a:t>
            </a:r>
            <a:endParaRPr lang="en-US" sz="650" dirty="0"/>
          </a:p>
        </p:txBody>
      </p:sp>
      <p:sp>
        <p:nvSpPr>
          <p:cNvPr id="56" name="Shape 49"/>
          <p:cNvSpPr/>
          <p:nvPr/>
        </p:nvSpPr>
        <p:spPr>
          <a:xfrm>
            <a:off x="365760" y="2743200"/>
            <a:ext cx="841248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457200" y="27523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Quality &amp; Health Metrics  (team / tool-reported — not DORA)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365760" y="3044952"/>
            <a:ext cx="2011680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29B6F6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365760" y="3044952"/>
            <a:ext cx="2011680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63240"/>
            <a:ext cx="292608" cy="29260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768096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 Pass Rate</a:t>
            </a:r>
            <a:endParaRPr lang="en-US" sz="850" dirty="0"/>
          </a:p>
        </p:txBody>
      </p:sp>
      <p:sp>
        <p:nvSpPr>
          <p:cNvPr id="62" name="Text 54"/>
          <p:cNvSpPr/>
          <p:nvPr/>
        </p:nvSpPr>
        <p:spPr>
          <a:xfrm>
            <a:off x="438912" y="34472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</a:rPr>
              <a:t>Target: ≥ 95%</a:t>
            </a:r>
            <a:endParaRPr lang="en-US" sz="1250" dirty="0"/>
          </a:p>
        </p:txBody>
      </p:sp>
      <p:sp>
        <p:nvSpPr>
          <p:cNvPr id="63" name="Text 55"/>
          <p:cNvSpPr/>
          <p:nvPr/>
        </p:nvSpPr>
        <p:spPr>
          <a:xfrm>
            <a:off x="438912" y="383133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Suite health &amp; build confidence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438912" y="4160520"/>
            <a:ext cx="186537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438912" y="4160520"/>
            <a:ext cx="1554480" cy="9144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438912" y="4288536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</a:rPr>
              <a:t>team / tooling metric</a:t>
            </a:r>
            <a:endParaRPr lang="en-US" sz="700" dirty="0"/>
          </a:p>
        </p:txBody>
      </p:sp>
      <p:sp>
        <p:nvSpPr>
          <p:cNvPr id="67" name="Shape 59"/>
          <p:cNvSpPr/>
          <p:nvPr/>
        </p:nvSpPr>
        <p:spPr>
          <a:xfrm>
            <a:off x="2487168" y="3044952"/>
            <a:ext cx="2011680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2487168" y="3044952"/>
            <a:ext cx="2011680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6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063240"/>
            <a:ext cx="292608" cy="292608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2889504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Code Coverage</a:t>
            </a:r>
            <a:endParaRPr lang="en-US" sz="850" dirty="0"/>
          </a:p>
        </p:txBody>
      </p:sp>
      <p:sp>
        <p:nvSpPr>
          <p:cNvPr id="71" name="Text 62"/>
          <p:cNvSpPr/>
          <p:nvPr/>
        </p:nvSpPr>
        <p:spPr>
          <a:xfrm>
            <a:off x="2560320" y="34472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897B"/>
                </a:solidFill>
              </a:rPr>
              <a:t>Guideline: ≥ 80%</a:t>
            </a:r>
            <a:endParaRPr lang="en-US" sz="1250" dirty="0"/>
          </a:p>
        </p:txBody>
      </p:sp>
      <p:sp>
        <p:nvSpPr>
          <p:cNvPr id="72" name="Text 63"/>
          <p:cNvSpPr/>
          <p:nvPr/>
        </p:nvSpPr>
        <p:spPr>
          <a:xfrm>
            <a:off x="2560320" y="383133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Lines/branches exercised by tests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2560320" y="4160520"/>
            <a:ext cx="186537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2560320" y="4160520"/>
            <a:ext cx="15544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2560320" y="4288536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</a:rPr>
              <a:t>team / tooling metric</a:t>
            </a:r>
            <a:endParaRPr lang="en-US" sz="700" dirty="0"/>
          </a:p>
        </p:txBody>
      </p:sp>
      <p:sp>
        <p:nvSpPr>
          <p:cNvPr id="76" name="Shape 67"/>
          <p:cNvSpPr/>
          <p:nvPr/>
        </p:nvSpPr>
        <p:spPr>
          <a:xfrm>
            <a:off x="4608576" y="3044952"/>
            <a:ext cx="2011680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FFD600"/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4608576" y="3044952"/>
            <a:ext cx="2011680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7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3063240"/>
            <a:ext cx="292608" cy="292608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5010912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Flaky Test Rate</a:t>
            </a:r>
            <a:endParaRPr lang="en-US" sz="850" dirty="0"/>
          </a:p>
        </p:txBody>
      </p:sp>
      <p:sp>
        <p:nvSpPr>
          <p:cNvPr id="80" name="Text 70"/>
          <p:cNvSpPr/>
          <p:nvPr/>
        </p:nvSpPr>
        <p:spPr>
          <a:xfrm>
            <a:off x="4681728" y="34472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600"/>
                </a:solidFill>
              </a:rPr>
              <a:t>Target: &lt; 2%</a:t>
            </a:r>
            <a:endParaRPr lang="en-US" sz="1250" dirty="0"/>
          </a:p>
        </p:txBody>
      </p:sp>
      <p:sp>
        <p:nvSpPr>
          <p:cNvPr id="81" name="Text 71"/>
          <p:cNvSpPr/>
          <p:nvPr/>
        </p:nvSpPr>
        <p:spPr>
          <a:xfrm>
            <a:off x="4681728" y="383133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Intermittent failures eroding trust</a:t>
            </a:r>
            <a:endParaRPr lang="en-US" sz="800" dirty="0"/>
          </a:p>
        </p:txBody>
      </p:sp>
      <p:sp>
        <p:nvSpPr>
          <p:cNvPr id="82" name="Shape 72"/>
          <p:cNvSpPr/>
          <p:nvPr/>
        </p:nvSpPr>
        <p:spPr>
          <a:xfrm>
            <a:off x="4681728" y="4160520"/>
            <a:ext cx="186537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681728" y="4160520"/>
            <a:ext cx="1554480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4681728" y="4288536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</a:rPr>
              <a:t>team / tooling metric</a:t>
            </a:r>
            <a:endParaRPr lang="en-US" sz="700" dirty="0"/>
          </a:p>
        </p:txBody>
      </p:sp>
      <p:sp>
        <p:nvSpPr>
          <p:cNvPr id="85" name="Shape 75"/>
          <p:cNvSpPr/>
          <p:nvPr/>
        </p:nvSpPr>
        <p:spPr>
          <a:xfrm>
            <a:off x="6729984" y="3044952"/>
            <a:ext cx="2011680" cy="1417320"/>
          </a:xfrm>
          <a:prstGeom prst="rect">
            <a:avLst/>
          </a:prstGeom>
          <a:solidFill>
            <a:srgbClr val="112233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6729984" y="3044952"/>
            <a:ext cx="2011680" cy="32918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36" y="3063240"/>
            <a:ext cx="292608" cy="292608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7132320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Defect Escape Rate</a:t>
            </a:r>
            <a:endParaRPr lang="en-US" sz="850" dirty="0"/>
          </a:p>
        </p:txBody>
      </p:sp>
      <p:sp>
        <p:nvSpPr>
          <p:cNvPr id="89" name="Text 78"/>
          <p:cNvSpPr/>
          <p:nvPr/>
        </p:nvSpPr>
        <p:spPr>
          <a:xfrm>
            <a:off x="6803136" y="34472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4336"/>
                </a:solidFill>
              </a:rPr>
              <a:t>Target: ↓ trend</a:t>
            </a:r>
            <a:endParaRPr lang="en-US" sz="1250" dirty="0"/>
          </a:p>
        </p:txBody>
      </p:sp>
      <p:sp>
        <p:nvSpPr>
          <p:cNvPr id="90" name="Text 79"/>
          <p:cNvSpPr/>
          <p:nvPr/>
        </p:nvSpPr>
        <p:spPr>
          <a:xfrm>
            <a:off x="6803136" y="383133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Defects reaching production</a:t>
            </a:r>
            <a:endParaRPr lang="en-US" sz="800" dirty="0"/>
          </a:p>
        </p:txBody>
      </p:sp>
      <p:sp>
        <p:nvSpPr>
          <p:cNvPr id="91" name="Shape 80"/>
          <p:cNvSpPr/>
          <p:nvPr/>
        </p:nvSpPr>
        <p:spPr>
          <a:xfrm>
            <a:off x="6803136" y="4160520"/>
            <a:ext cx="1865376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6803136" y="4160520"/>
            <a:ext cx="1554480" cy="914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93" name="Text 82"/>
          <p:cNvSpPr/>
          <p:nvPr/>
        </p:nvSpPr>
        <p:spPr>
          <a:xfrm>
            <a:off x="6803136" y="4288536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</a:rPr>
              <a:t>team / tooling metric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CI/CD Pipeline with Testing Stages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Pipeline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GitHub Actions / Jenkins / Azure DevOps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1682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Walk through a multi-stage YAML pipeline file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Identify: trigger, jobs, stages, steps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1682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Highlight: where tests are triggered (push / PR / schedule)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Review an Automated Test Execution in CI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View a completed pipeline run in the 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30266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Inspect the test job logs — pytest / TestNG output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Understand pass/fail summary &amp; exit codes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0266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Trace a test failure back to the failing commit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Identify Testing Gaps in a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Analyse a sample pipeline missing integration tests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" y="4370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Locate the gap between unit test and deploy stage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Discuss risk: what issues could reach production?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4370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Propose improvements — map to test pyramid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Analyse, Map &amp; Identify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50% Theory  |  50%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Annotated YAML with comments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Analyse a Sample CI Pipeline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Fork the provided sample repository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the .github/workflows/ci.yml file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Identify all testing-related steps and triggers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Note: which test types are present and which are missing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Completed mapping matrix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Map Test Types to Pipeline Stages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Create a mapping table (Stage → Test Type → Tool)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Use the CI stages from Task 1 as rows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Classify: Unit / Integration / Contract / E2E / Perf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Align with the test pyramid ratios discussed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Automation opportunity checklist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Identify Automation Opportunities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Review the mapping gaps from Task 2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Prioritise: what should be automated first?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Estimate effort level: Low / Medium / High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Document findings in the strategy worksheet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Continuous Testing Strategy Worksheet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01952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19476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CI Test Coverage Mapping Document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523744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877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5694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Annotated Pipeline YAML with test gaps noted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1280160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12893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Continuous testing means quality signals at every stage — not just a final gate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663440" y="1792224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1801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Shift-left catches defects early; shift-right observes and validates production behaviour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63440" y="2304288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0" y="23134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The test pyramid guides investment: maximise unit tests, minimise E2E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663440" y="2816352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54880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SDET and DevOps engineers co-own pipeline quality and release readiness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63440" y="3328416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54880" y="3337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5.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DORA metrics help measure software delivery throughput and stability across the pipeline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864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2: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148840" y="42336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Test Automation Frameworks for CI/CD  ·  Framework design, TestNG/JUnit/PyTest, Maven/Gradle integration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48640" y="4507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Hands-on: Set up automation framework + CLI execution + report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1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371600" cy="201168"/>
          </a:xfrm>
          <a:prstGeom prst="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1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What is the primary goal of shift-left testing?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Detect and fix defects earlier in the SDLC to reduce rework cost and speed up delivery.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Name two shift-right testing techniques.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Any two: chaos engineering, canary releases, A/B testing with feature flags, synthetic monitoring, production observability.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In the test pyramid, which layer should have the highest count?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Unit tests — fast, isolated, cheapest to run; ~60% of the overall test suite.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What does DORA's Change Failure Rate measure?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The share of deployments that cause a production failure and require remediation. Lower is better; DORA tracks it as a stability indicator across performance bands.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5074920"/>
            <a:ext cx="8412480" cy="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1</dc:title>
  <dc:subject>PptxGenJS Presentation</dc:subject>
  <dc:creator>Jai Singh</dc:creator>
  <cp:lastModifiedBy>Jai Singh</cp:lastModifiedBy>
  <cp:revision>1</cp:revision>
  <dcterms:created xsi:type="dcterms:W3CDTF">2026-04-10T21:34:35Z</dcterms:created>
  <dcterms:modified xsi:type="dcterms:W3CDTF">2026-04-10T21:34:35Z</dcterms:modified>
</cp:coreProperties>
</file>