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8" r:id="rId5"/>
    <p:sldId id="269" r:id="rId6"/>
    <p:sldId id="270" r:id="rId7"/>
    <p:sldId id="271" r:id="rId8"/>
    <p:sldId id="272"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32" d="100"/>
          <a:sy n="132" d="100"/>
        </p:scale>
        <p:origin x="176" y="8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94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421"/>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1565C0"/>
          </a:solidFill>
          <a:ln w="12700">
            <a:solidFill>
              <a:srgbClr val="1565C0"/>
            </a:solidFill>
            <a:prstDash val="solid"/>
          </a:ln>
        </p:spPr>
      </p:sp>
      <p:sp>
        <p:nvSpPr>
          <p:cNvPr id="3" name="Shape 1"/>
          <p:cNvSpPr/>
          <p:nvPr/>
        </p:nvSpPr>
        <p:spPr>
          <a:xfrm>
            <a:off x="0" y="0"/>
            <a:ext cx="109728" cy="5143500"/>
          </a:xfrm>
          <a:prstGeom prst="rect">
            <a:avLst/>
          </a:prstGeom>
          <a:solidFill>
            <a:srgbClr val="00BCD4"/>
          </a:solidFill>
          <a:ln w="12700">
            <a:solidFill>
              <a:srgbClr val="00BCD4"/>
            </a:solidFill>
            <a:prstDash val="solid"/>
          </a:ln>
        </p:spPr>
      </p:sp>
      <p:sp>
        <p:nvSpPr>
          <p:cNvPr id="4" name="Shape 2"/>
          <p:cNvSpPr/>
          <p:nvPr/>
        </p:nvSpPr>
        <p:spPr>
          <a:xfrm>
            <a:off x="5943600" y="0"/>
            <a:ext cx="3200400" cy="5143500"/>
          </a:xfrm>
          <a:prstGeom prst="rect">
            <a:avLst/>
          </a:prstGeom>
          <a:solidFill>
            <a:srgbClr val="112233"/>
          </a:solidFill>
          <a:ln w="12700">
            <a:solidFill>
              <a:srgbClr val="112233"/>
            </a:solidFill>
            <a:prstDash val="solid"/>
          </a:ln>
        </p:spPr>
      </p:sp>
      <p:pic>
        <p:nvPicPr>
          <p:cNvPr id="5" name="Image 0" descr="preencoded.png"/>
          <p:cNvPicPr>
            <a:picLocks noChangeAspect="1"/>
          </p:cNvPicPr>
          <p:nvPr/>
        </p:nvPicPr>
        <p:blipFill>
          <a:blip r:embed="rId3"/>
          <a:stretch>
            <a:fillRect/>
          </a:stretch>
        </p:blipFill>
        <p:spPr>
          <a:xfrm>
            <a:off x="6675120" y="1005840"/>
            <a:ext cx="1463040" cy="1463040"/>
          </a:xfrm>
          <a:prstGeom prst="rect">
            <a:avLst/>
          </a:prstGeom>
        </p:spPr>
      </p:pic>
      <p:sp>
        <p:nvSpPr>
          <p:cNvPr id="6" name="Shape 3"/>
          <p:cNvSpPr/>
          <p:nvPr/>
        </p:nvSpPr>
        <p:spPr>
          <a:xfrm>
            <a:off x="274320" y="73152"/>
            <a:ext cx="3474720" cy="256032"/>
          </a:xfrm>
          <a:prstGeom prst="rect">
            <a:avLst/>
          </a:prstGeom>
          <a:solidFill>
            <a:srgbClr val="00BCD4"/>
          </a:solidFill>
          <a:ln w="12700">
            <a:solidFill>
              <a:srgbClr val="00BCD4"/>
            </a:solidFill>
            <a:prstDash val="solid"/>
          </a:ln>
        </p:spPr>
      </p:sp>
      <p:sp>
        <p:nvSpPr>
          <p:cNvPr id="7" name="Text 4"/>
          <p:cNvSpPr/>
          <p:nvPr/>
        </p:nvSpPr>
        <p:spPr>
          <a:xfrm>
            <a:off x="274320" y="73152"/>
            <a:ext cx="3474720" cy="256032"/>
          </a:xfrm>
          <a:prstGeom prst="rect">
            <a:avLst/>
          </a:prstGeom>
          <a:noFill/>
          <a:ln/>
        </p:spPr>
        <p:txBody>
          <a:bodyPr wrap="square" lIns="0" tIns="0" rIns="0" bIns="0" rtlCol="0" anchor="ctr"/>
          <a:lstStyle/>
          <a:p>
            <a:pPr marL="0" indent="0" algn="ctr">
              <a:buNone/>
            </a:pPr>
            <a:r>
              <a:rPr lang="en-US" sz="800" b="1" dirty="0">
                <a:solidFill>
                  <a:srgbClr val="0D1B2A"/>
                </a:solidFill>
              </a:rPr>
              <a:t>CONTINUOUS TESTING WITH CI/CD</a:t>
            </a:r>
            <a:endParaRPr lang="en-US" sz="800" dirty="0"/>
          </a:p>
        </p:txBody>
      </p:sp>
      <p:sp>
        <p:nvSpPr>
          <p:cNvPr id="8" name="Text 5"/>
          <p:cNvSpPr/>
          <p:nvPr/>
        </p:nvSpPr>
        <p:spPr>
          <a:xfrm>
            <a:off x="274320" y="1508760"/>
            <a:ext cx="5394960" cy="1554480"/>
          </a:xfrm>
          <a:prstGeom prst="rect">
            <a:avLst/>
          </a:prstGeom>
          <a:noFill/>
          <a:ln/>
        </p:spPr>
        <p:txBody>
          <a:bodyPr wrap="square" lIns="0" tIns="0" rIns="0" bIns="0" rtlCol="0" anchor="ctr"/>
          <a:lstStyle/>
          <a:p>
            <a:pPr marL="0" indent="0" algn="l">
              <a:buNone/>
            </a:pPr>
            <a:r>
              <a:rPr lang="en-US" sz="3200" b="1" dirty="0">
                <a:solidFill>
                  <a:srgbClr val="FFFFFF"/>
                </a:solidFill>
              </a:rPr>
              <a:t>API &amp; Service-Level</a:t>
            </a:r>
            <a:endParaRPr lang="en-US" sz="3200" dirty="0"/>
          </a:p>
          <a:p>
            <a:pPr marL="0" indent="0" algn="l">
              <a:buNone/>
            </a:pPr>
            <a:r>
              <a:rPr lang="en-US" sz="3200" b="1" dirty="0">
                <a:solidFill>
                  <a:srgbClr val="FFFFFF"/>
                </a:solidFill>
              </a:rPr>
              <a:t>Continuous Testing</a:t>
            </a:r>
            <a:endParaRPr lang="en-US" sz="3200" dirty="0"/>
          </a:p>
        </p:txBody>
      </p:sp>
      <p:sp>
        <p:nvSpPr>
          <p:cNvPr id="9" name="Text 6"/>
          <p:cNvSpPr/>
          <p:nvPr/>
        </p:nvSpPr>
        <p:spPr>
          <a:xfrm>
            <a:off x="274320" y="3218688"/>
            <a:ext cx="5303520" cy="320040"/>
          </a:xfrm>
          <a:prstGeom prst="rect">
            <a:avLst/>
          </a:prstGeom>
          <a:noFill/>
          <a:ln/>
        </p:spPr>
        <p:txBody>
          <a:bodyPr wrap="square" lIns="0" tIns="0" rIns="0" bIns="0" rtlCol="0" anchor="ctr"/>
          <a:lstStyle/>
          <a:p>
            <a:pPr marL="0" indent="0" algn="l">
              <a:buNone/>
            </a:pPr>
            <a:r>
              <a:rPr lang="en-US" sz="1300" dirty="0">
                <a:solidFill>
                  <a:srgbClr val="00BCD4"/>
                </a:solidFill>
              </a:rPr>
              <a:t>Day 5  ·  Module 5  ·  2 Hours</a:t>
            </a:r>
            <a:endParaRPr lang="en-US" sz="1300" dirty="0"/>
          </a:p>
        </p:txBody>
      </p:sp>
      <p:sp>
        <p:nvSpPr>
          <p:cNvPr id="10" name="Shape 7"/>
          <p:cNvSpPr/>
          <p:nvPr/>
        </p:nvSpPr>
        <p:spPr>
          <a:xfrm>
            <a:off x="274320" y="3703320"/>
            <a:ext cx="1828800" cy="237744"/>
          </a:xfrm>
          <a:prstGeom prst="rect">
            <a:avLst/>
          </a:prstGeom>
          <a:solidFill>
            <a:srgbClr val="0E1F35"/>
          </a:solidFill>
          <a:ln w="12700">
            <a:solidFill>
              <a:srgbClr val="29B6F6"/>
            </a:solidFill>
            <a:prstDash val="solid"/>
          </a:ln>
        </p:spPr>
      </p:sp>
      <p:sp>
        <p:nvSpPr>
          <p:cNvPr id="11" name="Text 8"/>
          <p:cNvSpPr/>
          <p:nvPr/>
        </p:nvSpPr>
        <p:spPr>
          <a:xfrm>
            <a:off x="274320" y="3703320"/>
            <a:ext cx="1828800" cy="237744"/>
          </a:xfrm>
          <a:prstGeom prst="rect">
            <a:avLst/>
          </a:prstGeom>
          <a:noFill/>
          <a:ln/>
        </p:spPr>
        <p:txBody>
          <a:bodyPr wrap="square" lIns="0" tIns="0" rIns="0" bIns="0" rtlCol="0" anchor="ctr"/>
          <a:lstStyle/>
          <a:p>
            <a:pPr marL="0" indent="0" algn="ctr">
              <a:buNone/>
            </a:pPr>
            <a:r>
              <a:rPr lang="en-US" sz="800" dirty="0">
                <a:solidFill>
                  <a:srgbClr val="29B6F6"/>
                </a:solidFill>
              </a:rPr>
              <a:t>SDET / DevOps Engineer</a:t>
            </a:r>
            <a:endParaRPr lang="en-US" sz="800" dirty="0"/>
          </a:p>
        </p:txBody>
      </p:sp>
      <p:sp>
        <p:nvSpPr>
          <p:cNvPr id="12" name="Shape 9"/>
          <p:cNvSpPr/>
          <p:nvPr/>
        </p:nvSpPr>
        <p:spPr>
          <a:xfrm>
            <a:off x="2194560" y="3703320"/>
            <a:ext cx="1828800" cy="237744"/>
          </a:xfrm>
          <a:prstGeom prst="rect">
            <a:avLst/>
          </a:prstGeom>
          <a:solidFill>
            <a:srgbClr val="0E1F35"/>
          </a:solidFill>
          <a:ln w="12700">
            <a:solidFill>
              <a:srgbClr val="29B6F6"/>
            </a:solidFill>
            <a:prstDash val="solid"/>
          </a:ln>
        </p:spPr>
      </p:sp>
      <p:sp>
        <p:nvSpPr>
          <p:cNvPr id="13" name="Text 10"/>
          <p:cNvSpPr/>
          <p:nvPr/>
        </p:nvSpPr>
        <p:spPr>
          <a:xfrm>
            <a:off x="2194560" y="3703320"/>
            <a:ext cx="1828800" cy="237744"/>
          </a:xfrm>
          <a:prstGeom prst="rect">
            <a:avLst/>
          </a:prstGeom>
          <a:noFill/>
          <a:ln/>
        </p:spPr>
        <p:txBody>
          <a:bodyPr wrap="square" lIns="0" tIns="0" rIns="0" bIns="0" rtlCol="0" anchor="ctr"/>
          <a:lstStyle/>
          <a:p>
            <a:pPr marL="0" indent="0" algn="ctr">
              <a:buNone/>
            </a:pPr>
            <a:r>
              <a:rPr lang="en-US" sz="800" dirty="0">
                <a:solidFill>
                  <a:srgbClr val="29B6F6"/>
                </a:solidFill>
              </a:rPr>
              <a:t>Intermediate</a:t>
            </a:r>
            <a:endParaRPr lang="en-US" sz="800" dirty="0"/>
          </a:p>
        </p:txBody>
      </p:sp>
      <p:sp>
        <p:nvSpPr>
          <p:cNvPr id="14" name="Shape 11"/>
          <p:cNvSpPr/>
          <p:nvPr/>
        </p:nvSpPr>
        <p:spPr>
          <a:xfrm>
            <a:off x="4114800" y="3703320"/>
            <a:ext cx="1828800" cy="237744"/>
          </a:xfrm>
          <a:prstGeom prst="rect">
            <a:avLst/>
          </a:prstGeom>
          <a:solidFill>
            <a:srgbClr val="0E1F35"/>
          </a:solidFill>
          <a:ln w="12700">
            <a:solidFill>
              <a:srgbClr val="29B6F6"/>
            </a:solidFill>
            <a:prstDash val="solid"/>
          </a:ln>
        </p:spPr>
      </p:sp>
      <p:sp>
        <p:nvSpPr>
          <p:cNvPr id="15" name="Text 12"/>
          <p:cNvSpPr/>
          <p:nvPr/>
        </p:nvSpPr>
        <p:spPr>
          <a:xfrm>
            <a:off x="4114800" y="3703320"/>
            <a:ext cx="1828800" cy="237744"/>
          </a:xfrm>
          <a:prstGeom prst="rect">
            <a:avLst/>
          </a:prstGeom>
          <a:noFill/>
          <a:ln/>
        </p:spPr>
        <p:txBody>
          <a:bodyPr wrap="square" lIns="0" tIns="0" rIns="0" bIns="0" rtlCol="0" anchor="ctr"/>
          <a:lstStyle/>
          <a:p>
            <a:pPr marL="0" indent="0" algn="ctr">
              <a:buNone/>
            </a:pPr>
            <a:r>
              <a:rPr lang="en-US" sz="800" dirty="0">
                <a:solidFill>
                  <a:srgbClr val="29B6F6"/>
                </a:solidFill>
              </a:rPr>
              <a:t>35% Theory / 65% Hands-on</a:t>
            </a:r>
            <a:endParaRPr lang="en-US" sz="800" dirty="0"/>
          </a:p>
        </p:txBody>
      </p:sp>
      <p:sp>
        <p:nvSpPr>
          <p:cNvPr id="16" name="Text 13"/>
          <p:cNvSpPr/>
          <p:nvPr/>
        </p:nvSpPr>
        <p:spPr>
          <a:xfrm>
            <a:off x="6035040" y="2514600"/>
            <a:ext cx="2926080" cy="201168"/>
          </a:xfrm>
          <a:prstGeom prst="rect">
            <a:avLst/>
          </a:prstGeom>
          <a:noFill/>
          <a:ln/>
        </p:spPr>
        <p:txBody>
          <a:bodyPr wrap="square" lIns="0" tIns="0" rIns="0" bIns="0" rtlCol="0" anchor="ctr"/>
          <a:lstStyle/>
          <a:p>
            <a:pPr marL="0" indent="0" algn="ctr">
              <a:buNone/>
            </a:pPr>
            <a:r>
              <a:rPr lang="en-US" sz="800" b="1" dirty="0">
                <a:solidFill>
                  <a:srgbClr val="90A4AE"/>
                </a:solidFill>
              </a:rPr>
              <a:t>TOOLS</a:t>
            </a:r>
            <a:endParaRPr lang="en-US" sz="800" dirty="0"/>
          </a:p>
        </p:txBody>
      </p:sp>
      <p:sp>
        <p:nvSpPr>
          <p:cNvPr id="17" name="Shape 14"/>
          <p:cNvSpPr/>
          <p:nvPr/>
        </p:nvSpPr>
        <p:spPr>
          <a:xfrm>
            <a:off x="6080760" y="2761488"/>
            <a:ext cx="2834640" cy="274320"/>
          </a:xfrm>
          <a:prstGeom prst="rect">
            <a:avLst/>
          </a:prstGeom>
          <a:solidFill>
            <a:srgbClr val="0D1B2A"/>
          </a:solidFill>
          <a:ln w="12700">
            <a:solidFill>
              <a:srgbClr val="1976D2"/>
            </a:solidFill>
            <a:prstDash val="solid"/>
          </a:ln>
        </p:spPr>
      </p:sp>
      <p:sp>
        <p:nvSpPr>
          <p:cNvPr id="18" name="Text 15"/>
          <p:cNvSpPr/>
          <p:nvPr/>
        </p:nvSpPr>
        <p:spPr>
          <a:xfrm>
            <a:off x="6080760" y="2761488"/>
            <a:ext cx="2834640" cy="274320"/>
          </a:xfrm>
          <a:prstGeom prst="rect">
            <a:avLst/>
          </a:prstGeom>
          <a:noFill/>
          <a:ln/>
        </p:spPr>
        <p:txBody>
          <a:bodyPr wrap="square" lIns="0" tIns="0" rIns="0" bIns="0" rtlCol="0" anchor="ctr"/>
          <a:lstStyle/>
          <a:p>
            <a:pPr marL="0" indent="0" algn="ctr">
              <a:buNone/>
            </a:pPr>
            <a:r>
              <a:rPr lang="en-US" sz="950" dirty="0">
                <a:solidFill>
                  <a:srgbClr val="FFFFFF"/>
                </a:solidFill>
              </a:rPr>
              <a:t>REST Assured 6.0  (Java 17+)</a:t>
            </a:r>
            <a:endParaRPr lang="en-US" sz="950" dirty="0"/>
          </a:p>
        </p:txBody>
      </p:sp>
      <p:sp>
        <p:nvSpPr>
          <p:cNvPr id="19" name="Shape 16"/>
          <p:cNvSpPr/>
          <p:nvPr/>
        </p:nvSpPr>
        <p:spPr>
          <a:xfrm>
            <a:off x="6080760" y="3090672"/>
            <a:ext cx="2834640" cy="274320"/>
          </a:xfrm>
          <a:prstGeom prst="rect">
            <a:avLst/>
          </a:prstGeom>
          <a:solidFill>
            <a:srgbClr val="0D1B2A"/>
          </a:solidFill>
          <a:ln w="12700">
            <a:solidFill>
              <a:srgbClr val="1976D2"/>
            </a:solidFill>
            <a:prstDash val="solid"/>
          </a:ln>
        </p:spPr>
      </p:sp>
      <p:sp>
        <p:nvSpPr>
          <p:cNvPr id="20" name="Text 17"/>
          <p:cNvSpPr/>
          <p:nvPr/>
        </p:nvSpPr>
        <p:spPr>
          <a:xfrm>
            <a:off x="6080760" y="3090672"/>
            <a:ext cx="2834640" cy="274320"/>
          </a:xfrm>
          <a:prstGeom prst="rect">
            <a:avLst/>
          </a:prstGeom>
          <a:noFill/>
          <a:ln/>
        </p:spPr>
        <p:txBody>
          <a:bodyPr wrap="square" lIns="0" tIns="0" rIns="0" bIns="0" rtlCol="0" anchor="ctr"/>
          <a:lstStyle/>
          <a:p>
            <a:pPr marL="0" indent="0" algn="ctr">
              <a:buNone/>
            </a:pPr>
            <a:r>
              <a:rPr lang="en-US" sz="950" dirty="0">
                <a:solidFill>
                  <a:srgbClr val="FFFFFF"/>
                </a:solidFill>
              </a:rPr>
              <a:t>Postman / Newman CLI</a:t>
            </a:r>
            <a:endParaRPr lang="en-US" sz="950" dirty="0"/>
          </a:p>
        </p:txBody>
      </p:sp>
      <p:sp>
        <p:nvSpPr>
          <p:cNvPr id="21" name="Shape 18"/>
          <p:cNvSpPr/>
          <p:nvPr/>
        </p:nvSpPr>
        <p:spPr>
          <a:xfrm>
            <a:off x="0" y="4983480"/>
            <a:ext cx="9144000" cy="160020"/>
          </a:xfrm>
          <a:prstGeom prst="rect">
            <a:avLst/>
          </a:prstGeom>
          <a:solidFill>
            <a:srgbClr val="1565C0"/>
          </a:solidFill>
          <a:ln w="12700">
            <a:solidFill>
              <a:srgbClr val="1565C0"/>
            </a:solidFill>
            <a:prstDash val="solid"/>
          </a:ln>
        </p:spPr>
      </p:sp>
      <p:sp>
        <p:nvSpPr>
          <p:cNvPr id="22"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FFFF"/>
                </a:solidFill>
              </a:rPr>
              <a:t>Jai Singh</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LEARNING OUTCOMES</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What You Will Achieve Today</a:t>
            </a:r>
            <a:endParaRPr lang="en-US" sz="2200" dirty="0"/>
          </a:p>
        </p:txBody>
      </p:sp>
      <p:sp>
        <p:nvSpPr>
          <p:cNvPr id="9" name="Shape 7"/>
          <p:cNvSpPr/>
          <p:nvPr/>
        </p:nvSpPr>
        <p:spPr>
          <a:xfrm>
            <a:off x="365760" y="960120"/>
            <a:ext cx="8412480" cy="1115568"/>
          </a:xfrm>
          <a:prstGeom prst="rect">
            <a:avLst/>
          </a:prstGeom>
          <a:solidFill>
            <a:srgbClr val="112233"/>
          </a:solidFill>
          <a:ln w="12700">
            <a:solidFill>
              <a:srgbClr val="00BCD4"/>
            </a:solidFill>
            <a:prstDash val="solid"/>
          </a:ln>
        </p:spPr>
      </p:sp>
      <p:sp>
        <p:nvSpPr>
          <p:cNvPr id="10" name="Shape 8"/>
          <p:cNvSpPr/>
          <p:nvPr/>
        </p:nvSpPr>
        <p:spPr>
          <a:xfrm>
            <a:off x="365760" y="960120"/>
            <a:ext cx="73152" cy="1115568"/>
          </a:xfrm>
          <a:prstGeom prst="rect">
            <a:avLst/>
          </a:prstGeom>
          <a:solidFill>
            <a:srgbClr val="00BCD4"/>
          </a:solidFill>
          <a:ln w="12700">
            <a:solidFill>
              <a:srgbClr val="00BCD4"/>
            </a:solidFill>
            <a:prstDash val="solid"/>
          </a:ln>
        </p:spPr>
      </p:sp>
      <p:pic>
        <p:nvPicPr>
          <p:cNvPr id="11" name="Image 0" descr="preencoded.png"/>
          <p:cNvPicPr>
            <a:picLocks noChangeAspect="1"/>
          </p:cNvPicPr>
          <p:nvPr/>
        </p:nvPicPr>
        <p:blipFill>
          <a:blip r:embed="rId3"/>
          <a:stretch>
            <a:fillRect/>
          </a:stretch>
        </p:blipFill>
        <p:spPr>
          <a:xfrm>
            <a:off x="548640" y="1289304"/>
            <a:ext cx="457200" cy="457200"/>
          </a:xfrm>
          <a:prstGeom prst="rect">
            <a:avLst/>
          </a:prstGeom>
        </p:spPr>
      </p:pic>
      <p:sp>
        <p:nvSpPr>
          <p:cNvPr id="12" name="Text 9"/>
          <p:cNvSpPr/>
          <p:nvPr/>
        </p:nvSpPr>
        <p:spPr>
          <a:xfrm>
            <a:off x="1143000" y="1069848"/>
            <a:ext cx="7406640" cy="292608"/>
          </a:xfrm>
          <a:prstGeom prst="rect">
            <a:avLst/>
          </a:prstGeom>
          <a:noFill/>
          <a:ln/>
        </p:spPr>
        <p:txBody>
          <a:bodyPr wrap="square" lIns="0" tIns="0" rIns="0" bIns="0" rtlCol="0" anchor="ctr"/>
          <a:lstStyle/>
          <a:p>
            <a:pPr marL="0" indent="0" algn="l">
              <a:buNone/>
            </a:pPr>
            <a:r>
              <a:rPr lang="en-US" sz="1300" b="1" dirty="0">
                <a:solidFill>
                  <a:srgbClr val="00BCD4"/>
                </a:solidFill>
              </a:rPr>
              <a:t>Implement API tests in CI pipelines</a:t>
            </a:r>
            <a:endParaRPr lang="en-US" sz="1300" dirty="0"/>
          </a:p>
        </p:txBody>
      </p:sp>
      <p:sp>
        <p:nvSpPr>
          <p:cNvPr id="13" name="Text 10"/>
          <p:cNvSpPr/>
          <p:nvPr/>
        </p:nvSpPr>
        <p:spPr>
          <a:xfrm>
            <a:off x="1143000" y="1435608"/>
            <a:ext cx="7406640" cy="502920"/>
          </a:xfrm>
          <a:prstGeom prst="rect">
            <a:avLst/>
          </a:prstGeom>
          <a:noFill/>
          <a:ln/>
        </p:spPr>
        <p:txBody>
          <a:bodyPr wrap="square" lIns="0" tIns="0" rIns="0" bIns="0" rtlCol="0" anchor="ctr"/>
          <a:lstStyle/>
          <a:p>
            <a:pPr marL="0" indent="0" algn="l">
              <a:buNone/>
            </a:pPr>
            <a:r>
              <a:rPr lang="en-US" sz="1100" dirty="0">
                <a:solidFill>
                  <a:srgbClr val="E8F4FD"/>
                </a:solidFill>
              </a:rPr>
              <a:t>Write automated REST API tests using REST Assured (Java) and Postman/Newman, and wire them into your CI pipeline as first-class quality gates.</a:t>
            </a:r>
            <a:endParaRPr lang="en-US" sz="1100" dirty="0"/>
          </a:p>
        </p:txBody>
      </p:sp>
      <p:sp>
        <p:nvSpPr>
          <p:cNvPr id="14" name="Shape 11"/>
          <p:cNvSpPr/>
          <p:nvPr/>
        </p:nvSpPr>
        <p:spPr>
          <a:xfrm>
            <a:off x="365760" y="2194560"/>
            <a:ext cx="8412480" cy="1115568"/>
          </a:xfrm>
          <a:prstGeom prst="rect">
            <a:avLst/>
          </a:prstGeom>
          <a:solidFill>
            <a:srgbClr val="112233"/>
          </a:solidFill>
          <a:ln w="12700">
            <a:solidFill>
              <a:srgbClr val="00C853"/>
            </a:solidFill>
            <a:prstDash val="solid"/>
          </a:ln>
        </p:spPr>
      </p:sp>
      <p:sp>
        <p:nvSpPr>
          <p:cNvPr id="15" name="Shape 12"/>
          <p:cNvSpPr/>
          <p:nvPr/>
        </p:nvSpPr>
        <p:spPr>
          <a:xfrm>
            <a:off x="365760" y="2194560"/>
            <a:ext cx="73152" cy="1115568"/>
          </a:xfrm>
          <a:prstGeom prst="rect">
            <a:avLst/>
          </a:prstGeom>
          <a:solidFill>
            <a:srgbClr val="00C853"/>
          </a:solidFill>
          <a:ln w="12700">
            <a:solidFill>
              <a:srgbClr val="00C853"/>
            </a:solidFill>
            <a:prstDash val="solid"/>
          </a:ln>
        </p:spPr>
      </p:sp>
      <p:pic>
        <p:nvPicPr>
          <p:cNvPr id="16" name="Image 1" descr="preencoded.png"/>
          <p:cNvPicPr>
            <a:picLocks noChangeAspect="1"/>
          </p:cNvPicPr>
          <p:nvPr/>
        </p:nvPicPr>
        <p:blipFill>
          <a:blip r:embed="rId4"/>
          <a:stretch>
            <a:fillRect/>
          </a:stretch>
        </p:blipFill>
        <p:spPr>
          <a:xfrm>
            <a:off x="548640" y="2523744"/>
            <a:ext cx="457200" cy="457200"/>
          </a:xfrm>
          <a:prstGeom prst="rect">
            <a:avLst/>
          </a:prstGeom>
        </p:spPr>
      </p:pic>
      <p:sp>
        <p:nvSpPr>
          <p:cNvPr id="17" name="Text 13"/>
          <p:cNvSpPr/>
          <p:nvPr/>
        </p:nvSpPr>
        <p:spPr>
          <a:xfrm>
            <a:off x="1143000" y="2304288"/>
            <a:ext cx="7406640" cy="292608"/>
          </a:xfrm>
          <a:prstGeom prst="rect">
            <a:avLst/>
          </a:prstGeom>
          <a:noFill/>
          <a:ln/>
        </p:spPr>
        <p:txBody>
          <a:bodyPr wrap="square" lIns="0" tIns="0" rIns="0" bIns="0" rtlCol="0" anchor="ctr"/>
          <a:lstStyle/>
          <a:p>
            <a:pPr marL="0" indent="0" algn="l">
              <a:buNone/>
            </a:pPr>
            <a:r>
              <a:rPr lang="en-US" sz="1300" b="1" dirty="0">
                <a:solidFill>
                  <a:srgbClr val="00C853"/>
                </a:solidFill>
              </a:rPr>
              <a:t>Validate service contracts and integrations</a:t>
            </a:r>
            <a:endParaRPr lang="en-US" sz="1300" dirty="0"/>
          </a:p>
        </p:txBody>
      </p:sp>
      <p:sp>
        <p:nvSpPr>
          <p:cNvPr id="18" name="Text 14"/>
          <p:cNvSpPr/>
          <p:nvPr/>
        </p:nvSpPr>
        <p:spPr>
          <a:xfrm>
            <a:off x="1143000" y="2670048"/>
            <a:ext cx="7406640" cy="502920"/>
          </a:xfrm>
          <a:prstGeom prst="rect">
            <a:avLst/>
          </a:prstGeom>
          <a:noFill/>
          <a:ln/>
        </p:spPr>
        <p:txBody>
          <a:bodyPr wrap="square" lIns="0" tIns="0" rIns="0" bIns="0" rtlCol="0" anchor="ctr"/>
          <a:lstStyle/>
          <a:p>
            <a:pPr marL="0" indent="0" algn="l">
              <a:buNone/>
            </a:pPr>
            <a:r>
              <a:rPr lang="en-US" sz="1100" dirty="0">
                <a:solidFill>
                  <a:srgbClr val="E8F4FD"/>
                </a:solidFill>
              </a:rPr>
              <a:t>Apply contract testing, JSON schema validation, and response assertion patterns to catch integration defects before they reach staging or production.</a:t>
            </a:r>
            <a:endParaRPr lang="en-US" sz="1100" dirty="0"/>
          </a:p>
        </p:txBody>
      </p:sp>
      <p:sp>
        <p:nvSpPr>
          <p:cNvPr id="19" name="Shape 15"/>
          <p:cNvSpPr/>
          <p:nvPr/>
        </p:nvSpPr>
        <p:spPr>
          <a:xfrm>
            <a:off x="365760" y="3429000"/>
            <a:ext cx="8412480" cy="1115568"/>
          </a:xfrm>
          <a:prstGeom prst="rect">
            <a:avLst/>
          </a:prstGeom>
          <a:solidFill>
            <a:srgbClr val="112233"/>
          </a:solidFill>
          <a:ln w="12700">
            <a:solidFill>
              <a:srgbClr val="F44336"/>
            </a:solidFill>
            <a:prstDash val="solid"/>
          </a:ln>
        </p:spPr>
      </p:sp>
      <p:sp>
        <p:nvSpPr>
          <p:cNvPr id="20" name="Shape 16"/>
          <p:cNvSpPr/>
          <p:nvPr/>
        </p:nvSpPr>
        <p:spPr>
          <a:xfrm>
            <a:off x="365760" y="3429000"/>
            <a:ext cx="73152" cy="1115568"/>
          </a:xfrm>
          <a:prstGeom prst="rect">
            <a:avLst/>
          </a:prstGeom>
          <a:solidFill>
            <a:srgbClr val="F44336"/>
          </a:solidFill>
          <a:ln w="12700">
            <a:solidFill>
              <a:srgbClr val="F44336"/>
            </a:solidFill>
            <a:prstDash val="solid"/>
          </a:ln>
        </p:spPr>
      </p:sp>
      <p:pic>
        <p:nvPicPr>
          <p:cNvPr id="21" name="Image 2" descr="preencoded.png"/>
          <p:cNvPicPr>
            <a:picLocks noChangeAspect="1"/>
          </p:cNvPicPr>
          <p:nvPr/>
        </p:nvPicPr>
        <p:blipFill>
          <a:blip r:embed="rId5"/>
          <a:stretch>
            <a:fillRect/>
          </a:stretch>
        </p:blipFill>
        <p:spPr>
          <a:xfrm>
            <a:off x="548640" y="3758184"/>
            <a:ext cx="457200" cy="457200"/>
          </a:xfrm>
          <a:prstGeom prst="rect">
            <a:avLst/>
          </a:prstGeom>
        </p:spPr>
      </p:pic>
      <p:sp>
        <p:nvSpPr>
          <p:cNvPr id="22" name="Text 17"/>
          <p:cNvSpPr/>
          <p:nvPr/>
        </p:nvSpPr>
        <p:spPr>
          <a:xfrm>
            <a:off x="1143000" y="3538728"/>
            <a:ext cx="7406640" cy="292608"/>
          </a:xfrm>
          <a:prstGeom prst="rect">
            <a:avLst/>
          </a:prstGeom>
          <a:noFill/>
          <a:ln/>
        </p:spPr>
        <p:txBody>
          <a:bodyPr wrap="square" lIns="0" tIns="0" rIns="0" bIns="0" rtlCol="0" anchor="ctr"/>
          <a:lstStyle/>
          <a:p>
            <a:pPr marL="0" indent="0" algn="l">
              <a:buNone/>
            </a:pPr>
            <a:r>
              <a:rPr lang="en-US" sz="1300" b="1" dirty="0">
                <a:solidFill>
                  <a:srgbClr val="F44336"/>
                </a:solidFill>
              </a:rPr>
              <a:t>Improve early defect detection at the service layer</a:t>
            </a:r>
            <a:endParaRPr lang="en-US" sz="1300" dirty="0"/>
          </a:p>
        </p:txBody>
      </p:sp>
      <p:sp>
        <p:nvSpPr>
          <p:cNvPr id="23" name="Text 18"/>
          <p:cNvSpPr/>
          <p:nvPr/>
        </p:nvSpPr>
        <p:spPr>
          <a:xfrm>
            <a:off x="1143000" y="3904488"/>
            <a:ext cx="7406640" cy="502920"/>
          </a:xfrm>
          <a:prstGeom prst="rect">
            <a:avLst/>
          </a:prstGeom>
          <a:noFill/>
          <a:ln/>
        </p:spPr>
        <p:txBody>
          <a:bodyPr wrap="square" lIns="0" tIns="0" rIns="0" bIns="0" rtlCol="0" anchor="ctr"/>
          <a:lstStyle/>
          <a:p>
            <a:pPr marL="0" indent="0" algn="l">
              <a:buNone/>
            </a:pPr>
            <a:r>
              <a:rPr lang="en-US" sz="1100" dirty="0">
                <a:solidFill>
                  <a:srgbClr val="E8F4FD"/>
                </a:solidFill>
              </a:rPr>
              <a:t>Replace slow, brittle UI tests with fast, stable API checks. Understand where API tests sit in the test pyramid and when to use them vs unit or E2E tests.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API TESTING FUNDAMENTALS</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API Testing in CI — Why and Where</a:t>
            </a:r>
            <a:endParaRPr lang="en-US" sz="2200" dirty="0"/>
          </a:p>
        </p:txBody>
      </p:sp>
      <p:sp>
        <p:nvSpPr>
          <p:cNvPr id="9" name="Shape 7"/>
          <p:cNvSpPr/>
          <p:nvPr/>
        </p:nvSpPr>
        <p:spPr>
          <a:xfrm>
            <a:off x="365760" y="868680"/>
            <a:ext cx="8412480" cy="384048"/>
          </a:xfrm>
          <a:prstGeom prst="rect">
            <a:avLst/>
          </a:prstGeom>
          <a:solidFill>
            <a:srgbClr val="0E1F35"/>
          </a:solidFill>
          <a:ln w="12700">
            <a:solidFill>
              <a:srgbClr val="00BCD4"/>
            </a:solidFill>
            <a:prstDash val="solid"/>
          </a:ln>
        </p:spPr>
      </p:sp>
      <p:sp>
        <p:nvSpPr>
          <p:cNvPr id="10" name="Text 8"/>
          <p:cNvSpPr/>
          <p:nvPr/>
        </p:nvSpPr>
        <p:spPr>
          <a:xfrm>
            <a:off x="502920" y="886968"/>
            <a:ext cx="8229600" cy="338328"/>
          </a:xfrm>
          <a:prstGeom prst="rect">
            <a:avLst/>
          </a:prstGeom>
          <a:noFill/>
          <a:ln/>
        </p:spPr>
        <p:txBody>
          <a:bodyPr wrap="square" lIns="0" tIns="0" rIns="0" bIns="0" rtlCol="0" anchor="ctr"/>
          <a:lstStyle/>
          <a:p>
            <a:pPr marL="0" indent="0" algn="l">
              <a:buNone/>
            </a:pPr>
            <a:r>
              <a:rPr lang="en-US" sz="950" dirty="0">
                <a:solidFill>
                  <a:srgbClr val="E8F4FD"/>
                </a:solidFill>
              </a:rPr>
              <a:t>📍  In the test pyramid: API/Integration tests sit between unit tests and E2E UI tests. They are faster and more stable than UI tests but catch integration defects that unit tests miss. Target ~30% of your suite.</a:t>
            </a:r>
            <a:endParaRPr lang="en-US" sz="950" dirty="0"/>
          </a:p>
        </p:txBody>
      </p:sp>
      <p:sp>
        <p:nvSpPr>
          <p:cNvPr id="11" name="Shape 9"/>
          <p:cNvSpPr/>
          <p:nvPr/>
        </p:nvSpPr>
        <p:spPr>
          <a:xfrm>
            <a:off x="365760" y="1316736"/>
            <a:ext cx="4023360" cy="292608"/>
          </a:xfrm>
          <a:prstGeom prst="rect">
            <a:avLst/>
          </a:prstGeom>
          <a:solidFill>
            <a:srgbClr val="00BCD4"/>
          </a:solidFill>
          <a:ln w="12700">
            <a:solidFill>
              <a:srgbClr val="00BCD4"/>
            </a:solidFill>
            <a:prstDash val="solid"/>
          </a:ln>
        </p:spPr>
      </p:sp>
      <p:sp>
        <p:nvSpPr>
          <p:cNvPr id="12" name="Text 10"/>
          <p:cNvSpPr/>
          <p:nvPr/>
        </p:nvSpPr>
        <p:spPr>
          <a:xfrm>
            <a:off x="365760" y="1316736"/>
            <a:ext cx="4023360" cy="292608"/>
          </a:xfrm>
          <a:prstGeom prst="rect">
            <a:avLst/>
          </a:prstGeom>
          <a:noFill/>
          <a:ln/>
        </p:spPr>
        <p:txBody>
          <a:bodyPr wrap="square" lIns="0" tIns="0" rIns="0" bIns="0" rtlCol="0" anchor="ctr"/>
          <a:lstStyle/>
          <a:p>
            <a:pPr marL="0" indent="0" algn="ctr">
              <a:buNone/>
            </a:pPr>
            <a:r>
              <a:rPr lang="en-US" sz="1100" b="1" dirty="0">
                <a:solidFill>
                  <a:srgbClr val="0D1B2A"/>
                </a:solidFill>
              </a:rPr>
              <a:t>What to Validate in API Tests</a:t>
            </a:r>
            <a:endParaRPr lang="en-US" sz="1100" dirty="0"/>
          </a:p>
        </p:txBody>
      </p:sp>
      <p:sp>
        <p:nvSpPr>
          <p:cNvPr id="13" name="Shape 11"/>
          <p:cNvSpPr/>
          <p:nvPr/>
        </p:nvSpPr>
        <p:spPr>
          <a:xfrm>
            <a:off x="365760" y="1664208"/>
            <a:ext cx="4023360" cy="731520"/>
          </a:xfrm>
          <a:prstGeom prst="rect">
            <a:avLst/>
          </a:prstGeom>
          <a:solidFill>
            <a:srgbClr val="112233"/>
          </a:solidFill>
          <a:ln w="12700">
            <a:solidFill>
              <a:srgbClr val="00C853"/>
            </a:solidFill>
            <a:prstDash val="solid"/>
          </a:ln>
        </p:spPr>
      </p:sp>
      <p:pic>
        <p:nvPicPr>
          <p:cNvPr id="14" name="Image 0" descr="preencoded.png"/>
          <p:cNvPicPr>
            <a:picLocks noChangeAspect="1"/>
          </p:cNvPicPr>
          <p:nvPr/>
        </p:nvPicPr>
        <p:blipFill>
          <a:blip r:embed="rId3"/>
          <a:stretch>
            <a:fillRect/>
          </a:stretch>
        </p:blipFill>
        <p:spPr>
          <a:xfrm>
            <a:off x="457200" y="1865376"/>
            <a:ext cx="256032" cy="256032"/>
          </a:xfrm>
          <a:prstGeom prst="rect">
            <a:avLst/>
          </a:prstGeom>
        </p:spPr>
      </p:pic>
      <p:sp>
        <p:nvSpPr>
          <p:cNvPr id="15" name="Text 12"/>
          <p:cNvSpPr/>
          <p:nvPr/>
        </p:nvSpPr>
        <p:spPr>
          <a:xfrm>
            <a:off x="786384" y="1709928"/>
            <a:ext cx="3474720" cy="237744"/>
          </a:xfrm>
          <a:prstGeom prst="rect">
            <a:avLst/>
          </a:prstGeom>
          <a:noFill/>
          <a:ln/>
        </p:spPr>
        <p:txBody>
          <a:bodyPr wrap="square" lIns="0" tIns="0" rIns="0" bIns="0" rtlCol="0" anchor="ctr"/>
          <a:lstStyle/>
          <a:p>
            <a:pPr marL="0" indent="0" algn="l">
              <a:buNone/>
            </a:pPr>
            <a:r>
              <a:rPr lang="en-US" sz="1000" b="1" dirty="0">
                <a:solidFill>
                  <a:srgbClr val="00C853"/>
                </a:solidFill>
              </a:rPr>
              <a:t>Status Codes</a:t>
            </a:r>
            <a:endParaRPr lang="en-US" sz="1000" dirty="0"/>
          </a:p>
        </p:txBody>
      </p:sp>
      <p:sp>
        <p:nvSpPr>
          <p:cNvPr id="16" name="Text 13"/>
          <p:cNvSpPr/>
          <p:nvPr/>
        </p:nvSpPr>
        <p:spPr>
          <a:xfrm>
            <a:off x="786384" y="1993392"/>
            <a:ext cx="3474720" cy="347472"/>
          </a:xfrm>
          <a:prstGeom prst="rect">
            <a:avLst/>
          </a:prstGeom>
          <a:noFill/>
          <a:ln/>
        </p:spPr>
        <p:txBody>
          <a:bodyPr wrap="square" lIns="0" tIns="0" rIns="0" bIns="0" rtlCol="0" anchor="ctr"/>
          <a:lstStyle/>
          <a:p>
            <a:pPr marL="0" indent="0" algn="l">
              <a:buNone/>
            </a:pPr>
            <a:r>
              <a:rPr lang="en-US" sz="850" dirty="0">
                <a:solidFill>
                  <a:srgbClr val="E8F4FD"/>
                </a:solidFill>
              </a:rPr>
              <a:t>200 OK, 201 Created, 400 Bad Request, 401 Unauthorised, 404 Not Found, 500 Internal Server Error — test boundary conditions, not just happy path.</a:t>
            </a:r>
            <a:endParaRPr lang="en-US" sz="850" dirty="0"/>
          </a:p>
        </p:txBody>
      </p:sp>
      <p:sp>
        <p:nvSpPr>
          <p:cNvPr id="17" name="Shape 14"/>
          <p:cNvSpPr/>
          <p:nvPr/>
        </p:nvSpPr>
        <p:spPr>
          <a:xfrm>
            <a:off x="365760" y="2459736"/>
            <a:ext cx="4023360" cy="731520"/>
          </a:xfrm>
          <a:prstGeom prst="rect">
            <a:avLst/>
          </a:prstGeom>
          <a:solidFill>
            <a:srgbClr val="112233"/>
          </a:solidFill>
          <a:ln w="12700">
            <a:solidFill>
              <a:srgbClr val="00BCD4"/>
            </a:solidFill>
            <a:prstDash val="solid"/>
          </a:ln>
        </p:spPr>
      </p:sp>
      <p:pic>
        <p:nvPicPr>
          <p:cNvPr id="18" name="Image 1" descr="preencoded.png"/>
          <p:cNvPicPr>
            <a:picLocks noChangeAspect="1"/>
          </p:cNvPicPr>
          <p:nvPr/>
        </p:nvPicPr>
        <p:blipFill>
          <a:blip r:embed="rId3"/>
          <a:stretch>
            <a:fillRect/>
          </a:stretch>
        </p:blipFill>
        <p:spPr>
          <a:xfrm>
            <a:off x="457200" y="2660904"/>
            <a:ext cx="256032" cy="256032"/>
          </a:xfrm>
          <a:prstGeom prst="rect">
            <a:avLst/>
          </a:prstGeom>
        </p:spPr>
      </p:pic>
      <p:sp>
        <p:nvSpPr>
          <p:cNvPr id="19" name="Text 15"/>
          <p:cNvSpPr/>
          <p:nvPr/>
        </p:nvSpPr>
        <p:spPr>
          <a:xfrm>
            <a:off x="786384" y="2505456"/>
            <a:ext cx="3474720" cy="237744"/>
          </a:xfrm>
          <a:prstGeom prst="rect">
            <a:avLst/>
          </a:prstGeom>
          <a:noFill/>
          <a:ln/>
        </p:spPr>
        <p:txBody>
          <a:bodyPr wrap="square" lIns="0" tIns="0" rIns="0" bIns="0" rtlCol="0" anchor="ctr"/>
          <a:lstStyle/>
          <a:p>
            <a:pPr marL="0" indent="0" algn="l">
              <a:buNone/>
            </a:pPr>
            <a:r>
              <a:rPr lang="en-US" sz="1000" b="1" dirty="0">
                <a:solidFill>
                  <a:srgbClr val="00BCD4"/>
                </a:solidFill>
              </a:rPr>
              <a:t>Response Body</a:t>
            </a:r>
            <a:endParaRPr lang="en-US" sz="1000" dirty="0"/>
          </a:p>
        </p:txBody>
      </p:sp>
      <p:sp>
        <p:nvSpPr>
          <p:cNvPr id="20" name="Text 16"/>
          <p:cNvSpPr/>
          <p:nvPr/>
        </p:nvSpPr>
        <p:spPr>
          <a:xfrm>
            <a:off x="786384" y="2788920"/>
            <a:ext cx="3474720" cy="347472"/>
          </a:xfrm>
          <a:prstGeom prst="rect">
            <a:avLst/>
          </a:prstGeom>
          <a:noFill/>
          <a:ln/>
        </p:spPr>
        <p:txBody>
          <a:bodyPr wrap="square" lIns="0" tIns="0" rIns="0" bIns="0" rtlCol="0" anchor="ctr"/>
          <a:lstStyle/>
          <a:p>
            <a:pPr marL="0" indent="0" algn="l">
              <a:buNone/>
            </a:pPr>
            <a:r>
              <a:rPr lang="en-US" sz="850" dirty="0">
                <a:solidFill>
                  <a:srgbClr val="E8F4FD"/>
                </a:solidFill>
              </a:rPr>
              <a:t>Correct fields present, right data types, expected values using JSONPath assertions. Avoid asserting on volatile data (timestamps, IDs).</a:t>
            </a:r>
            <a:endParaRPr lang="en-US" sz="850" dirty="0"/>
          </a:p>
        </p:txBody>
      </p:sp>
      <p:sp>
        <p:nvSpPr>
          <p:cNvPr id="21" name="Shape 17"/>
          <p:cNvSpPr/>
          <p:nvPr/>
        </p:nvSpPr>
        <p:spPr>
          <a:xfrm>
            <a:off x="365760" y="3255264"/>
            <a:ext cx="4023360" cy="731520"/>
          </a:xfrm>
          <a:prstGeom prst="rect">
            <a:avLst/>
          </a:prstGeom>
          <a:solidFill>
            <a:srgbClr val="112233"/>
          </a:solidFill>
          <a:ln w="12700">
            <a:solidFill>
              <a:srgbClr val="FFD600"/>
            </a:solidFill>
            <a:prstDash val="solid"/>
          </a:ln>
        </p:spPr>
      </p:sp>
      <p:pic>
        <p:nvPicPr>
          <p:cNvPr id="22" name="Image 2" descr="preencoded.png"/>
          <p:cNvPicPr>
            <a:picLocks noChangeAspect="1"/>
          </p:cNvPicPr>
          <p:nvPr/>
        </p:nvPicPr>
        <p:blipFill>
          <a:blip r:embed="rId4"/>
          <a:stretch>
            <a:fillRect/>
          </a:stretch>
        </p:blipFill>
        <p:spPr>
          <a:xfrm>
            <a:off x="457200" y="3456432"/>
            <a:ext cx="256032" cy="256032"/>
          </a:xfrm>
          <a:prstGeom prst="rect">
            <a:avLst/>
          </a:prstGeom>
        </p:spPr>
      </p:pic>
      <p:sp>
        <p:nvSpPr>
          <p:cNvPr id="23" name="Text 18"/>
          <p:cNvSpPr/>
          <p:nvPr/>
        </p:nvSpPr>
        <p:spPr>
          <a:xfrm>
            <a:off x="786384" y="3300984"/>
            <a:ext cx="3474720" cy="237744"/>
          </a:xfrm>
          <a:prstGeom prst="rect">
            <a:avLst/>
          </a:prstGeom>
          <a:noFill/>
          <a:ln/>
        </p:spPr>
        <p:txBody>
          <a:bodyPr wrap="square" lIns="0" tIns="0" rIns="0" bIns="0" rtlCol="0" anchor="ctr"/>
          <a:lstStyle/>
          <a:p>
            <a:pPr marL="0" indent="0" algn="l">
              <a:buNone/>
            </a:pPr>
            <a:r>
              <a:rPr lang="en-US" sz="1000" b="1" dirty="0">
                <a:solidFill>
                  <a:srgbClr val="FFD600"/>
                </a:solidFill>
              </a:rPr>
              <a:t>Response Headers</a:t>
            </a:r>
            <a:endParaRPr lang="en-US" sz="1000" dirty="0"/>
          </a:p>
        </p:txBody>
      </p:sp>
      <p:sp>
        <p:nvSpPr>
          <p:cNvPr id="24" name="Text 19"/>
          <p:cNvSpPr/>
          <p:nvPr/>
        </p:nvSpPr>
        <p:spPr>
          <a:xfrm>
            <a:off x="786384" y="3584448"/>
            <a:ext cx="3474720" cy="347472"/>
          </a:xfrm>
          <a:prstGeom prst="rect">
            <a:avLst/>
          </a:prstGeom>
          <a:noFill/>
          <a:ln/>
        </p:spPr>
        <p:txBody>
          <a:bodyPr wrap="square" lIns="0" tIns="0" rIns="0" bIns="0" rtlCol="0" anchor="ctr"/>
          <a:lstStyle/>
          <a:p>
            <a:pPr marL="0" indent="0" algn="l">
              <a:buNone/>
            </a:pPr>
            <a:r>
              <a:rPr lang="en-US" sz="850" dirty="0">
                <a:solidFill>
                  <a:srgbClr val="E8F4FD"/>
                </a:solidFill>
              </a:rPr>
              <a:t>Content-Type: application/json, Cache-Control, CORS headers, rate-limit headers. Often overlooked but contractually important.</a:t>
            </a:r>
            <a:endParaRPr lang="en-US" sz="850" dirty="0"/>
          </a:p>
        </p:txBody>
      </p:sp>
      <p:sp>
        <p:nvSpPr>
          <p:cNvPr id="25" name="Shape 20"/>
          <p:cNvSpPr/>
          <p:nvPr/>
        </p:nvSpPr>
        <p:spPr>
          <a:xfrm>
            <a:off x="365760" y="4050792"/>
            <a:ext cx="4023360" cy="731520"/>
          </a:xfrm>
          <a:prstGeom prst="rect">
            <a:avLst/>
          </a:prstGeom>
          <a:solidFill>
            <a:srgbClr val="112233"/>
          </a:solidFill>
          <a:ln w="12700">
            <a:solidFill>
              <a:srgbClr val="29B6F6"/>
            </a:solidFill>
            <a:prstDash val="solid"/>
          </a:ln>
        </p:spPr>
      </p:sp>
      <p:pic>
        <p:nvPicPr>
          <p:cNvPr id="26" name="Image 3" descr="preencoded.png"/>
          <p:cNvPicPr>
            <a:picLocks noChangeAspect="1"/>
          </p:cNvPicPr>
          <p:nvPr/>
        </p:nvPicPr>
        <p:blipFill>
          <a:blip r:embed="rId5"/>
          <a:stretch>
            <a:fillRect/>
          </a:stretch>
        </p:blipFill>
        <p:spPr>
          <a:xfrm>
            <a:off x="457200" y="4251960"/>
            <a:ext cx="256032" cy="256032"/>
          </a:xfrm>
          <a:prstGeom prst="rect">
            <a:avLst/>
          </a:prstGeom>
        </p:spPr>
      </p:pic>
      <p:sp>
        <p:nvSpPr>
          <p:cNvPr id="27" name="Text 21"/>
          <p:cNvSpPr/>
          <p:nvPr/>
        </p:nvSpPr>
        <p:spPr>
          <a:xfrm>
            <a:off x="786384" y="4096512"/>
            <a:ext cx="3474720" cy="237744"/>
          </a:xfrm>
          <a:prstGeom prst="rect">
            <a:avLst/>
          </a:prstGeom>
          <a:noFill/>
          <a:ln/>
        </p:spPr>
        <p:txBody>
          <a:bodyPr wrap="square" lIns="0" tIns="0" rIns="0" bIns="0" rtlCol="0" anchor="ctr"/>
          <a:lstStyle/>
          <a:p>
            <a:pPr marL="0" indent="0" algn="l">
              <a:buNone/>
            </a:pPr>
            <a:r>
              <a:rPr lang="en-US" sz="1000" b="1" dirty="0">
                <a:solidFill>
                  <a:srgbClr val="29B6F6"/>
                </a:solidFill>
              </a:rPr>
              <a:t>JSON Schema</a:t>
            </a:r>
            <a:endParaRPr lang="en-US" sz="1000" dirty="0"/>
          </a:p>
        </p:txBody>
      </p:sp>
      <p:sp>
        <p:nvSpPr>
          <p:cNvPr id="28" name="Text 22"/>
          <p:cNvSpPr/>
          <p:nvPr/>
        </p:nvSpPr>
        <p:spPr>
          <a:xfrm>
            <a:off x="786384" y="4379976"/>
            <a:ext cx="3474720" cy="347472"/>
          </a:xfrm>
          <a:prstGeom prst="rect">
            <a:avLst/>
          </a:prstGeom>
          <a:noFill/>
          <a:ln/>
        </p:spPr>
        <p:txBody>
          <a:bodyPr wrap="square" lIns="0" tIns="0" rIns="0" bIns="0" rtlCol="0" anchor="ctr"/>
          <a:lstStyle/>
          <a:p>
            <a:pPr marL="0" indent="0" algn="l">
              <a:buNone/>
            </a:pPr>
            <a:r>
              <a:rPr lang="en-US" sz="850" dirty="0">
                <a:solidFill>
                  <a:srgbClr val="E8F4FD"/>
                </a:solidFill>
              </a:rPr>
              <a:t>Validate the shape of the response — field names, types, required fields — against a defined schema. Catches contract drift before consumers break.</a:t>
            </a:r>
            <a:endParaRPr lang="en-US" sz="850" dirty="0"/>
          </a:p>
        </p:txBody>
      </p:sp>
      <p:sp>
        <p:nvSpPr>
          <p:cNvPr id="29" name="Shape 23"/>
          <p:cNvSpPr/>
          <p:nvPr/>
        </p:nvSpPr>
        <p:spPr>
          <a:xfrm>
            <a:off x="4617720" y="1316736"/>
            <a:ext cx="4160520" cy="292608"/>
          </a:xfrm>
          <a:prstGeom prst="rect">
            <a:avLst/>
          </a:prstGeom>
          <a:solidFill>
            <a:srgbClr val="00897B"/>
          </a:solidFill>
          <a:ln w="12700">
            <a:solidFill>
              <a:srgbClr val="00897B"/>
            </a:solidFill>
            <a:prstDash val="solid"/>
          </a:ln>
        </p:spPr>
      </p:sp>
      <p:sp>
        <p:nvSpPr>
          <p:cNvPr id="30" name="Text 24"/>
          <p:cNvSpPr/>
          <p:nvPr/>
        </p:nvSpPr>
        <p:spPr>
          <a:xfrm>
            <a:off x="4617720" y="1316736"/>
            <a:ext cx="4160520" cy="292608"/>
          </a:xfrm>
          <a:prstGeom prst="rect">
            <a:avLst/>
          </a:prstGeom>
          <a:noFill/>
          <a:ln/>
        </p:spPr>
        <p:txBody>
          <a:bodyPr wrap="square" lIns="0" tIns="0" rIns="0" bIns="0" rtlCol="0" anchor="ctr"/>
          <a:lstStyle/>
          <a:p>
            <a:pPr marL="0" indent="0" algn="ctr">
              <a:buNone/>
            </a:pPr>
            <a:r>
              <a:rPr lang="en-US" sz="1100" b="1" dirty="0">
                <a:solidFill>
                  <a:srgbClr val="FFFFFF"/>
                </a:solidFill>
              </a:rPr>
              <a:t>REST Assured vs Postman/Newman</a:t>
            </a:r>
            <a:endParaRPr lang="en-US" sz="1100" dirty="0"/>
          </a:p>
        </p:txBody>
      </p:sp>
      <p:sp>
        <p:nvSpPr>
          <p:cNvPr id="31" name="Shape 25"/>
          <p:cNvSpPr/>
          <p:nvPr/>
        </p:nvSpPr>
        <p:spPr>
          <a:xfrm>
            <a:off x="4617720" y="1664208"/>
            <a:ext cx="1280160" cy="429768"/>
          </a:xfrm>
          <a:prstGeom prst="rect">
            <a:avLst/>
          </a:prstGeom>
          <a:solidFill>
            <a:srgbClr val="1565C0"/>
          </a:solidFill>
          <a:ln w="12700">
            <a:solidFill>
              <a:srgbClr val="1F3A55"/>
            </a:solidFill>
            <a:prstDash val="solid"/>
          </a:ln>
        </p:spPr>
      </p:sp>
      <p:sp>
        <p:nvSpPr>
          <p:cNvPr id="32" name="Text 26"/>
          <p:cNvSpPr/>
          <p:nvPr/>
        </p:nvSpPr>
        <p:spPr>
          <a:xfrm>
            <a:off x="4672584" y="1700784"/>
            <a:ext cx="1170432" cy="356616"/>
          </a:xfrm>
          <a:prstGeom prst="rect">
            <a:avLst/>
          </a:prstGeom>
          <a:noFill/>
          <a:ln/>
        </p:spPr>
        <p:txBody>
          <a:bodyPr wrap="square" lIns="0" tIns="0" rIns="0" bIns="0" rtlCol="0" anchor="ctr"/>
          <a:lstStyle/>
          <a:p>
            <a:pPr marL="0" indent="0" algn="l">
              <a:buNone/>
            </a:pPr>
            <a:r>
              <a:rPr lang="en-US" sz="850" b="1" dirty="0">
                <a:solidFill>
                  <a:srgbClr val="FFFFFF"/>
                </a:solidFill>
              </a:rPr>
              <a:t>Dimension</a:t>
            </a:r>
            <a:endParaRPr lang="en-US" sz="850" dirty="0"/>
          </a:p>
        </p:txBody>
      </p:sp>
      <p:sp>
        <p:nvSpPr>
          <p:cNvPr id="33" name="Shape 27"/>
          <p:cNvSpPr/>
          <p:nvPr/>
        </p:nvSpPr>
        <p:spPr>
          <a:xfrm>
            <a:off x="5925312" y="1664208"/>
            <a:ext cx="1197864" cy="429768"/>
          </a:xfrm>
          <a:prstGeom prst="rect">
            <a:avLst/>
          </a:prstGeom>
          <a:solidFill>
            <a:srgbClr val="1565C0"/>
          </a:solidFill>
          <a:ln w="12700">
            <a:solidFill>
              <a:srgbClr val="1F3A55"/>
            </a:solidFill>
            <a:prstDash val="solid"/>
          </a:ln>
        </p:spPr>
      </p:sp>
      <p:sp>
        <p:nvSpPr>
          <p:cNvPr id="34" name="Text 28"/>
          <p:cNvSpPr/>
          <p:nvPr/>
        </p:nvSpPr>
        <p:spPr>
          <a:xfrm>
            <a:off x="5980176" y="1700784"/>
            <a:ext cx="1088136" cy="356616"/>
          </a:xfrm>
          <a:prstGeom prst="rect">
            <a:avLst/>
          </a:prstGeom>
          <a:noFill/>
          <a:ln/>
        </p:spPr>
        <p:txBody>
          <a:bodyPr wrap="square" lIns="0" tIns="0" rIns="0" bIns="0" rtlCol="0" anchor="ctr"/>
          <a:lstStyle/>
          <a:p>
            <a:pPr marL="0" indent="0" algn="l">
              <a:buNone/>
            </a:pPr>
            <a:r>
              <a:rPr lang="en-US" sz="850" b="1" dirty="0">
                <a:solidFill>
                  <a:srgbClr val="FFFFFF"/>
                </a:solidFill>
              </a:rPr>
              <a:t>REST Assured</a:t>
            </a:r>
            <a:endParaRPr lang="en-US" sz="850" dirty="0"/>
          </a:p>
        </p:txBody>
      </p:sp>
      <p:sp>
        <p:nvSpPr>
          <p:cNvPr id="35" name="Shape 29"/>
          <p:cNvSpPr/>
          <p:nvPr/>
        </p:nvSpPr>
        <p:spPr>
          <a:xfrm>
            <a:off x="7150608" y="1664208"/>
            <a:ext cx="1572768" cy="429768"/>
          </a:xfrm>
          <a:prstGeom prst="rect">
            <a:avLst/>
          </a:prstGeom>
          <a:solidFill>
            <a:srgbClr val="1565C0"/>
          </a:solidFill>
          <a:ln w="12700">
            <a:solidFill>
              <a:srgbClr val="1F3A55"/>
            </a:solidFill>
            <a:prstDash val="solid"/>
          </a:ln>
        </p:spPr>
      </p:sp>
      <p:sp>
        <p:nvSpPr>
          <p:cNvPr id="36" name="Text 30"/>
          <p:cNvSpPr/>
          <p:nvPr/>
        </p:nvSpPr>
        <p:spPr>
          <a:xfrm>
            <a:off x="7205472" y="1700784"/>
            <a:ext cx="1463040" cy="356616"/>
          </a:xfrm>
          <a:prstGeom prst="rect">
            <a:avLst/>
          </a:prstGeom>
          <a:noFill/>
          <a:ln/>
        </p:spPr>
        <p:txBody>
          <a:bodyPr wrap="square" lIns="0" tIns="0" rIns="0" bIns="0" rtlCol="0" anchor="ctr"/>
          <a:lstStyle/>
          <a:p>
            <a:pPr marL="0" indent="0" algn="l">
              <a:buNone/>
            </a:pPr>
            <a:r>
              <a:rPr lang="en-US" sz="850" b="1" dirty="0">
                <a:solidFill>
                  <a:srgbClr val="FFFFFF"/>
                </a:solidFill>
              </a:rPr>
              <a:t>Postman / Newman</a:t>
            </a:r>
            <a:endParaRPr lang="en-US" sz="850" dirty="0"/>
          </a:p>
        </p:txBody>
      </p:sp>
      <p:sp>
        <p:nvSpPr>
          <p:cNvPr id="37" name="Shape 31"/>
          <p:cNvSpPr/>
          <p:nvPr/>
        </p:nvSpPr>
        <p:spPr>
          <a:xfrm>
            <a:off x="4617720" y="2148840"/>
            <a:ext cx="1280160" cy="429768"/>
          </a:xfrm>
          <a:prstGeom prst="rect">
            <a:avLst/>
          </a:prstGeom>
          <a:solidFill>
            <a:srgbClr val="0E1F35"/>
          </a:solidFill>
          <a:ln w="12700">
            <a:solidFill>
              <a:srgbClr val="1F3A55"/>
            </a:solidFill>
            <a:prstDash val="solid"/>
          </a:ln>
        </p:spPr>
      </p:sp>
      <p:sp>
        <p:nvSpPr>
          <p:cNvPr id="38" name="Text 32"/>
          <p:cNvSpPr/>
          <p:nvPr/>
        </p:nvSpPr>
        <p:spPr>
          <a:xfrm>
            <a:off x="4672584" y="2185416"/>
            <a:ext cx="1170432" cy="356616"/>
          </a:xfrm>
          <a:prstGeom prst="rect">
            <a:avLst/>
          </a:prstGeom>
          <a:noFill/>
          <a:ln/>
        </p:spPr>
        <p:txBody>
          <a:bodyPr wrap="square" lIns="0" tIns="0" rIns="0" bIns="0" rtlCol="0" anchor="ctr"/>
          <a:lstStyle/>
          <a:p>
            <a:pPr marL="0" indent="0" algn="l">
              <a:buNone/>
            </a:pPr>
            <a:r>
              <a:rPr lang="en-US" sz="850" b="1" dirty="0">
                <a:solidFill>
                  <a:srgbClr val="90A4AE"/>
                </a:solidFill>
              </a:rPr>
              <a:t>Language</a:t>
            </a:r>
            <a:endParaRPr lang="en-US" sz="850" dirty="0"/>
          </a:p>
        </p:txBody>
      </p:sp>
      <p:sp>
        <p:nvSpPr>
          <p:cNvPr id="39" name="Shape 33"/>
          <p:cNvSpPr/>
          <p:nvPr/>
        </p:nvSpPr>
        <p:spPr>
          <a:xfrm>
            <a:off x="5925312" y="2148840"/>
            <a:ext cx="1197864" cy="429768"/>
          </a:xfrm>
          <a:prstGeom prst="rect">
            <a:avLst/>
          </a:prstGeom>
          <a:solidFill>
            <a:srgbClr val="0E1F35"/>
          </a:solidFill>
          <a:ln w="12700">
            <a:solidFill>
              <a:srgbClr val="1F3A55"/>
            </a:solidFill>
            <a:prstDash val="solid"/>
          </a:ln>
        </p:spPr>
      </p:sp>
      <p:sp>
        <p:nvSpPr>
          <p:cNvPr id="40" name="Text 34"/>
          <p:cNvSpPr/>
          <p:nvPr/>
        </p:nvSpPr>
        <p:spPr>
          <a:xfrm>
            <a:off x="5980176" y="2185416"/>
            <a:ext cx="1088136" cy="356616"/>
          </a:xfrm>
          <a:prstGeom prst="rect">
            <a:avLst/>
          </a:prstGeom>
          <a:noFill/>
          <a:ln/>
        </p:spPr>
        <p:txBody>
          <a:bodyPr wrap="square" lIns="0" tIns="0" rIns="0" bIns="0" rtlCol="0" anchor="ctr"/>
          <a:lstStyle/>
          <a:p>
            <a:pPr marL="0" indent="0" algn="l">
              <a:buNone/>
            </a:pPr>
            <a:r>
              <a:rPr lang="en-US" sz="850" dirty="0">
                <a:solidFill>
                  <a:srgbClr val="E8F4FD"/>
                </a:solidFill>
              </a:rPr>
              <a:t>Java (DSL)</a:t>
            </a:r>
            <a:endParaRPr lang="en-US" sz="850" dirty="0"/>
          </a:p>
        </p:txBody>
      </p:sp>
      <p:sp>
        <p:nvSpPr>
          <p:cNvPr id="41" name="Shape 35"/>
          <p:cNvSpPr/>
          <p:nvPr/>
        </p:nvSpPr>
        <p:spPr>
          <a:xfrm>
            <a:off x="7150608" y="2148840"/>
            <a:ext cx="1572768" cy="429768"/>
          </a:xfrm>
          <a:prstGeom prst="rect">
            <a:avLst/>
          </a:prstGeom>
          <a:solidFill>
            <a:srgbClr val="0E1F35"/>
          </a:solidFill>
          <a:ln w="12700">
            <a:solidFill>
              <a:srgbClr val="1F3A55"/>
            </a:solidFill>
            <a:prstDash val="solid"/>
          </a:ln>
        </p:spPr>
      </p:sp>
      <p:sp>
        <p:nvSpPr>
          <p:cNvPr id="42" name="Text 36"/>
          <p:cNvSpPr/>
          <p:nvPr/>
        </p:nvSpPr>
        <p:spPr>
          <a:xfrm>
            <a:off x="7205472" y="2185416"/>
            <a:ext cx="1463040" cy="356616"/>
          </a:xfrm>
          <a:prstGeom prst="rect">
            <a:avLst/>
          </a:prstGeom>
          <a:noFill/>
          <a:ln/>
        </p:spPr>
        <p:txBody>
          <a:bodyPr wrap="square" lIns="0" tIns="0" rIns="0" bIns="0" rtlCol="0" anchor="ctr"/>
          <a:lstStyle/>
          <a:p>
            <a:pPr marL="0" indent="0" algn="l">
              <a:buNone/>
            </a:pPr>
            <a:r>
              <a:rPr lang="en-US" sz="850" dirty="0">
                <a:solidFill>
                  <a:srgbClr val="E8F4FD"/>
                </a:solidFill>
              </a:rPr>
              <a:t>JavaScript / JSON collection</a:t>
            </a:r>
            <a:endParaRPr lang="en-US" sz="850" dirty="0"/>
          </a:p>
        </p:txBody>
      </p:sp>
      <p:sp>
        <p:nvSpPr>
          <p:cNvPr id="43" name="Shape 37"/>
          <p:cNvSpPr/>
          <p:nvPr/>
        </p:nvSpPr>
        <p:spPr>
          <a:xfrm>
            <a:off x="4617720" y="2633472"/>
            <a:ext cx="1280160" cy="429768"/>
          </a:xfrm>
          <a:prstGeom prst="rect">
            <a:avLst/>
          </a:prstGeom>
          <a:solidFill>
            <a:srgbClr val="112233"/>
          </a:solidFill>
          <a:ln w="12700">
            <a:solidFill>
              <a:srgbClr val="1F3A55"/>
            </a:solidFill>
            <a:prstDash val="solid"/>
          </a:ln>
        </p:spPr>
      </p:sp>
      <p:sp>
        <p:nvSpPr>
          <p:cNvPr id="44" name="Text 38"/>
          <p:cNvSpPr/>
          <p:nvPr/>
        </p:nvSpPr>
        <p:spPr>
          <a:xfrm>
            <a:off x="4672584" y="2670048"/>
            <a:ext cx="1170432" cy="356616"/>
          </a:xfrm>
          <a:prstGeom prst="rect">
            <a:avLst/>
          </a:prstGeom>
          <a:noFill/>
          <a:ln/>
        </p:spPr>
        <p:txBody>
          <a:bodyPr wrap="square" lIns="0" tIns="0" rIns="0" bIns="0" rtlCol="0" anchor="ctr"/>
          <a:lstStyle/>
          <a:p>
            <a:pPr marL="0" indent="0" algn="l">
              <a:buNone/>
            </a:pPr>
            <a:r>
              <a:rPr lang="en-US" sz="850" b="1" dirty="0">
                <a:solidFill>
                  <a:srgbClr val="90A4AE"/>
                </a:solidFill>
              </a:rPr>
              <a:t>Best for</a:t>
            </a:r>
            <a:endParaRPr lang="en-US" sz="850" dirty="0"/>
          </a:p>
        </p:txBody>
      </p:sp>
      <p:sp>
        <p:nvSpPr>
          <p:cNvPr id="45" name="Shape 39"/>
          <p:cNvSpPr/>
          <p:nvPr/>
        </p:nvSpPr>
        <p:spPr>
          <a:xfrm>
            <a:off x="5925312" y="2633472"/>
            <a:ext cx="1197864" cy="429768"/>
          </a:xfrm>
          <a:prstGeom prst="rect">
            <a:avLst/>
          </a:prstGeom>
          <a:solidFill>
            <a:srgbClr val="112233"/>
          </a:solidFill>
          <a:ln w="12700">
            <a:solidFill>
              <a:srgbClr val="1F3A55"/>
            </a:solidFill>
            <a:prstDash val="solid"/>
          </a:ln>
        </p:spPr>
      </p:sp>
      <p:sp>
        <p:nvSpPr>
          <p:cNvPr id="46" name="Text 40"/>
          <p:cNvSpPr/>
          <p:nvPr/>
        </p:nvSpPr>
        <p:spPr>
          <a:xfrm>
            <a:off x="5980176" y="2670048"/>
            <a:ext cx="1088136" cy="356616"/>
          </a:xfrm>
          <a:prstGeom prst="rect">
            <a:avLst/>
          </a:prstGeom>
          <a:noFill/>
          <a:ln/>
        </p:spPr>
        <p:txBody>
          <a:bodyPr wrap="square" lIns="0" tIns="0" rIns="0" bIns="0" rtlCol="0" anchor="ctr"/>
          <a:lstStyle/>
          <a:p>
            <a:pPr marL="0" indent="0" algn="l">
              <a:buNone/>
            </a:pPr>
            <a:r>
              <a:rPr lang="en-US" sz="850" dirty="0">
                <a:solidFill>
                  <a:srgbClr val="E8F4FD"/>
                </a:solidFill>
              </a:rPr>
              <a:t>Java codebases, CI-native</a:t>
            </a:r>
            <a:endParaRPr lang="en-US" sz="850" dirty="0"/>
          </a:p>
        </p:txBody>
      </p:sp>
      <p:sp>
        <p:nvSpPr>
          <p:cNvPr id="47" name="Shape 41"/>
          <p:cNvSpPr/>
          <p:nvPr/>
        </p:nvSpPr>
        <p:spPr>
          <a:xfrm>
            <a:off x="7150608" y="2633472"/>
            <a:ext cx="1572768" cy="429768"/>
          </a:xfrm>
          <a:prstGeom prst="rect">
            <a:avLst/>
          </a:prstGeom>
          <a:solidFill>
            <a:srgbClr val="112233"/>
          </a:solidFill>
          <a:ln w="12700">
            <a:solidFill>
              <a:srgbClr val="1F3A55"/>
            </a:solidFill>
            <a:prstDash val="solid"/>
          </a:ln>
        </p:spPr>
      </p:sp>
      <p:sp>
        <p:nvSpPr>
          <p:cNvPr id="48" name="Text 42"/>
          <p:cNvSpPr/>
          <p:nvPr/>
        </p:nvSpPr>
        <p:spPr>
          <a:xfrm>
            <a:off x="7205472" y="2670048"/>
            <a:ext cx="1463040" cy="356616"/>
          </a:xfrm>
          <a:prstGeom prst="rect">
            <a:avLst/>
          </a:prstGeom>
          <a:noFill/>
          <a:ln/>
        </p:spPr>
        <p:txBody>
          <a:bodyPr wrap="square" lIns="0" tIns="0" rIns="0" bIns="0" rtlCol="0" anchor="ctr"/>
          <a:lstStyle/>
          <a:p>
            <a:pPr marL="0" indent="0" algn="l">
              <a:buNone/>
            </a:pPr>
            <a:r>
              <a:rPr lang="en-US" sz="850" dirty="0">
                <a:solidFill>
                  <a:srgbClr val="E8F4FD"/>
                </a:solidFill>
              </a:rPr>
              <a:t>GUI exploration + CI via Newman</a:t>
            </a:r>
            <a:endParaRPr lang="en-US" sz="850" dirty="0"/>
          </a:p>
        </p:txBody>
      </p:sp>
      <p:sp>
        <p:nvSpPr>
          <p:cNvPr id="49" name="Shape 43"/>
          <p:cNvSpPr/>
          <p:nvPr/>
        </p:nvSpPr>
        <p:spPr>
          <a:xfrm>
            <a:off x="4617720" y="3118104"/>
            <a:ext cx="1280160" cy="429768"/>
          </a:xfrm>
          <a:prstGeom prst="rect">
            <a:avLst/>
          </a:prstGeom>
          <a:solidFill>
            <a:srgbClr val="0E1F35"/>
          </a:solidFill>
          <a:ln w="12700">
            <a:solidFill>
              <a:srgbClr val="1F3A55"/>
            </a:solidFill>
            <a:prstDash val="solid"/>
          </a:ln>
        </p:spPr>
      </p:sp>
      <p:sp>
        <p:nvSpPr>
          <p:cNvPr id="50" name="Text 44"/>
          <p:cNvSpPr/>
          <p:nvPr/>
        </p:nvSpPr>
        <p:spPr>
          <a:xfrm>
            <a:off x="4672584" y="3154680"/>
            <a:ext cx="1170432" cy="356616"/>
          </a:xfrm>
          <a:prstGeom prst="rect">
            <a:avLst/>
          </a:prstGeom>
          <a:noFill/>
          <a:ln/>
        </p:spPr>
        <p:txBody>
          <a:bodyPr wrap="square" lIns="0" tIns="0" rIns="0" bIns="0" rtlCol="0" anchor="ctr"/>
          <a:lstStyle/>
          <a:p>
            <a:pPr marL="0" indent="0" algn="l">
              <a:buNone/>
            </a:pPr>
            <a:r>
              <a:rPr lang="en-US" sz="850" b="1" dirty="0">
                <a:solidFill>
                  <a:srgbClr val="90A4AE"/>
                </a:solidFill>
              </a:rPr>
              <a:t>Version control</a:t>
            </a:r>
            <a:endParaRPr lang="en-US" sz="850" dirty="0"/>
          </a:p>
        </p:txBody>
      </p:sp>
      <p:sp>
        <p:nvSpPr>
          <p:cNvPr id="51" name="Shape 45"/>
          <p:cNvSpPr/>
          <p:nvPr/>
        </p:nvSpPr>
        <p:spPr>
          <a:xfrm>
            <a:off x="5925312" y="3118104"/>
            <a:ext cx="1197864" cy="429768"/>
          </a:xfrm>
          <a:prstGeom prst="rect">
            <a:avLst/>
          </a:prstGeom>
          <a:solidFill>
            <a:srgbClr val="0E1F35"/>
          </a:solidFill>
          <a:ln w="12700">
            <a:solidFill>
              <a:srgbClr val="1F3A55"/>
            </a:solidFill>
            <a:prstDash val="solid"/>
          </a:ln>
        </p:spPr>
      </p:sp>
      <p:sp>
        <p:nvSpPr>
          <p:cNvPr id="52" name="Text 46"/>
          <p:cNvSpPr/>
          <p:nvPr/>
        </p:nvSpPr>
        <p:spPr>
          <a:xfrm>
            <a:off x="5980176" y="3154680"/>
            <a:ext cx="1088136" cy="356616"/>
          </a:xfrm>
          <a:prstGeom prst="rect">
            <a:avLst/>
          </a:prstGeom>
          <a:noFill/>
          <a:ln/>
        </p:spPr>
        <p:txBody>
          <a:bodyPr wrap="square" lIns="0" tIns="0" rIns="0" bIns="0" rtlCol="0" anchor="ctr"/>
          <a:lstStyle/>
          <a:p>
            <a:pPr marL="0" indent="0" algn="l">
              <a:buNone/>
            </a:pPr>
            <a:r>
              <a:rPr lang="en-US" sz="850" dirty="0">
                <a:solidFill>
                  <a:srgbClr val="E8F4FD"/>
                </a:solidFill>
              </a:rPr>
              <a:t>Code in Git natively</a:t>
            </a:r>
            <a:endParaRPr lang="en-US" sz="850" dirty="0"/>
          </a:p>
        </p:txBody>
      </p:sp>
      <p:sp>
        <p:nvSpPr>
          <p:cNvPr id="53" name="Shape 47"/>
          <p:cNvSpPr/>
          <p:nvPr/>
        </p:nvSpPr>
        <p:spPr>
          <a:xfrm>
            <a:off x="7150608" y="3118104"/>
            <a:ext cx="1572768" cy="429768"/>
          </a:xfrm>
          <a:prstGeom prst="rect">
            <a:avLst/>
          </a:prstGeom>
          <a:solidFill>
            <a:srgbClr val="0E1F35"/>
          </a:solidFill>
          <a:ln w="12700">
            <a:solidFill>
              <a:srgbClr val="1F3A55"/>
            </a:solidFill>
            <a:prstDash val="solid"/>
          </a:ln>
        </p:spPr>
      </p:sp>
      <p:sp>
        <p:nvSpPr>
          <p:cNvPr id="54" name="Text 48"/>
          <p:cNvSpPr/>
          <p:nvPr/>
        </p:nvSpPr>
        <p:spPr>
          <a:xfrm>
            <a:off x="7205472" y="3154680"/>
            <a:ext cx="1463040" cy="356616"/>
          </a:xfrm>
          <a:prstGeom prst="rect">
            <a:avLst/>
          </a:prstGeom>
          <a:noFill/>
          <a:ln/>
        </p:spPr>
        <p:txBody>
          <a:bodyPr wrap="square" lIns="0" tIns="0" rIns="0" bIns="0" rtlCol="0" anchor="ctr"/>
          <a:lstStyle/>
          <a:p>
            <a:pPr marL="0" indent="0" algn="l">
              <a:buNone/>
            </a:pPr>
            <a:r>
              <a:rPr lang="en-US" sz="850" dirty="0">
                <a:solidFill>
                  <a:srgbClr val="E8F4FD"/>
                </a:solidFill>
              </a:rPr>
              <a:t>Export JSON + commit</a:t>
            </a:r>
            <a:endParaRPr lang="en-US" sz="850" dirty="0"/>
          </a:p>
        </p:txBody>
      </p:sp>
      <p:sp>
        <p:nvSpPr>
          <p:cNvPr id="55" name="Shape 49"/>
          <p:cNvSpPr/>
          <p:nvPr/>
        </p:nvSpPr>
        <p:spPr>
          <a:xfrm>
            <a:off x="4617720" y="3602736"/>
            <a:ext cx="1280160" cy="429768"/>
          </a:xfrm>
          <a:prstGeom prst="rect">
            <a:avLst/>
          </a:prstGeom>
          <a:solidFill>
            <a:srgbClr val="112233"/>
          </a:solidFill>
          <a:ln w="12700">
            <a:solidFill>
              <a:srgbClr val="1F3A55"/>
            </a:solidFill>
            <a:prstDash val="solid"/>
          </a:ln>
        </p:spPr>
      </p:sp>
      <p:sp>
        <p:nvSpPr>
          <p:cNvPr id="56" name="Text 50"/>
          <p:cNvSpPr/>
          <p:nvPr/>
        </p:nvSpPr>
        <p:spPr>
          <a:xfrm>
            <a:off x="4672584" y="3639312"/>
            <a:ext cx="1170432" cy="356616"/>
          </a:xfrm>
          <a:prstGeom prst="rect">
            <a:avLst/>
          </a:prstGeom>
          <a:noFill/>
          <a:ln/>
        </p:spPr>
        <p:txBody>
          <a:bodyPr wrap="square" lIns="0" tIns="0" rIns="0" bIns="0" rtlCol="0" anchor="ctr"/>
          <a:lstStyle/>
          <a:p>
            <a:pPr marL="0" indent="0" algn="l">
              <a:buNone/>
            </a:pPr>
            <a:r>
              <a:rPr lang="en-US" sz="850" b="1" dirty="0">
                <a:solidFill>
                  <a:srgbClr val="90A4AE"/>
                </a:solidFill>
              </a:rPr>
              <a:t>CI execution</a:t>
            </a:r>
            <a:endParaRPr lang="en-US" sz="850" dirty="0"/>
          </a:p>
        </p:txBody>
      </p:sp>
      <p:sp>
        <p:nvSpPr>
          <p:cNvPr id="57" name="Shape 51"/>
          <p:cNvSpPr/>
          <p:nvPr/>
        </p:nvSpPr>
        <p:spPr>
          <a:xfrm>
            <a:off x="5925312" y="3602736"/>
            <a:ext cx="1197864" cy="429768"/>
          </a:xfrm>
          <a:prstGeom prst="rect">
            <a:avLst/>
          </a:prstGeom>
          <a:solidFill>
            <a:srgbClr val="112233"/>
          </a:solidFill>
          <a:ln w="12700">
            <a:solidFill>
              <a:srgbClr val="1F3A55"/>
            </a:solidFill>
            <a:prstDash val="solid"/>
          </a:ln>
        </p:spPr>
      </p:sp>
      <p:sp>
        <p:nvSpPr>
          <p:cNvPr id="58" name="Text 52"/>
          <p:cNvSpPr/>
          <p:nvPr/>
        </p:nvSpPr>
        <p:spPr>
          <a:xfrm>
            <a:off x="5980176" y="3639312"/>
            <a:ext cx="1088136" cy="356616"/>
          </a:xfrm>
          <a:prstGeom prst="rect">
            <a:avLst/>
          </a:prstGeom>
          <a:noFill/>
          <a:ln/>
        </p:spPr>
        <p:txBody>
          <a:bodyPr wrap="square" lIns="0" tIns="0" rIns="0" bIns="0" rtlCol="0" anchor="ctr"/>
          <a:lstStyle/>
          <a:p>
            <a:pPr marL="0" indent="0" algn="l">
              <a:buNone/>
            </a:pPr>
            <a:r>
              <a:rPr lang="en-US" sz="850" dirty="0">
                <a:solidFill>
                  <a:srgbClr val="E8F4FD"/>
                </a:solidFill>
              </a:rPr>
              <a:t>mvn test / ./gradlew test</a:t>
            </a:r>
            <a:endParaRPr lang="en-US" sz="850" dirty="0"/>
          </a:p>
        </p:txBody>
      </p:sp>
      <p:sp>
        <p:nvSpPr>
          <p:cNvPr id="59" name="Shape 53"/>
          <p:cNvSpPr/>
          <p:nvPr/>
        </p:nvSpPr>
        <p:spPr>
          <a:xfrm>
            <a:off x="7150608" y="3602736"/>
            <a:ext cx="1572768" cy="429768"/>
          </a:xfrm>
          <a:prstGeom prst="rect">
            <a:avLst/>
          </a:prstGeom>
          <a:solidFill>
            <a:srgbClr val="112233"/>
          </a:solidFill>
          <a:ln w="12700">
            <a:solidFill>
              <a:srgbClr val="1F3A55"/>
            </a:solidFill>
            <a:prstDash val="solid"/>
          </a:ln>
        </p:spPr>
      </p:sp>
      <p:sp>
        <p:nvSpPr>
          <p:cNvPr id="60" name="Text 54"/>
          <p:cNvSpPr/>
          <p:nvPr/>
        </p:nvSpPr>
        <p:spPr>
          <a:xfrm>
            <a:off x="7205472" y="3639312"/>
            <a:ext cx="1463040" cy="356616"/>
          </a:xfrm>
          <a:prstGeom prst="rect">
            <a:avLst/>
          </a:prstGeom>
          <a:noFill/>
          <a:ln/>
        </p:spPr>
        <p:txBody>
          <a:bodyPr wrap="square" lIns="0" tIns="0" rIns="0" bIns="0" rtlCol="0" anchor="ctr"/>
          <a:lstStyle/>
          <a:p>
            <a:pPr marL="0" indent="0" algn="l">
              <a:buNone/>
            </a:pPr>
            <a:r>
              <a:rPr lang="en-US" sz="850" dirty="0">
                <a:solidFill>
                  <a:srgbClr val="E8F4FD"/>
                </a:solidFill>
              </a:rPr>
              <a:t>newman run collection.json</a:t>
            </a:r>
            <a:endParaRPr lang="en-US" sz="850" dirty="0"/>
          </a:p>
        </p:txBody>
      </p:sp>
      <p:sp>
        <p:nvSpPr>
          <p:cNvPr id="61" name="Shape 55"/>
          <p:cNvSpPr/>
          <p:nvPr/>
        </p:nvSpPr>
        <p:spPr>
          <a:xfrm>
            <a:off x="4617720" y="4087368"/>
            <a:ext cx="1280160" cy="429768"/>
          </a:xfrm>
          <a:prstGeom prst="rect">
            <a:avLst/>
          </a:prstGeom>
          <a:solidFill>
            <a:srgbClr val="0E1F35"/>
          </a:solidFill>
          <a:ln w="12700">
            <a:solidFill>
              <a:srgbClr val="1F3A55"/>
            </a:solidFill>
            <a:prstDash val="solid"/>
          </a:ln>
        </p:spPr>
      </p:sp>
      <p:sp>
        <p:nvSpPr>
          <p:cNvPr id="62" name="Text 56"/>
          <p:cNvSpPr/>
          <p:nvPr/>
        </p:nvSpPr>
        <p:spPr>
          <a:xfrm>
            <a:off x="4672584" y="4123944"/>
            <a:ext cx="1170432" cy="356616"/>
          </a:xfrm>
          <a:prstGeom prst="rect">
            <a:avLst/>
          </a:prstGeom>
          <a:noFill/>
          <a:ln/>
        </p:spPr>
        <p:txBody>
          <a:bodyPr wrap="square" lIns="0" tIns="0" rIns="0" bIns="0" rtlCol="0" anchor="ctr"/>
          <a:lstStyle/>
          <a:p>
            <a:pPr marL="0" indent="0" algn="l">
              <a:buNone/>
            </a:pPr>
            <a:r>
              <a:rPr lang="en-US" sz="850" b="1" dirty="0">
                <a:solidFill>
                  <a:srgbClr val="90A4AE"/>
                </a:solidFill>
              </a:rPr>
              <a:t>Assertions</a:t>
            </a:r>
            <a:endParaRPr lang="en-US" sz="850" dirty="0"/>
          </a:p>
        </p:txBody>
      </p:sp>
      <p:sp>
        <p:nvSpPr>
          <p:cNvPr id="63" name="Shape 57"/>
          <p:cNvSpPr/>
          <p:nvPr/>
        </p:nvSpPr>
        <p:spPr>
          <a:xfrm>
            <a:off x="5925312" y="4087368"/>
            <a:ext cx="1197864" cy="429768"/>
          </a:xfrm>
          <a:prstGeom prst="rect">
            <a:avLst/>
          </a:prstGeom>
          <a:solidFill>
            <a:srgbClr val="0E1F35"/>
          </a:solidFill>
          <a:ln w="12700">
            <a:solidFill>
              <a:srgbClr val="1F3A55"/>
            </a:solidFill>
            <a:prstDash val="solid"/>
          </a:ln>
        </p:spPr>
      </p:sp>
      <p:sp>
        <p:nvSpPr>
          <p:cNvPr id="64" name="Text 58"/>
          <p:cNvSpPr/>
          <p:nvPr/>
        </p:nvSpPr>
        <p:spPr>
          <a:xfrm>
            <a:off x="5980176" y="4123944"/>
            <a:ext cx="1088136" cy="356616"/>
          </a:xfrm>
          <a:prstGeom prst="rect">
            <a:avLst/>
          </a:prstGeom>
          <a:noFill/>
          <a:ln/>
        </p:spPr>
        <p:txBody>
          <a:bodyPr wrap="square" lIns="0" tIns="0" rIns="0" bIns="0" rtlCol="0" anchor="ctr"/>
          <a:lstStyle/>
          <a:p>
            <a:pPr marL="0" indent="0" algn="l">
              <a:buNone/>
            </a:pPr>
            <a:r>
              <a:rPr lang="en-US" sz="850" dirty="0">
                <a:solidFill>
                  <a:srgbClr val="E8F4FD"/>
                </a:solidFill>
              </a:rPr>
              <a:t>Hamcrest / AssertJ</a:t>
            </a:r>
            <a:endParaRPr lang="en-US" sz="850" dirty="0"/>
          </a:p>
        </p:txBody>
      </p:sp>
      <p:sp>
        <p:nvSpPr>
          <p:cNvPr id="65" name="Shape 59"/>
          <p:cNvSpPr/>
          <p:nvPr/>
        </p:nvSpPr>
        <p:spPr>
          <a:xfrm>
            <a:off x="7150608" y="4087368"/>
            <a:ext cx="1572768" cy="429768"/>
          </a:xfrm>
          <a:prstGeom prst="rect">
            <a:avLst/>
          </a:prstGeom>
          <a:solidFill>
            <a:srgbClr val="0E1F35"/>
          </a:solidFill>
          <a:ln w="12700">
            <a:solidFill>
              <a:srgbClr val="1F3A55"/>
            </a:solidFill>
            <a:prstDash val="solid"/>
          </a:ln>
        </p:spPr>
      </p:sp>
      <p:sp>
        <p:nvSpPr>
          <p:cNvPr id="66" name="Text 60"/>
          <p:cNvSpPr/>
          <p:nvPr/>
        </p:nvSpPr>
        <p:spPr>
          <a:xfrm>
            <a:off x="7205472" y="4123944"/>
            <a:ext cx="1463040" cy="356616"/>
          </a:xfrm>
          <a:prstGeom prst="rect">
            <a:avLst/>
          </a:prstGeom>
          <a:noFill/>
          <a:ln/>
        </p:spPr>
        <p:txBody>
          <a:bodyPr wrap="square" lIns="0" tIns="0" rIns="0" bIns="0" rtlCol="0" anchor="ctr"/>
          <a:lstStyle/>
          <a:p>
            <a:pPr marL="0" indent="0" algn="l">
              <a:buNone/>
            </a:pPr>
            <a:r>
              <a:rPr lang="en-US" sz="850" dirty="0">
                <a:solidFill>
                  <a:srgbClr val="E8F4FD"/>
                </a:solidFill>
              </a:rPr>
              <a:t>Postman test scripts (JS)</a:t>
            </a:r>
            <a:endParaRPr lang="en-US" sz="850" dirty="0"/>
          </a:p>
        </p:txBody>
      </p:sp>
      <p:sp>
        <p:nvSpPr>
          <p:cNvPr id="67" name="Shape 61"/>
          <p:cNvSpPr/>
          <p:nvPr/>
        </p:nvSpPr>
        <p:spPr>
          <a:xfrm>
            <a:off x="4617720" y="4572000"/>
            <a:ext cx="1280160" cy="429768"/>
          </a:xfrm>
          <a:prstGeom prst="rect">
            <a:avLst/>
          </a:prstGeom>
          <a:solidFill>
            <a:srgbClr val="112233"/>
          </a:solidFill>
          <a:ln w="12700">
            <a:solidFill>
              <a:srgbClr val="1F3A55"/>
            </a:solidFill>
            <a:prstDash val="solid"/>
          </a:ln>
        </p:spPr>
      </p:sp>
      <p:sp>
        <p:nvSpPr>
          <p:cNvPr id="68" name="Text 62"/>
          <p:cNvSpPr/>
          <p:nvPr/>
        </p:nvSpPr>
        <p:spPr>
          <a:xfrm>
            <a:off x="4672584" y="4608576"/>
            <a:ext cx="1170432" cy="356616"/>
          </a:xfrm>
          <a:prstGeom prst="rect">
            <a:avLst/>
          </a:prstGeom>
          <a:noFill/>
          <a:ln/>
        </p:spPr>
        <p:txBody>
          <a:bodyPr wrap="square" lIns="0" tIns="0" rIns="0" bIns="0" rtlCol="0" anchor="ctr"/>
          <a:lstStyle/>
          <a:p>
            <a:pPr marL="0" indent="0" algn="l">
              <a:buNone/>
            </a:pPr>
            <a:r>
              <a:rPr lang="en-US" sz="850" b="1" dirty="0">
                <a:solidFill>
                  <a:srgbClr val="90A4AE"/>
                </a:solidFill>
              </a:rPr>
              <a:t>Java 17+ req</a:t>
            </a:r>
            <a:endParaRPr lang="en-US" sz="850" dirty="0"/>
          </a:p>
        </p:txBody>
      </p:sp>
      <p:sp>
        <p:nvSpPr>
          <p:cNvPr id="69" name="Shape 63"/>
          <p:cNvSpPr/>
          <p:nvPr/>
        </p:nvSpPr>
        <p:spPr>
          <a:xfrm>
            <a:off x="5925312" y="4572000"/>
            <a:ext cx="1197864" cy="429768"/>
          </a:xfrm>
          <a:prstGeom prst="rect">
            <a:avLst/>
          </a:prstGeom>
          <a:solidFill>
            <a:srgbClr val="112233"/>
          </a:solidFill>
          <a:ln w="12700">
            <a:solidFill>
              <a:srgbClr val="1F3A55"/>
            </a:solidFill>
            <a:prstDash val="solid"/>
          </a:ln>
        </p:spPr>
      </p:sp>
      <p:sp>
        <p:nvSpPr>
          <p:cNvPr id="70" name="Text 64"/>
          <p:cNvSpPr/>
          <p:nvPr/>
        </p:nvSpPr>
        <p:spPr>
          <a:xfrm>
            <a:off x="5980176" y="4608576"/>
            <a:ext cx="1088136" cy="356616"/>
          </a:xfrm>
          <a:prstGeom prst="rect">
            <a:avLst/>
          </a:prstGeom>
          <a:noFill/>
          <a:ln/>
        </p:spPr>
        <p:txBody>
          <a:bodyPr wrap="square" lIns="0" tIns="0" rIns="0" bIns="0" rtlCol="0" anchor="ctr"/>
          <a:lstStyle/>
          <a:p>
            <a:pPr marL="0" indent="0" algn="l">
              <a:buNone/>
            </a:pPr>
            <a:r>
              <a:rPr lang="en-US" sz="850" dirty="0">
                <a:solidFill>
                  <a:srgbClr val="E8F4FD"/>
                </a:solidFill>
              </a:rPr>
              <a:t>YES (v6.0.0+)</a:t>
            </a:r>
            <a:endParaRPr lang="en-US" sz="850" dirty="0"/>
          </a:p>
        </p:txBody>
      </p:sp>
      <p:sp>
        <p:nvSpPr>
          <p:cNvPr id="71" name="Shape 65"/>
          <p:cNvSpPr/>
          <p:nvPr/>
        </p:nvSpPr>
        <p:spPr>
          <a:xfrm>
            <a:off x="7150608" y="4572000"/>
            <a:ext cx="1572768" cy="429768"/>
          </a:xfrm>
          <a:prstGeom prst="rect">
            <a:avLst/>
          </a:prstGeom>
          <a:solidFill>
            <a:srgbClr val="112233"/>
          </a:solidFill>
          <a:ln w="12700">
            <a:solidFill>
              <a:srgbClr val="1F3A55"/>
            </a:solidFill>
            <a:prstDash val="solid"/>
          </a:ln>
        </p:spPr>
      </p:sp>
      <p:sp>
        <p:nvSpPr>
          <p:cNvPr id="72" name="Text 66"/>
          <p:cNvSpPr/>
          <p:nvPr/>
        </p:nvSpPr>
        <p:spPr>
          <a:xfrm>
            <a:off x="7205472" y="4608576"/>
            <a:ext cx="1463040" cy="356616"/>
          </a:xfrm>
          <a:prstGeom prst="rect">
            <a:avLst/>
          </a:prstGeom>
          <a:noFill/>
          <a:ln/>
        </p:spPr>
        <p:txBody>
          <a:bodyPr wrap="square" lIns="0" tIns="0" rIns="0" bIns="0" rtlCol="0" anchor="ctr"/>
          <a:lstStyle/>
          <a:p>
            <a:pPr marL="0" indent="0" algn="l">
              <a:buNone/>
            </a:pPr>
            <a:r>
              <a:rPr lang="en-US" sz="850" dirty="0">
                <a:solidFill>
                  <a:srgbClr val="E8F4FD"/>
                </a:solidFill>
              </a:rPr>
              <a:t>Node.js runtime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REST ASSURED</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REST Assured 6.0 — Setup &amp; First API Tests</a:t>
            </a:r>
            <a:endParaRPr lang="en-US" sz="2200" dirty="0"/>
          </a:p>
        </p:txBody>
      </p:sp>
      <p:sp>
        <p:nvSpPr>
          <p:cNvPr id="50" name="Shape 48"/>
          <p:cNvSpPr/>
          <p:nvPr/>
        </p:nvSpPr>
        <p:spPr>
          <a:xfrm>
            <a:off x="4617720" y="868680"/>
            <a:ext cx="4160520" cy="292608"/>
          </a:xfrm>
          <a:prstGeom prst="rect">
            <a:avLst/>
          </a:prstGeom>
          <a:solidFill>
            <a:srgbClr val="1565C0"/>
          </a:solidFill>
          <a:ln w="12700">
            <a:solidFill>
              <a:srgbClr val="1565C0"/>
            </a:solidFill>
            <a:prstDash val="solid"/>
          </a:ln>
        </p:spPr>
      </p:sp>
      <p:sp>
        <p:nvSpPr>
          <p:cNvPr id="51" name="Text 49"/>
          <p:cNvSpPr/>
          <p:nvPr/>
        </p:nvSpPr>
        <p:spPr>
          <a:xfrm>
            <a:off x="4617720" y="868680"/>
            <a:ext cx="4160520" cy="292608"/>
          </a:xfrm>
          <a:prstGeom prst="rect">
            <a:avLst/>
          </a:prstGeom>
          <a:noFill/>
          <a:ln/>
        </p:spPr>
        <p:txBody>
          <a:bodyPr wrap="square" lIns="0" tIns="0" rIns="0" bIns="0" rtlCol="0" anchor="ctr"/>
          <a:lstStyle/>
          <a:p>
            <a:pPr marL="0" indent="0" algn="ctr">
              <a:buNone/>
            </a:pPr>
            <a:r>
              <a:rPr lang="en-US" sz="1050" b="1" dirty="0">
                <a:solidFill>
                  <a:srgbClr val="FFFFFF"/>
                </a:solidFill>
              </a:rPr>
              <a:t>REST Assured Key Concepts</a:t>
            </a:r>
            <a:endParaRPr lang="en-US" sz="1050" dirty="0"/>
          </a:p>
        </p:txBody>
      </p:sp>
      <p:sp>
        <p:nvSpPr>
          <p:cNvPr id="52" name="Shape 50"/>
          <p:cNvSpPr/>
          <p:nvPr/>
        </p:nvSpPr>
        <p:spPr>
          <a:xfrm>
            <a:off x="4617720" y="1216152"/>
            <a:ext cx="4160520" cy="713232"/>
          </a:xfrm>
          <a:prstGeom prst="rect">
            <a:avLst/>
          </a:prstGeom>
          <a:solidFill>
            <a:srgbClr val="112233"/>
          </a:solidFill>
          <a:ln w="12700">
            <a:solidFill>
              <a:srgbClr val="00BCD4"/>
            </a:solidFill>
            <a:prstDash val="solid"/>
          </a:ln>
        </p:spPr>
      </p:sp>
      <p:pic>
        <p:nvPicPr>
          <p:cNvPr id="53" name="Image 0" descr="preencoded.png"/>
          <p:cNvPicPr>
            <a:picLocks noChangeAspect="1"/>
          </p:cNvPicPr>
          <p:nvPr/>
        </p:nvPicPr>
        <p:blipFill>
          <a:blip r:embed="rId3"/>
          <a:stretch>
            <a:fillRect/>
          </a:stretch>
        </p:blipFill>
        <p:spPr>
          <a:xfrm>
            <a:off x="4681728" y="1399032"/>
            <a:ext cx="256032" cy="256032"/>
          </a:xfrm>
          <a:prstGeom prst="rect">
            <a:avLst/>
          </a:prstGeom>
        </p:spPr>
      </p:pic>
      <p:sp>
        <p:nvSpPr>
          <p:cNvPr id="54" name="Text 51"/>
          <p:cNvSpPr/>
          <p:nvPr/>
        </p:nvSpPr>
        <p:spPr>
          <a:xfrm>
            <a:off x="5001768" y="1261872"/>
            <a:ext cx="3694176" cy="237744"/>
          </a:xfrm>
          <a:prstGeom prst="rect">
            <a:avLst/>
          </a:prstGeom>
          <a:noFill/>
          <a:ln/>
        </p:spPr>
        <p:txBody>
          <a:bodyPr wrap="square" lIns="0" tIns="0" rIns="0" bIns="0" rtlCol="0" anchor="ctr"/>
          <a:lstStyle/>
          <a:p>
            <a:pPr marL="0" indent="0" algn="l">
              <a:buNone/>
            </a:pPr>
            <a:r>
              <a:rPr lang="en-US" sz="950" b="1" dirty="0">
                <a:solidFill>
                  <a:srgbClr val="00BCD4"/>
                </a:solidFill>
              </a:rPr>
              <a:t>given / when / then DSL</a:t>
            </a:r>
            <a:endParaRPr lang="en-US" sz="950" dirty="0"/>
          </a:p>
        </p:txBody>
      </p:sp>
      <p:sp>
        <p:nvSpPr>
          <p:cNvPr id="55" name="Text 52"/>
          <p:cNvSpPr/>
          <p:nvPr/>
        </p:nvSpPr>
        <p:spPr>
          <a:xfrm>
            <a:off x="5001768" y="1536192"/>
            <a:ext cx="3694176" cy="347472"/>
          </a:xfrm>
          <a:prstGeom prst="rect">
            <a:avLst/>
          </a:prstGeom>
          <a:noFill/>
          <a:ln/>
        </p:spPr>
        <p:txBody>
          <a:bodyPr wrap="square" lIns="0" tIns="0" rIns="0" bIns="0" rtlCol="0" anchor="ctr"/>
          <a:lstStyle/>
          <a:p>
            <a:pPr marL="0" indent="0" algn="l">
              <a:buNone/>
            </a:pPr>
            <a:r>
              <a:rPr lang="en-US" sz="850" dirty="0">
                <a:solidFill>
                  <a:srgbClr val="E8F4FD"/>
                </a:solidFill>
              </a:rPr>
              <a:t>Mirrors BDD syntax. given() sets up request spec (base URI, headers, body, auth). when() fires the HTTP method. then() asserts on the response. Highly readable — tests serve as documentation.</a:t>
            </a:r>
            <a:endParaRPr lang="en-US" sz="850" dirty="0"/>
          </a:p>
        </p:txBody>
      </p:sp>
      <p:sp>
        <p:nvSpPr>
          <p:cNvPr id="56" name="Shape 53"/>
          <p:cNvSpPr/>
          <p:nvPr/>
        </p:nvSpPr>
        <p:spPr>
          <a:xfrm>
            <a:off x="4617720" y="1984248"/>
            <a:ext cx="4160520" cy="713232"/>
          </a:xfrm>
          <a:prstGeom prst="rect">
            <a:avLst/>
          </a:prstGeom>
          <a:solidFill>
            <a:srgbClr val="112233"/>
          </a:solidFill>
          <a:ln w="12700">
            <a:solidFill>
              <a:srgbClr val="00C853"/>
            </a:solidFill>
            <a:prstDash val="solid"/>
          </a:ln>
        </p:spPr>
      </p:sp>
      <p:pic>
        <p:nvPicPr>
          <p:cNvPr id="57" name="Image 1" descr="preencoded.png"/>
          <p:cNvPicPr>
            <a:picLocks noChangeAspect="1"/>
          </p:cNvPicPr>
          <p:nvPr/>
        </p:nvPicPr>
        <p:blipFill>
          <a:blip r:embed="rId4"/>
          <a:stretch>
            <a:fillRect/>
          </a:stretch>
        </p:blipFill>
        <p:spPr>
          <a:xfrm>
            <a:off x="4681728" y="2167128"/>
            <a:ext cx="256032" cy="256032"/>
          </a:xfrm>
          <a:prstGeom prst="rect">
            <a:avLst/>
          </a:prstGeom>
        </p:spPr>
      </p:pic>
      <p:sp>
        <p:nvSpPr>
          <p:cNvPr id="58" name="Text 54"/>
          <p:cNvSpPr/>
          <p:nvPr/>
        </p:nvSpPr>
        <p:spPr>
          <a:xfrm>
            <a:off x="5001768" y="2029968"/>
            <a:ext cx="3694176" cy="237744"/>
          </a:xfrm>
          <a:prstGeom prst="rect">
            <a:avLst/>
          </a:prstGeom>
          <a:noFill/>
          <a:ln/>
        </p:spPr>
        <p:txBody>
          <a:bodyPr wrap="square" lIns="0" tIns="0" rIns="0" bIns="0" rtlCol="0" anchor="ctr"/>
          <a:lstStyle/>
          <a:p>
            <a:pPr marL="0" indent="0" algn="l">
              <a:buNone/>
            </a:pPr>
            <a:r>
              <a:rPr lang="en-US" sz="950" b="1" dirty="0">
                <a:solidFill>
                  <a:srgbClr val="00C853"/>
                </a:solidFill>
              </a:rPr>
              <a:t>RequestSpecification — reuse base config</a:t>
            </a:r>
            <a:endParaRPr lang="en-US" sz="950" dirty="0"/>
          </a:p>
        </p:txBody>
      </p:sp>
      <p:sp>
        <p:nvSpPr>
          <p:cNvPr id="59" name="Text 55"/>
          <p:cNvSpPr/>
          <p:nvPr/>
        </p:nvSpPr>
        <p:spPr>
          <a:xfrm>
            <a:off x="5001768" y="2304288"/>
            <a:ext cx="3694176" cy="347472"/>
          </a:xfrm>
          <a:prstGeom prst="rect">
            <a:avLst/>
          </a:prstGeom>
          <a:noFill/>
          <a:ln/>
        </p:spPr>
        <p:txBody>
          <a:bodyPr wrap="square" lIns="0" tIns="0" rIns="0" bIns="0" rtlCol="0" anchor="ctr"/>
          <a:lstStyle/>
          <a:p>
            <a:pPr marL="0" indent="0" algn="l">
              <a:buNone/>
            </a:pPr>
            <a:r>
              <a:rPr lang="en-US" sz="850" dirty="0">
                <a:solidFill>
                  <a:srgbClr val="E8F4FD"/>
                </a:solidFill>
              </a:rPr>
              <a:t>Extract common config (base URL, auth header, content type) into a shared RequestSpecification. Avoids duplication across all test methods; change once, applies everywhere.</a:t>
            </a:r>
            <a:endParaRPr lang="en-US" sz="850" dirty="0"/>
          </a:p>
        </p:txBody>
      </p:sp>
      <p:sp>
        <p:nvSpPr>
          <p:cNvPr id="60" name="Shape 56"/>
          <p:cNvSpPr/>
          <p:nvPr/>
        </p:nvSpPr>
        <p:spPr>
          <a:xfrm>
            <a:off x="4617720" y="2752344"/>
            <a:ext cx="4160520" cy="713232"/>
          </a:xfrm>
          <a:prstGeom prst="rect">
            <a:avLst/>
          </a:prstGeom>
          <a:solidFill>
            <a:srgbClr val="112233"/>
          </a:solidFill>
          <a:ln w="12700">
            <a:solidFill>
              <a:srgbClr val="FFD600"/>
            </a:solidFill>
            <a:prstDash val="solid"/>
          </a:ln>
        </p:spPr>
      </p:sp>
      <p:pic>
        <p:nvPicPr>
          <p:cNvPr id="61" name="Image 2" descr="preencoded.png"/>
          <p:cNvPicPr>
            <a:picLocks noChangeAspect="1"/>
          </p:cNvPicPr>
          <p:nvPr/>
        </p:nvPicPr>
        <p:blipFill>
          <a:blip r:embed="rId5"/>
          <a:stretch>
            <a:fillRect/>
          </a:stretch>
        </p:blipFill>
        <p:spPr>
          <a:xfrm>
            <a:off x="4681728" y="2935224"/>
            <a:ext cx="256032" cy="256032"/>
          </a:xfrm>
          <a:prstGeom prst="rect">
            <a:avLst/>
          </a:prstGeom>
        </p:spPr>
      </p:pic>
      <p:sp>
        <p:nvSpPr>
          <p:cNvPr id="62" name="Text 57"/>
          <p:cNvSpPr/>
          <p:nvPr/>
        </p:nvSpPr>
        <p:spPr>
          <a:xfrm>
            <a:off x="5001768" y="2798064"/>
            <a:ext cx="3694176" cy="237744"/>
          </a:xfrm>
          <a:prstGeom prst="rect">
            <a:avLst/>
          </a:prstGeom>
          <a:noFill/>
          <a:ln/>
        </p:spPr>
        <p:txBody>
          <a:bodyPr wrap="square" lIns="0" tIns="0" rIns="0" bIns="0" rtlCol="0" anchor="ctr"/>
          <a:lstStyle/>
          <a:p>
            <a:pPr marL="0" indent="0" algn="l">
              <a:buNone/>
            </a:pPr>
            <a:r>
              <a:rPr lang="en-US" sz="950" b="1" dirty="0">
                <a:solidFill>
                  <a:srgbClr val="FFD600"/>
                </a:solidFill>
              </a:rPr>
              <a:t>JSONPath assertions</a:t>
            </a:r>
            <a:endParaRPr lang="en-US" sz="950" dirty="0"/>
          </a:p>
        </p:txBody>
      </p:sp>
      <p:sp>
        <p:nvSpPr>
          <p:cNvPr id="63" name="Text 58"/>
          <p:cNvSpPr/>
          <p:nvPr/>
        </p:nvSpPr>
        <p:spPr>
          <a:xfrm>
            <a:off x="5001768" y="3072384"/>
            <a:ext cx="3694176" cy="347472"/>
          </a:xfrm>
          <a:prstGeom prst="rect">
            <a:avLst/>
          </a:prstGeom>
          <a:noFill/>
          <a:ln/>
        </p:spPr>
        <p:txBody>
          <a:bodyPr wrap="square" lIns="0" tIns="0" rIns="0" bIns="0" rtlCol="0" anchor="ctr"/>
          <a:lstStyle/>
          <a:p>
            <a:pPr marL="0" indent="0" algn="l">
              <a:buNone/>
            </a:pPr>
            <a:r>
              <a:rPr lang="en-US" sz="850" dirty="0">
                <a:solidFill>
                  <a:srgbClr val="E8F4FD"/>
                </a:solidFill>
              </a:rPr>
              <a:t>body("user.name", equalTo("Alice")) navigates nested JSON. body("users.size()", greaterThan(0)) checks array length. body("ids", hasItems(1, 2, 3)) validates list membership.</a:t>
            </a:r>
            <a:endParaRPr lang="en-US" sz="850" dirty="0"/>
          </a:p>
        </p:txBody>
      </p:sp>
      <p:sp>
        <p:nvSpPr>
          <p:cNvPr id="64" name="Shape 59"/>
          <p:cNvSpPr/>
          <p:nvPr/>
        </p:nvSpPr>
        <p:spPr>
          <a:xfrm>
            <a:off x="4617720" y="3520440"/>
            <a:ext cx="4160520" cy="713232"/>
          </a:xfrm>
          <a:prstGeom prst="rect">
            <a:avLst/>
          </a:prstGeom>
          <a:solidFill>
            <a:srgbClr val="112233"/>
          </a:solidFill>
          <a:ln w="12700">
            <a:solidFill>
              <a:srgbClr val="29B6F6"/>
            </a:solidFill>
            <a:prstDash val="solid"/>
          </a:ln>
        </p:spPr>
      </p:sp>
      <p:pic>
        <p:nvPicPr>
          <p:cNvPr id="65" name="Image 3" descr="preencoded.png"/>
          <p:cNvPicPr>
            <a:picLocks noChangeAspect="1"/>
          </p:cNvPicPr>
          <p:nvPr/>
        </p:nvPicPr>
        <p:blipFill>
          <a:blip r:embed="rId6"/>
          <a:stretch>
            <a:fillRect/>
          </a:stretch>
        </p:blipFill>
        <p:spPr>
          <a:xfrm>
            <a:off x="4681728" y="3703320"/>
            <a:ext cx="256032" cy="256032"/>
          </a:xfrm>
          <a:prstGeom prst="rect">
            <a:avLst/>
          </a:prstGeom>
        </p:spPr>
      </p:pic>
      <p:sp>
        <p:nvSpPr>
          <p:cNvPr id="66" name="Text 60"/>
          <p:cNvSpPr/>
          <p:nvPr/>
        </p:nvSpPr>
        <p:spPr>
          <a:xfrm>
            <a:off x="5001768" y="3566160"/>
            <a:ext cx="3694176" cy="237744"/>
          </a:xfrm>
          <a:prstGeom prst="rect">
            <a:avLst/>
          </a:prstGeom>
          <a:noFill/>
          <a:ln/>
        </p:spPr>
        <p:txBody>
          <a:bodyPr wrap="square" lIns="0" tIns="0" rIns="0" bIns="0" rtlCol="0" anchor="ctr"/>
          <a:lstStyle/>
          <a:p>
            <a:pPr marL="0" indent="0" algn="l">
              <a:buNone/>
            </a:pPr>
            <a:r>
              <a:rPr lang="en-US" sz="950" b="1" dirty="0">
                <a:solidFill>
                  <a:srgbClr val="29B6F6"/>
                </a:solidFill>
              </a:rPr>
              <a:t>JSON Schema Validation</a:t>
            </a:r>
            <a:endParaRPr lang="en-US" sz="950" dirty="0"/>
          </a:p>
        </p:txBody>
      </p:sp>
      <p:sp>
        <p:nvSpPr>
          <p:cNvPr id="67" name="Text 61"/>
          <p:cNvSpPr/>
          <p:nvPr/>
        </p:nvSpPr>
        <p:spPr>
          <a:xfrm>
            <a:off x="5001768" y="3840480"/>
            <a:ext cx="3694176" cy="347472"/>
          </a:xfrm>
          <a:prstGeom prst="rect">
            <a:avLst/>
          </a:prstGeom>
          <a:noFill/>
          <a:ln/>
        </p:spPr>
        <p:txBody>
          <a:bodyPr wrap="square" lIns="0" tIns="0" rIns="0" bIns="0" rtlCol="0" anchor="ctr"/>
          <a:lstStyle/>
          <a:p>
            <a:pPr marL="0" indent="0" algn="l">
              <a:buNone/>
            </a:pPr>
            <a:r>
              <a:rPr lang="en-US" sz="850" dirty="0">
                <a:solidFill>
                  <a:srgbClr val="E8F4FD"/>
                </a:solidFill>
              </a:rPr>
              <a:t>matchesJsonSchemaInClasspath("schemas/user-schema.json") validates response structure against a JSON Schema file — ensures contract compliance beyond individual field assertions.</a:t>
            </a:r>
            <a:endParaRPr lang="en-US" sz="850" dirty="0"/>
          </a:p>
        </p:txBody>
      </p:sp>
      <p:sp>
        <p:nvSpPr>
          <p:cNvPr id="68" name="Shape 62"/>
          <p:cNvSpPr/>
          <p:nvPr/>
        </p:nvSpPr>
        <p:spPr>
          <a:xfrm>
            <a:off x="4617720" y="4288536"/>
            <a:ext cx="4160520" cy="713232"/>
          </a:xfrm>
          <a:prstGeom prst="rect">
            <a:avLst/>
          </a:prstGeom>
          <a:solidFill>
            <a:srgbClr val="112233"/>
          </a:solidFill>
          <a:ln w="12700">
            <a:solidFill>
              <a:srgbClr val="00897B"/>
            </a:solidFill>
            <a:prstDash val="solid"/>
          </a:ln>
        </p:spPr>
      </p:sp>
      <p:pic>
        <p:nvPicPr>
          <p:cNvPr id="69" name="Image 4" descr="preencoded.png"/>
          <p:cNvPicPr>
            <a:picLocks noChangeAspect="1"/>
          </p:cNvPicPr>
          <p:nvPr/>
        </p:nvPicPr>
        <p:blipFill>
          <a:blip r:embed="rId7"/>
          <a:stretch>
            <a:fillRect/>
          </a:stretch>
        </p:blipFill>
        <p:spPr>
          <a:xfrm>
            <a:off x="4681728" y="4471416"/>
            <a:ext cx="256032" cy="256032"/>
          </a:xfrm>
          <a:prstGeom prst="rect">
            <a:avLst/>
          </a:prstGeom>
        </p:spPr>
      </p:pic>
      <p:sp>
        <p:nvSpPr>
          <p:cNvPr id="70" name="Text 63"/>
          <p:cNvSpPr/>
          <p:nvPr/>
        </p:nvSpPr>
        <p:spPr>
          <a:xfrm>
            <a:off x="5001768" y="4334256"/>
            <a:ext cx="3694176" cy="237744"/>
          </a:xfrm>
          <a:prstGeom prst="rect">
            <a:avLst/>
          </a:prstGeom>
          <a:noFill/>
          <a:ln/>
        </p:spPr>
        <p:txBody>
          <a:bodyPr wrap="square" lIns="0" tIns="0" rIns="0" bIns="0" rtlCol="0" anchor="ctr"/>
          <a:lstStyle/>
          <a:p>
            <a:pPr marL="0" indent="0" algn="l">
              <a:buNone/>
            </a:pPr>
            <a:r>
              <a:rPr lang="en-US" sz="950" b="1" dirty="0">
                <a:solidFill>
                  <a:srgbClr val="00897B"/>
                </a:solidFill>
              </a:rPr>
              <a:t>v6.0.0 — Java 17+ required</a:t>
            </a:r>
            <a:endParaRPr lang="en-US" sz="950" dirty="0"/>
          </a:p>
        </p:txBody>
      </p:sp>
      <p:sp>
        <p:nvSpPr>
          <p:cNvPr id="71" name="Text 64"/>
          <p:cNvSpPr/>
          <p:nvPr/>
        </p:nvSpPr>
        <p:spPr>
          <a:xfrm>
            <a:off x="5001768" y="4608576"/>
            <a:ext cx="3694176" cy="347472"/>
          </a:xfrm>
          <a:prstGeom prst="rect">
            <a:avLst/>
          </a:prstGeom>
          <a:noFill/>
          <a:ln/>
        </p:spPr>
        <p:txBody>
          <a:bodyPr wrap="square" lIns="0" tIns="0" rIns="0" bIns="0" rtlCol="0" anchor="ctr"/>
          <a:lstStyle/>
          <a:p>
            <a:pPr marL="0" indent="0" algn="l">
              <a:buNone/>
            </a:pPr>
            <a:r>
              <a:rPr lang="en-US" sz="850" dirty="0">
                <a:solidFill>
                  <a:srgbClr val="E8F4FD"/>
                </a:solidFill>
              </a:rPr>
              <a:t>Released Dec 2025. Raises baseline to Java 17, upgrades to Groovy 5, adds Spring 7 + Jackson 3 support. Use v5.5.x for Java 11 compatibility (LTS backport available).</a:t>
            </a:r>
            <a:endParaRPr lang="en-US" sz="850" dirty="0"/>
          </a:p>
        </p:txBody>
      </p:sp>
      <p:sp>
        <p:nvSpPr>
          <p:cNvPr id="200" name="CodeBlock1"/>
          <p:cNvSpPr>
            <a:spLocks noGrp="1"/>
          </p:cNvSpPr>
          <p:nvPr/>
        </p:nvSpPr>
        <p:spPr>
          <a:xfrm>
            <a:off x="368300" y="863599"/>
            <a:ext cx="4025900" cy="4174745"/>
          </a:xfrm>
          <a:prstGeom prst="rect">
            <a:avLst/>
          </a:prstGeom>
          <a:solidFill>
            <a:srgbClr val="1E2A36"/>
          </a:solidFill>
          <a:ln>
            <a:noFill/>
          </a:ln>
        </p:spPr>
        <p:txBody>
          <a:bodyPr wrap="square" lIns="91440" tIns="45720" rIns="91440" bIns="45720" anchor="t">
            <a:normAutofit/>
          </a:bodyPr>
          <a:lstStyle/>
          <a:p>
            <a:pPr marL="0" indent="0" algn="l">
              <a:buNone/>
            </a:pPr>
            <a:endParaRPr lang="en-US" sz="900" dirty="0">
              <a:solidFill>
                <a:srgbClr val="E8F4FD"/>
              </a:solidFill>
              <a:latin typeface="Courier New" pitchFamily="34" charset="0"/>
              <a:ea typeface="Courier New" pitchFamily="34" charset="-122"/>
              <a:cs typeface="Courier New" pitchFamily="34" charset="-120"/>
            </a:endParaRPr>
          </a:p>
        </p:txBody>
      </p:sp>
      <p:sp>
        <p:nvSpPr>
          <p:cNvPr id="9" name="TextBox 8">
            <a:extLst>
              <a:ext uri="{FF2B5EF4-FFF2-40B4-BE49-F238E27FC236}">
                <a16:creationId xmlns:a16="http://schemas.microsoft.com/office/drawing/2014/main" id="{2FDCBB63-D1F3-DB76-C32C-623D37FB27C1}"/>
              </a:ext>
            </a:extLst>
          </p:cNvPr>
          <p:cNvSpPr txBox="1"/>
          <p:nvPr/>
        </p:nvSpPr>
        <p:spPr>
          <a:xfrm>
            <a:off x="448056" y="931366"/>
            <a:ext cx="3854437" cy="4154984"/>
          </a:xfrm>
          <a:prstGeom prst="rect">
            <a:avLst/>
          </a:prstGeom>
          <a:noFill/>
        </p:spPr>
        <p:txBody>
          <a:bodyPr wrap="square" rtlCol="0">
            <a:spAutoFit/>
          </a:bodyPr>
          <a:lstStyle/>
          <a:p>
            <a:pPr marL="0" indent="0" algn="l">
              <a:buNone/>
            </a:pPr>
            <a:r>
              <a:rPr lang="en-US" sz="600" b="1" dirty="0" err="1">
                <a:solidFill>
                  <a:srgbClr val="90A4AE"/>
                </a:solidFill>
              </a:rPr>
              <a:t>pom.xml</a:t>
            </a:r>
            <a:r>
              <a:rPr lang="en-US" sz="600" b="1" dirty="0">
                <a:solidFill>
                  <a:srgbClr val="90A4AE"/>
                </a:solidFill>
              </a:rPr>
              <a:t> — REST Assured 6.0.0 dependencies</a:t>
            </a:r>
          </a:p>
          <a:p>
            <a:pPr marL="0" indent="0" algn="l">
              <a:buNone/>
            </a:pPr>
            <a:r>
              <a:rPr lang="en-US" sz="700" dirty="0">
                <a:solidFill>
                  <a:srgbClr val="E8F4FD"/>
                </a:solidFill>
                <a:latin typeface="Courier New" pitchFamily="34" charset="0"/>
                <a:ea typeface="Courier New" pitchFamily="34" charset="-122"/>
                <a:cs typeface="Courier New" pitchFamily="34" charset="-120"/>
              </a:rPr>
              <a:t>&lt;dependency&gt;</a:t>
            </a:r>
          </a:p>
          <a:p>
            <a:pPr marL="0" indent="0" algn="l">
              <a:buNone/>
            </a:pPr>
            <a:r>
              <a:rPr lang="en-US" sz="700" dirty="0">
                <a:solidFill>
                  <a:srgbClr val="E8F4FD"/>
                </a:solidFill>
                <a:latin typeface="Courier New" pitchFamily="34" charset="0"/>
                <a:ea typeface="Courier New" pitchFamily="34" charset="-122"/>
                <a:cs typeface="Courier New" pitchFamily="34" charset="-120"/>
              </a:rPr>
              <a:t>  &lt;</a:t>
            </a:r>
            <a:r>
              <a:rPr lang="en-US" sz="700" dirty="0" err="1">
                <a:solidFill>
                  <a:srgbClr val="E8F4FD"/>
                </a:solidFill>
                <a:latin typeface="Courier New" pitchFamily="34" charset="0"/>
                <a:ea typeface="Courier New" pitchFamily="34" charset="-122"/>
                <a:cs typeface="Courier New" pitchFamily="34" charset="-120"/>
              </a:rPr>
              <a:t>groupId</a:t>
            </a:r>
            <a:r>
              <a:rPr lang="en-US" sz="700" dirty="0">
                <a:solidFill>
                  <a:srgbClr val="E8F4FD"/>
                </a:solidFill>
                <a:latin typeface="Courier New" pitchFamily="34" charset="0"/>
                <a:ea typeface="Courier New" pitchFamily="34" charset="-122"/>
                <a:cs typeface="Courier New" pitchFamily="34" charset="-120"/>
              </a:rPr>
              <a:t>&gt;</a:t>
            </a:r>
            <a:r>
              <a:rPr lang="en-US" sz="700" dirty="0" err="1">
                <a:solidFill>
                  <a:srgbClr val="E8F4FD"/>
                </a:solidFill>
                <a:latin typeface="Courier New" pitchFamily="34" charset="0"/>
                <a:ea typeface="Courier New" pitchFamily="34" charset="-122"/>
                <a:cs typeface="Courier New" pitchFamily="34" charset="-120"/>
              </a:rPr>
              <a:t>io.rest</a:t>
            </a:r>
            <a:r>
              <a:rPr lang="en-US" sz="700" dirty="0">
                <a:solidFill>
                  <a:srgbClr val="E8F4FD"/>
                </a:solidFill>
                <a:latin typeface="Courier New" pitchFamily="34" charset="0"/>
                <a:ea typeface="Courier New" pitchFamily="34" charset="-122"/>
                <a:cs typeface="Courier New" pitchFamily="34" charset="-120"/>
              </a:rPr>
              <a:t>-assured&lt;/</a:t>
            </a:r>
            <a:r>
              <a:rPr lang="en-US" sz="700" dirty="0" err="1">
                <a:solidFill>
                  <a:srgbClr val="E8F4FD"/>
                </a:solidFill>
                <a:latin typeface="Courier New" pitchFamily="34" charset="0"/>
                <a:ea typeface="Courier New" pitchFamily="34" charset="-122"/>
                <a:cs typeface="Courier New" pitchFamily="34" charset="-120"/>
              </a:rPr>
              <a:t>groupId</a:t>
            </a:r>
            <a:r>
              <a:rPr lang="en-US" sz="700" dirty="0">
                <a:solidFill>
                  <a:srgbClr val="E8F4FD"/>
                </a:solidFill>
                <a:latin typeface="Courier New" pitchFamily="34" charset="0"/>
                <a:ea typeface="Courier New" pitchFamily="34" charset="-122"/>
                <a:cs typeface="Courier New" pitchFamily="34" charset="-120"/>
              </a:rPr>
              <a:t>&gt;</a:t>
            </a:r>
          </a:p>
          <a:p>
            <a:pPr marL="0" indent="0" algn="l">
              <a:buNone/>
            </a:pPr>
            <a:r>
              <a:rPr lang="en-US" sz="700" dirty="0">
                <a:solidFill>
                  <a:srgbClr val="E8F4FD"/>
                </a:solidFill>
                <a:latin typeface="Courier New" pitchFamily="34" charset="0"/>
                <a:ea typeface="Courier New" pitchFamily="34" charset="-122"/>
                <a:cs typeface="Courier New" pitchFamily="34" charset="-120"/>
              </a:rPr>
              <a:t>  &lt;</a:t>
            </a:r>
            <a:r>
              <a:rPr lang="en-US" sz="700" dirty="0" err="1">
                <a:solidFill>
                  <a:srgbClr val="E8F4FD"/>
                </a:solidFill>
                <a:latin typeface="Courier New" pitchFamily="34" charset="0"/>
                <a:ea typeface="Courier New" pitchFamily="34" charset="-122"/>
                <a:cs typeface="Courier New" pitchFamily="34" charset="-120"/>
              </a:rPr>
              <a:t>artifactId</a:t>
            </a:r>
            <a:r>
              <a:rPr lang="en-US" sz="700" dirty="0">
                <a:solidFill>
                  <a:srgbClr val="E8F4FD"/>
                </a:solidFill>
                <a:latin typeface="Courier New" pitchFamily="34" charset="0"/>
                <a:ea typeface="Courier New" pitchFamily="34" charset="-122"/>
                <a:cs typeface="Courier New" pitchFamily="34" charset="-120"/>
              </a:rPr>
              <a:t>&gt;rest-assured&lt;/</a:t>
            </a:r>
            <a:r>
              <a:rPr lang="en-US" sz="700" dirty="0" err="1">
                <a:solidFill>
                  <a:srgbClr val="E8F4FD"/>
                </a:solidFill>
                <a:latin typeface="Courier New" pitchFamily="34" charset="0"/>
                <a:ea typeface="Courier New" pitchFamily="34" charset="-122"/>
                <a:cs typeface="Courier New" pitchFamily="34" charset="-120"/>
              </a:rPr>
              <a:t>artifactId</a:t>
            </a:r>
            <a:r>
              <a:rPr lang="en-US" sz="700" dirty="0">
                <a:solidFill>
                  <a:srgbClr val="E8F4FD"/>
                </a:solidFill>
                <a:latin typeface="Courier New" pitchFamily="34" charset="0"/>
                <a:ea typeface="Courier New" pitchFamily="34" charset="-122"/>
                <a:cs typeface="Courier New" pitchFamily="34" charset="-120"/>
              </a:rPr>
              <a:t>&gt;</a:t>
            </a:r>
          </a:p>
          <a:p>
            <a:pPr marL="0" indent="0" algn="l">
              <a:buNone/>
            </a:pPr>
            <a:r>
              <a:rPr lang="en-US" sz="700" dirty="0">
                <a:solidFill>
                  <a:srgbClr val="E8F4FD"/>
                </a:solidFill>
                <a:latin typeface="Courier New" pitchFamily="34" charset="0"/>
                <a:ea typeface="Courier New" pitchFamily="34" charset="-122"/>
                <a:cs typeface="Courier New" pitchFamily="34" charset="-120"/>
              </a:rPr>
              <a:t>  &lt;version&gt;6.0.0&lt;/version&gt;</a:t>
            </a:r>
          </a:p>
          <a:p>
            <a:pPr marL="0" indent="0" algn="l">
              <a:buNone/>
            </a:pPr>
            <a:r>
              <a:rPr lang="en-US" sz="700" dirty="0">
                <a:solidFill>
                  <a:srgbClr val="E8F4FD"/>
                </a:solidFill>
                <a:latin typeface="Courier New" pitchFamily="34" charset="0"/>
                <a:ea typeface="Courier New" pitchFamily="34" charset="-122"/>
                <a:cs typeface="Courier New" pitchFamily="34" charset="-120"/>
              </a:rPr>
              <a:t>  &lt;scope&gt;test&lt;/scope&gt;</a:t>
            </a:r>
          </a:p>
          <a:p>
            <a:pPr marL="0" indent="0" algn="l">
              <a:buNone/>
            </a:pPr>
            <a:r>
              <a:rPr lang="en-US" sz="700" dirty="0">
                <a:solidFill>
                  <a:srgbClr val="E8F4FD"/>
                </a:solidFill>
                <a:latin typeface="Courier New" pitchFamily="34" charset="0"/>
                <a:ea typeface="Courier New" pitchFamily="34" charset="-122"/>
                <a:cs typeface="Courier New" pitchFamily="34" charset="-120"/>
              </a:rPr>
              <a:t>&lt;/dependency&gt;</a:t>
            </a:r>
          </a:p>
          <a:p>
            <a:pPr marL="0" indent="0" algn="l">
              <a:buNone/>
            </a:pPr>
            <a:r>
              <a:rPr lang="en-US" sz="700" dirty="0">
                <a:solidFill>
                  <a:srgbClr val="E8F4FD"/>
                </a:solidFill>
                <a:latin typeface="Courier New" pitchFamily="34" charset="0"/>
                <a:ea typeface="Courier New" pitchFamily="34" charset="-122"/>
                <a:cs typeface="Courier New" pitchFamily="34" charset="-120"/>
              </a:rPr>
              <a:t>&lt;dependency&gt;</a:t>
            </a:r>
          </a:p>
          <a:p>
            <a:pPr marL="0" indent="0" algn="l">
              <a:buNone/>
            </a:pPr>
            <a:r>
              <a:rPr lang="en-US" sz="700" dirty="0">
                <a:solidFill>
                  <a:srgbClr val="E8F4FD"/>
                </a:solidFill>
                <a:latin typeface="Courier New" pitchFamily="34" charset="0"/>
                <a:ea typeface="Courier New" pitchFamily="34" charset="-122"/>
                <a:cs typeface="Courier New" pitchFamily="34" charset="-120"/>
              </a:rPr>
              <a:t>  &lt;</a:t>
            </a:r>
            <a:r>
              <a:rPr lang="en-US" sz="700" dirty="0" err="1">
                <a:solidFill>
                  <a:srgbClr val="E8F4FD"/>
                </a:solidFill>
                <a:latin typeface="Courier New" pitchFamily="34" charset="0"/>
                <a:ea typeface="Courier New" pitchFamily="34" charset="-122"/>
                <a:cs typeface="Courier New" pitchFamily="34" charset="-120"/>
              </a:rPr>
              <a:t>groupId</a:t>
            </a:r>
            <a:r>
              <a:rPr lang="en-US" sz="700" dirty="0">
                <a:solidFill>
                  <a:srgbClr val="E8F4FD"/>
                </a:solidFill>
                <a:latin typeface="Courier New" pitchFamily="34" charset="0"/>
                <a:ea typeface="Courier New" pitchFamily="34" charset="-122"/>
                <a:cs typeface="Courier New" pitchFamily="34" charset="-120"/>
              </a:rPr>
              <a:t>&gt;</a:t>
            </a:r>
            <a:r>
              <a:rPr lang="en-US" sz="700" dirty="0" err="1">
                <a:solidFill>
                  <a:srgbClr val="E8F4FD"/>
                </a:solidFill>
                <a:latin typeface="Courier New" pitchFamily="34" charset="0"/>
                <a:ea typeface="Courier New" pitchFamily="34" charset="-122"/>
                <a:cs typeface="Courier New" pitchFamily="34" charset="-120"/>
              </a:rPr>
              <a:t>io.rest</a:t>
            </a:r>
            <a:r>
              <a:rPr lang="en-US" sz="700" dirty="0">
                <a:solidFill>
                  <a:srgbClr val="E8F4FD"/>
                </a:solidFill>
                <a:latin typeface="Courier New" pitchFamily="34" charset="0"/>
                <a:ea typeface="Courier New" pitchFamily="34" charset="-122"/>
                <a:cs typeface="Courier New" pitchFamily="34" charset="-120"/>
              </a:rPr>
              <a:t>-assured&lt;/</a:t>
            </a:r>
            <a:r>
              <a:rPr lang="en-US" sz="700" dirty="0" err="1">
                <a:solidFill>
                  <a:srgbClr val="E8F4FD"/>
                </a:solidFill>
                <a:latin typeface="Courier New" pitchFamily="34" charset="0"/>
                <a:ea typeface="Courier New" pitchFamily="34" charset="-122"/>
                <a:cs typeface="Courier New" pitchFamily="34" charset="-120"/>
              </a:rPr>
              <a:t>groupId</a:t>
            </a:r>
            <a:r>
              <a:rPr lang="en-US" sz="700" dirty="0">
                <a:solidFill>
                  <a:srgbClr val="E8F4FD"/>
                </a:solidFill>
                <a:latin typeface="Courier New" pitchFamily="34" charset="0"/>
                <a:ea typeface="Courier New" pitchFamily="34" charset="-122"/>
                <a:cs typeface="Courier New" pitchFamily="34" charset="-120"/>
              </a:rPr>
              <a:t>&gt;</a:t>
            </a:r>
          </a:p>
          <a:p>
            <a:pPr marL="0" indent="0" algn="l">
              <a:buNone/>
            </a:pPr>
            <a:r>
              <a:rPr lang="en-US" sz="700" dirty="0">
                <a:solidFill>
                  <a:srgbClr val="E8F4FD"/>
                </a:solidFill>
                <a:latin typeface="Courier New" pitchFamily="34" charset="0"/>
                <a:ea typeface="Courier New" pitchFamily="34" charset="-122"/>
                <a:cs typeface="Courier New" pitchFamily="34" charset="-120"/>
              </a:rPr>
              <a:t>  &lt;</a:t>
            </a:r>
            <a:r>
              <a:rPr lang="en-US" sz="700" dirty="0" err="1">
                <a:solidFill>
                  <a:srgbClr val="E8F4FD"/>
                </a:solidFill>
                <a:latin typeface="Courier New" pitchFamily="34" charset="0"/>
                <a:ea typeface="Courier New" pitchFamily="34" charset="-122"/>
                <a:cs typeface="Courier New" pitchFamily="34" charset="-120"/>
              </a:rPr>
              <a:t>artifactId</a:t>
            </a:r>
            <a:r>
              <a:rPr lang="en-US" sz="700" dirty="0">
                <a:solidFill>
                  <a:srgbClr val="E8F4FD"/>
                </a:solidFill>
                <a:latin typeface="Courier New" pitchFamily="34" charset="0"/>
                <a:ea typeface="Courier New" pitchFamily="34" charset="-122"/>
                <a:cs typeface="Courier New" pitchFamily="34" charset="-120"/>
              </a:rPr>
              <a:t>&gt;</a:t>
            </a:r>
            <a:r>
              <a:rPr lang="en-US" sz="700" dirty="0" err="1">
                <a:solidFill>
                  <a:srgbClr val="E8F4FD"/>
                </a:solidFill>
                <a:latin typeface="Courier New" pitchFamily="34" charset="0"/>
                <a:ea typeface="Courier New" pitchFamily="34" charset="-122"/>
                <a:cs typeface="Courier New" pitchFamily="34" charset="-120"/>
              </a:rPr>
              <a:t>json</a:t>
            </a:r>
            <a:r>
              <a:rPr lang="en-US" sz="700" dirty="0">
                <a:solidFill>
                  <a:srgbClr val="E8F4FD"/>
                </a:solidFill>
                <a:latin typeface="Courier New" pitchFamily="34" charset="0"/>
                <a:ea typeface="Courier New" pitchFamily="34" charset="-122"/>
                <a:cs typeface="Courier New" pitchFamily="34" charset="-120"/>
              </a:rPr>
              <a:t>-schema-validator&lt;/</a:t>
            </a:r>
            <a:r>
              <a:rPr lang="en-US" sz="700" dirty="0" err="1">
                <a:solidFill>
                  <a:srgbClr val="E8F4FD"/>
                </a:solidFill>
                <a:latin typeface="Courier New" pitchFamily="34" charset="0"/>
                <a:ea typeface="Courier New" pitchFamily="34" charset="-122"/>
                <a:cs typeface="Courier New" pitchFamily="34" charset="-120"/>
              </a:rPr>
              <a:t>artifactId</a:t>
            </a:r>
            <a:r>
              <a:rPr lang="en-US" sz="700" dirty="0">
                <a:solidFill>
                  <a:srgbClr val="E8F4FD"/>
                </a:solidFill>
                <a:latin typeface="Courier New" pitchFamily="34" charset="0"/>
                <a:ea typeface="Courier New" pitchFamily="34" charset="-122"/>
                <a:cs typeface="Courier New" pitchFamily="34" charset="-120"/>
              </a:rPr>
              <a:t>&gt;</a:t>
            </a:r>
          </a:p>
          <a:p>
            <a:pPr marL="0" indent="0" algn="l">
              <a:buNone/>
            </a:pPr>
            <a:r>
              <a:rPr lang="en-US" sz="700" dirty="0">
                <a:solidFill>
                  <a:srgbClr val="E8F4FD"/>
                </a:solidFill>
                <a:latin typeface="Courier New" pitchFamily="34" charset="0"/>
                <a:ea typeface="Courier New" pitchFamily="34" charset="-122"/>
                <a:cs typeface="Courier New" pitchFamily="34" charset="-120"/>
              </a:rPr>
              <a:t>  &lt;version&gt;6.0.0&lt;/version&gt;</a:t>
            </a:r>
          </a:p>
          <a:p>
            <a:pPr marL="0" indent="0" algn="l">
              <a:buNone/>
            </a:pPr>
            <a:r>
              <a:rPr lang="en-US" sz="700" dirty="0">
                <a:solidFill>
                  <a:srgbClr val="E8F4FD"/>
                </a:solidFill>
                <a:latin typeface="Courier New" pitchFamily="34" charset="0"/>
                <a:ea typeface="Courier New" pitchFamily="34" charset="-122"/>
                <a:cs typeface="Courier New" pitchFamily="34" charset="-120"/>
              </a:rPr>
              <a:t>  &lt;scope&gt;test&lt;/scope&gt;</a:t>
            </a:r>
          </a:p>
          <a:p>
            <a:pPr marL="0" indent="0" algn="l">
              <a:buNone/>
            </a:pPr>
            <a:r>
              <a:rPr lang="en-US" sz="700" dirty="0">
                <a:solidFill>
                  <a:srgbClr val="E8F4FD"/>
                </a:solidFill>
                <a:latin typeface="Courier New" pitchFamily="34" charset="0"/>
                <a:ea typeface="Courier New" pitchFamily="34" charset="-122"/>
                <a:cs typeface="Courier New" pitchFamily="34" charset="-120"/>
              </a:rPr>
              <a:t>&lt;/dependency&gt;</a:t>
            </a:r>
          </a:p>
          <a:p>
            <a:pPr marL="0" indent="0" algn="l">
              <a:buNone/>
            </a:pPr>
            <a:r>
              <a:rPr lang="en-US" sz="700" dirty="0">
                <a:solidFill>
                  <a:srgbClr val="E8F4FD"/>
                </a:solidFill>
                <a:latin typeface="Courier New" pitchFamily="34" charset="0"/>
                <a:ea typeface="Courier New" pitchFamily="34" charset="-122"/>
                <a:cs typeface="Courier New" pitchFamily="34" charset="-120"/>
              </a:rPr>
              <a:t>&lt;!-- REST Assured 6.x requires Java 17+       --&gt;</a:t>
            </a:r>
          </a:p>
          <a:p>
            <a:pPr marL="0" indent="0" algn="l">
              <a:buNone/>
            </a:pPr>
            <a:r>
              <a:rPr lang="en-US" sz="700" dirty="0">
                <a:solidFill>
                  <a:srgbClr val="E8F4FD"/>
                </a:solidFill>
                <a:latin typeface="Courier New" pitchFamily="34" charset="0"/>
                <a:ea typeface="Courier New" pitchFamily="34" charset="-122"/>
                <a:cs typeface="Courier New" pitchFamily="34" charset="-120"/>
              </a:rPr>
              <a:t>&lt;!-- Add </a:t>
            </a:r>
            <a:r>
              <a:rPr lang="en-US" sz="700" dirty="0" err="1">
                <a:solidFill>
                  <a:srgbClr val="E8F4FD"/>
                </a:solidFill>
                <a:latin typeface="Courier New" pitchFamily="34" charset="0"/>
                <a:ea typeface="Courier New" pitchFamily="34" charset="-122"/>
                <a:cs typeface="Courier New" pitchFamily="34" charset="-120"/>
              </a:rPr>
              <a:t>json</a:t>
            </a:r>
            <a:r>
              <a:rPr lang="en-US" sz="700" dirty="0">
                <a:solidFill>
                  <a:srgbClr val="E8F4FD"/>
                </a:solidFill>
                <a:latin typeface="Courier New" pitchFamily="34" charset="0"/>
                <a:ea typeface="Courier New" pitchFamily="34" charset="-122"/>
                <a:cs typeface="Courier New" pitchFamily="34" charset="-120"/>
              </a:rPr>
              <a:t>-schema-validator for schema checks --&gt;</a:t>
            </a:r>
          </a:p>
          <a:p>
            <a:pPr marL="0" indent="0" algn="l">
              <a:buNone/>
            </a:pPr>
            <a:endParaRPr lang="en-US" sz="700" dirty="0">
              <a:solidFill>
                <a:srgbClr val="E8F4FD"/>
              </a:solidFill>
              <a:latin typeface="Courier New" pitchFamily="34" charset="0"/>
              <a:ea typeface="Courier New" pitchFamily="34" charset="-122"/>
              <a:cs typeface="Courier New" pitchFamily="34" charset="-120"/>
            </a:endParaRPr>
          </a:p>
          <a:p>
            <a:pPr marL="0" indent="0" algn="l">
              <a:buNone/>
            </a:pPr>
            <a:r>
              <a:rPr lang="en-US" sz="600" b="1" dirty="0">
                <a:solidFill>
                  <a:srgbClr val="90A4AE"/>
                </a:solidFill>
              </a:rPr>
              <a:t>Basic GET test — given / when / then DSL</a:t>
            </a:r>
          </a:p>
          <a:p>
            <a:pPr marL="0" indent="0" algn="l">
              <a:buNone/>
            </a:pPr>
            <a:r>
              <a:rPr lang="en-US" sz="700" dirty="0">
                <a:solidFill>
                  <a:srgbClr val="E8F4FD"/>
                </a:solidFill>
                <a:latin typeface="Courier New" pitchFamily="34" charset="0"/>
                <a:ea typeface="Courier New" pitchFamily="34" charset="-122"/>
                <a:cs typeface="Courier New" pitchFamily="34" charset="-120"/>
              </a:rPr>
              <a:t>// Static imports required for given/when/then DSL</a:t>
            </a:r>
          </a:p>
          <a:p>
            <a:pPr marL="0" indent="0" algn="l">
              <a:buNone/>
            </a:pPr>
            <a:r>
              <a:rPr lang="en-US" sz="700" dirty="0">
                <a:solidFill>
                  <a:srgbClr val="E8F4FD"/>
                </a:solidFill>
                <a:latin typeface="Courier New" pitchFamily="34" charset="0"/>
                <a:ea typeface="Courier New" pitchFamily="34" charset="-122"/>
                <a:cs typeface="Courier New" pitchFamily="34" charset="-120"/>
              </a:rPr>
              <a:t>import static </a:t>
            </a:r>
            <a:r>
              <a:rPr lang="en-US" sz="700" dirty="0" err="1">
                <a:solidFill>
                  <a:srgbClr val="E8F4FD"/>
                </a:solidFill>
                <a:latin typeface="Courier New" pitchFamily="34" charset="0"/>
                <a:ea typeface="Courier New" pitchFamily="34" charset="-122"/>
                <a:cs typeface="Courier New" pitchFamily="34" charset="-120"/>
              </a:rPr>
              <a:t>io.restassured.RestAssured</a:t>
            </a:r>
            <a:r>
              <a:rPr lang="en-US" sz="700" dirty="0">
                <a:solidFill>
                  <a:srgbClr val="E8F4FD"/>
                </a:solidFill>
                <a:latin typeface="Courier New" pitchFamily="34" charset="0"/>
                <a:ea typeface="Courier New" pitchFamily="34" charset="-122"/>
                <a:cs typeface="Courier New" pitchFamily="34" charset="-120"/>
              </a:rPr>
              <a:t>.*;</a:t>
            </a:r>
          </a:p>
          <a:p>
            <a:pPr marL="0" indent="0" algn="l">
              <a:buNone/>
            </a:pPr>
            <a:r>
              <a:rPr lang="en-US" sz="700" dirty="0">
                <a:solidFill>
                  <a:srgbClr val="E8F4FD"/>
                </a:solidFill>
                <a:latin typeface="Courier New" pitchFamily="34" charset="0"/>
                <a:ea typeface="Courier New" pitchFamily="34" charset="-122"/>
                <a:cs typeface="Courier New" pitchFamily="34" charset="-120"/>
              </a:rPr>
              <a:t>import static </a:t>
            </a:r>
            <a:r>
              <a:rPr lang="en-US" sz="700" dirty="0" err="1">
                <a:solidFill>
                  <a:srgbClr val="E8F4FD"/>
                </a:solidFill>
                <a:latin typeface="Courier New" pitchFamily="34" charset="0"/>
                <a:ea typeface="Courier New" pitchFamily="34" charset="-122"/>
                <a:cs typeface="Courier New" pitchFamily="34" charset="-120"/>
              </a:rPr>
              <a:t>io.restassured.matcher</a:t>
            </a:r>
            <a:endParaRPr lang="en-US" sz="700" dirty="0">
              <a:solidFill>
                <a:srgbClr val="E8F4FD"/>
              </a:solidFill>
              <a:latin typeface="Courier New" pitchFamily="34" charset="0"/>
              <a:ea typeface="Courier New" pitchFamily="34" charset="-122"/>
              <a:cs typeface="Courier New" pitchFamily="34" charset="-120"/>
            </a:endParaRPr>
          </a:p>
          <a:p>
            <a:pPr marL="0" indent="0" algn="l">
              <a:buNone/>
            </a:pPr>
            <a:r>
              <a:rPr lang="en-US" sz="700" dirty="0">
                <a:solidFill>
                  <a:srgbClr val="E8F4FD"/>
                </a:solidFill>
                <a:latin typeface="Courier New" pitchFamily="34" charset="0"/>
                <a:ea typeface="Courier New" pitchFamily="34" charset="-122"/>
                <a:cs typeface="Courier New" pitchFamily="34" charset="-120"/>
              </a:rPr>
              <a:t>    .</a:t>
            </a:r>
            <a:r>
              <a:rPr lang="en-US" sz="700" dirty="0" err="1">
                <a:solidFill>
                  <a:srgbClr val="E8F4FD"/>
                </a:solidFill>
                <a:latin typeface="Courier New" pitchFamily="34" charset="0"/>
                <a:ea typeface="Courier New" pitchFamily="34" charset="-122"/>
                <a:cs typeface="Courier New" pitchFamily="34" charset="-120"/>
              </a:rPr>
              <a:t>RestAssuredMatchers</a:t>
            </a:r>
            <a:r>
              <a:rPr lang="en-US" sz="700" dirty="0">
                <a:solidFill>
                  <a:srgbClr val="E8F4FD"/>
                </a:solidFill>
                <a:latin typeface="Courier New" pitchFamily="34" charset="0"/>
                <a:ea typeface="Courier New" pitchFamily="34" charset="-122"/>
                <a:cs typeface="Courier New" pitchFamily="34" charset="-120"/>
              </a:rPr>
              <a:t>.*;</a:t>
            </a:r>
          </a:p>
          <a:p>
            <a:pPr marL="0" indent="0" algn="l">
              <a:buNone/>
            </a:pPr>
            <a:r>
              <a:rPr lang="en-US" sz="700" dirty="0">
                <a:solidFill>
                  <a:srgbClr val="E8F4FD"/>
                </a:solidFill>
                <a:latin typeface="Courier New" pitchFamily="34" charset="0"/>
                <a:ea typeface="Courier New" pitchFamily="34" charset="-122"/>
                <a:cs typeface="Courier New" pitchFamily="34" charset="-120"/>
              </a:rPr>
              <a:t>import static </a:t>
            </a:r>
            <a:r>
              <a:rPr lang="en-US" sz="700" dirty="0" err="1">
                <a:solidFill>
                  <a:srgbClr val="E8F4FD"/>
                </a:solidFill>
                <a:latin typeface="Courier New" pitchFamily="34" charset="0"/>
                <a:ea typeface="Courier New" pitchFamily="34" charset="-122"/>
                <a:cs typeface="Courier New" pitchFamily="34" charset="-120"/>
              </a:rPr>
              <a:t>org.hamcrest.Matchers</a:t>
            </a:r>
            <a:r>
              <a:rPr lang="en-US" sz="700" dirty="0">
                <a:solidFill>
                  <a:srgbClr val="E8F4FD"/>
                </a:solidFill>
                <a:latin typeface="Courier New" pitchFamily="34" charset="0"/>
                <a:ea typeface="Courier New" pitchFamily="34" charset="-122"/>
                <a:cs typeface="Courier New" pitchFamily="34" charset="-120"/>
              </a:rPr>
              <a:t>.*;</a:t>
            </a:r>
          </a:p>
          <a:p>
            <a:pPr marL="0" indent="0" algn="l">
              <a:buNone/>
            </a:pPr>
            <a:endParaRPr lang="en-US" sz="700" dirty="0">
              <a:solidFill>
                <a:srgbClr val="E8F4FD"/>
              </a:solidFill>
              <a:latin typeface="Courier New" pitchFamily="34" charset="0"/>
              <a:ea typeface="Courier New" pitchFamily="34" charset="-122"/>
              <a:cs typeface="Courier New" pitchFamily="34" charset="-120"/>
            </a:endParaRPr>
          </a:p>
          <a:p>
            <a:pPr marL="0" indent="0" algn="l">
              <a:buNone/>
            </a:pPr>
            <a:r>
              <a:rPr lang="en-US" sz="700" dirty="0">
                <a:solidFill>
                  <a:srgbClr val="E8F4FD"/>
                </a:solidFill>
                <a:latin typeface="Courier New" pitchFamily="34" charset="0"/>
                <a:ea typeface="Courier New" pitchFamily="34" charset="-122"/>
                <a:cs typeface="Courier New" pitchFamily="34" charset="-120"/>
              </a:rPr>
              <a:t>@Test</a:t>
            </a:r>
          </a:p>
          <a:p>
            <a:pPr marL="0" indent="0" algn="l">
              <a:buNone/>
            </a:pPr>
            <a:r>
              <a:rPr lang="en-US" sz="700" dirty="0">
                <a:solidFill>
                  <a:srgbClr val="E8F4FD"/>
                </a:solidFill>
                <a:latin typeface="Courier New" pitchFamily="34" charset="0"/>
                <a:ea typeface="Courier New" pitchFamily="34" charset="-122"/>
                <a:cs typeface="Courier New" pitchFamily="34" charset="-120"/>
              </a:rPr>
              <a:t>void getUser_returns200_withExpectedName() {</a:t>
            </a:r>
          </a:p>
          <a:p>
            <a:pPr marL="0" indent="0" algn="l">
              <a:buNone/>
            </a:pPr>
            <a:r>
              <a:rPr lang="en-US" sz="700" dirty="0">
                <a:solidFill>
                  <a:srgbClr val="E8F4FD"/>
                </a:solidFill>
                <a:latin typeface="Courier New" pitchFamily="34" charset="0"/>
                <a:ea typeface="Courier New" pitchFamily="34" charset="-122"/>
                <a:cs typeface="Courier New" pitchFamily="34" charset="-120"/>
              </a:rPr>
              <a:t>  given()</a:t>
            </a:r>
          </a:p>
          <a:p>
            <a:pPr marL="0" indent="0" algn="l">
              <a:buNone/>
            </a:pPr>
            <a:r>
              <a:rPr lang="en-US" sz="700" dirty="0">
                <a:solidFill>
                  <a:srgbClr val="E8F4FD"/>
                </a:solidFill>
                <a:latin typeface="Courier New" pitchFamily="34" charset="0"/>
                <a:ea typeface="Courier New" pitchFamily="34" charset="-122"/>
                <a:cs typeface="Courier New" pitchFamily="34" charset="-120"/>
              </a:rPr>
              <a:t>    .</a:t>
            </a:r>
            <a:r>
              <a:rPr lang="en-US" sz="700" dirty="0" err="1">
                <a:solidFill>
                  <a:srgbClr val="E8F4FD"/>
                </a:solidFill>
                <a:latin typeface="Courier New" pitchFamily="34" charset="0"/>
                <a:ea typeface="Courier New" pitchFamily="34" charset="-122"/>
                <a:cs typeface="Courier New" pitchFamily="34" charset="-120"/>
              </a:rPr>
              <a:t>baseUri</a:t>
            </a:r>
            <a:r>
              <a:rPr lang="en-US" sz="700" dirty="0">
                <a:solidFill>
                  <a:srgbClr val="E8F4FD"/>
                </a:solidFill>
                <a:latin typeface="Courier New" pitchFamily="34" charset="0"/>
                <a:ea typeface="Courier New" pitchFamily="34" charset="-122"/>
                <a:cs typeface="Courier New" pitchFamily="34" charset="-120"/>
              </a:rPr>
              <a:t>("https://</a:t>
            </a:r>
            <a:r>
              <a:rPr lang="en-US" sz="700" dirty="0" err="1">
                <a:solidFill>
                  <a:srgbClr val="E8F4FD"/>
                </a:solidFill>
                <a:latin typeface="Courier New" pitchFamily="34" charset="0"/>
                <a:ea typeface="Courier New" pitchFamily="34" charset="-122"/>
                <a:cs typeface="Courier New" pitchFamily="34" charset="-120"/>
              </a:rPr>
              <a:t>api.example.com</a:t>
            </a:r>
            <a:r>
              <a:rPr lang="en-US" sz="700" dirty="0">
                <a:solidFill>
                  <a:srgbClr val="E8F4FD"/>
                </a:solidFill>
                <a:latin typeface="Courier New" pitchFamily="34" charset="0"/>
                <a:ea typeface="Courier New" pitchFamily="34" charset="-122"/>
                <a:cs typeface="Courier New" pitchFamily="34" charset="-120"/>
              </a:rPr>
              <a:t>")</a:t>
            </a:r>
          </a:p>
          <a:p>
            <a:pPr marL="0" indent="0" algn="l">
              <a:buNone/>
            </a:pPr>
            <a:r>
              <a:rPr lang="en-US" sz="700" dirty="0">
                <a:solidFill>
                  <a:srgbClr val="E8F4FD"/>
                </a:solidFill>
                <a:latin typeface="Courier New" pitchFamily="34" charset="0"/>
                <a:ea typeface="Courier New" pitchFamily="34" charset="-122"/>
                <a:cs typeface="Courier New" pitchFamily="34" charset="-120"/>
              </a:rPr>
              <a:t>    .header("Accept", "application/</a:t>
            </a:r>
            <a:r>
              <a:rPr lang="en-US" sz="700" dirty="0" err="1">
                <a:solidFill>
                  <a:srgbClr val="E8F4FD"/>
                </a:solidFill>
                <a:latin typeface="Courier New" pitchFamily="34" charset="0"/>
                <a:ea typeface="Courier New" pitchFamily="34" charset="-122"/>
                <a:cs typeface="Courier New" pitchFamily="34" charset="-120"/>
              </a:rPr>
              <a:t>json</a:t>
            </a:r>
            <a:r>
              <a:rPr lang="en-US" sz="700" dirty="0">
                <a:solidFill>
                  <a:srgbClr val="E8F4FD"/>
                </a:solidFill>
                <a:latin typeface="Courier New" pitchFamily="34" charset="0"/>
                <a:ea typeface="Courier New" pitchFamily="34" charset="-122"/>
                <a:cs typeface="Courier New" pitchFamily="34" charset="-120"/>
              </a:rPr>
              <a:t>")</a:t>
            </a:r>
          </a:p>
          <a:p>
            <a:pPr marL="0" indent="0" algn="l">
              <a:buNone/>
            </a:pPr>
            <a:r>
              <a:rPr lang="en-US" sz="700" dirty="0">
                <a:solidFill>
                  <a:srgbClr val="E8F4FD"/>
                </a:solidFill>
                <a:latin typeface="Courier New" pitchFamily="34" charset="0"/>
                <a:ea typeface="Courier New" pitchFamily="34" charset="-122"/>
                <a:cs typeface="Courier New" pitchFamily="34" charset="-120"/>
              </a:rPr>
              <a:t>  .when()</a:t>
            </a:r>
          </a:p>
          <a:p>
            <a:pPr marL="0" indent="0" algn="l">
              <a:buNone/>
            </a:pPr>
            <a:r>
              <a:rPr lang="en-US" sz="700" dirty="0">
                <a:solidFill>
                  <a:srgbClr val="E8F4FD"/>
                </a:solidFill>
                <a:latin typeface="Courier New" pitchFamily="34" charset="0"/>
                <a:ea typeface="Courier New" pitchFamily="34" charset="-122"/>
                <a:cs typeface="Courier New" pitchFamily="34" charset="-120"/>
              </a:rPr>
              <a:t>    .get("/users/1")</a:t>
            </a:r>
          </a:p>
          <a:p>
            <a:pPr marL="0" indent="0" algn="l">
              <a:buNone/>
            </a:pPr>
            <a:r>
              <a:rPr lang="en-US" sz="700" dirty="0">
                <a:solidFill>
                  <a:srgbClr val="E8F4FD"/>
                </a:solidFill>
                <a:latin typeface="Courier New" pitchFamily="34" charset="0"/>
                <a:ea typeface="Courier New" pitchFamily="34" charset="-122"/>
                <a:cs typeface="Courier New" pitchFamily="34" charset="-120"/>
              </a:rPr>
              <a:t>  .then()</a:t>
            </a:r>
          </a:p>
          <a:p>
            <a:pPr marL="0" indent="0" algn="l">
              <a:buNone/>
            </a:pPr>
            <a:r>
              <a:rPr lang="en-US" sz="700" dirty="0">
                <a:solidFill>
                  <a:srgbClr val="E8F4FD"/>
                </a:solidFill>
                <a:latin typeface="Courier New" pitchFamily="34" charset="0"/>
                <a:ea typeface="Courier New" pitchFamily="34" charset="-122"/>
                <a:cs typeface="Courier New" pitchFamily="34" charset="-120"/>
              </a:rPr>
              <a:t>    .</a:t>
            </a:r>
            <a:r>
              <a:rPr lang="en-US" sz="700" dirty="0" err="1">
                <a:solidFill>
                  <a:srgbClr val="E8F4FD"/>
                </a:solidFill>
                <a:latin typeface="Courier New" pitchFamily="34" charset="0"/>
                <a:ea typeface="Courier New" pitchFamily="34" charset="-122"/>
                <a:cs typeface="Courier New" pitchFamily="34" charset="-120"/>
              </a:rPr>
              <a:t>statusCode</a:t>
            </a:r>
            <a:r>
              <a:rPr lang="en-US" sz="700" dirty="0">
                <a:solidFill>
                  <a:srgbClr val="E8F4FD"/>
                </a:solidFill>
                <a:latin typeface="Courier New" pitchFamily="34" charset="0"/>
                <a:ea typeface="Courier New" pitchFamily="34" charset="-122"/>
                <a:cs typeface="Courier New" pitchFamily="34" charset="-120"/>
              </a:rPr>
              <a:t>(200)</a:t>
            </a:r>
          </a:p>
          <a:p>
            <a:pPr marL="0" indent="0" algn="l">
              <a:buNone/>
            </a:pPr>
            <a:r>
              <a:rPr lang="en-US" sz="700" dirty="0">
                <a:solidFill>
                  <a:srgbClr val="E8F4FD"/>
                </a:solidFill>
                <a:latin typeface="Courier New" pitchFamily="34" charset="0"/>
                <a:ea typeface="Courier New" pitchFamily="34" charset="-122"/>
                <a:cs typeface="Courier New" pitchFamily="34" charset="-120"/>
              </a:rPr>
              <a:t>    .</a:t>
            </a:r>
            <a:r>
              <a:rPr lang="en-US" sz="700" dirty="0" err="1">
                <a:solidFill>
                  <a:srgbClr val="E8F4FD"/>
                </a:solidFill>
                <a:latin typeface="Courier New" pitchFamily="34" charset="0"/>
                <a:ea typeface="Courier New" pitchFamily="34" charset="-122"/>
                <a:cs typeface="Courier New" pitchFamily="34" charset="-120"/>
              </a:rPr>
              <a:t>contentType</a:t>
            </a:r>
            <a:r>
              <a:rPr lang="en-US" sz="700" dirty="0">
                <a:solidFill>
                  <a:srgbClr val="E8F4FD"/>
                </a:solidFill>
                <a:latin typeface="Courier New" pitchFamily="34" charset="0"/>
                <a:ea typeface="Courier New" pitchFamily="34" charset="-122"/>
                <a:cs typeface="Courier New" pitchFamily="34" charset="-120"/>
              </a:rPr>
              <a:t>(</a:t>
            </a:r>
            <a:r>
              <a:rPr lang="en-US" sz="700" dirty="0" err="1">
                <a:solidFill>
                  <a:srgbClr val="E8F4FD"/>
                </a:solidFill>
                <a:latin typeface="Courier New" pitchFamily="34" charset="0"/>
                <a:ea typeface="Courier New" pitchFamily="34" charset="-122"/>
                <a:cs typeface="Courier New" pitchFamily="34" charset="-120"/>
              </a:rPr>
              <a:t>ContentType.JSON</a:t>
            </a:r>
            <a:r>
              <a:rPr lang="en-US" sz="700" dirty="0">
                <a:solidFill>
                  <a:srgbClr val="E8F4FD"/>
                </a:solidFill>
                <a:latin typeface="Courier New" pitchFamily="34" charset="0"/>
                <a:ea typeface="Courier New" pitchFamily="34" charset="-122"/>
                <a:cs typeface="Courier New" pitchFamily="34" charset="-120"/>
              </a:rPr>
              <a:t>)</a:t>
            </a:r>
          </a:p>
          <a:p>
            <a:pPr marL="0" indent="0" algn="l">
              <a:buNone/>
            </a:pPr>
            <a:r>
              <a:rPr lang="en-US" sz="700" dirty="0">
                <a:solidFill>
                  <a:srgbClr val="E8F4FD"/>
                </a:solidFill>
                <a:latin typeface="Courier New" pitchFamily="34" charset="0"/>
                <a:ea typeface="Courier New" pitchFamily="34" charset="-122"/>
                <a:cs typeface="Courier New" pitchFamily="34" charset="-120"/>
              </a:rPr>
              <a:t>    .body("name", </a:t>
            </a:r>
            <a:r>
              <a:rPr lang="en-US" sz="700" dirty="0" err="1">
                <a:solidFill>
                  <a:srgbClr val="E8F4FD"/>
                </a:solidFill>
                <a:latin typeface="Courier New" pitchFamily="34" charset="0"/>
                <a:ea typeface="Courier New" pitchFamily="34" charset="-122"/>
                <a:cs typeface="Courier New" pitchFamily="34" charset="-120"/>
              </a:rPr>
              <a:t>equalTo</a:t>
            </a:r>
            <a:r>
              <a:rPr lang="en-US" sz="700" dirty="0">
                <a:solidFill>
                  <a:srgbClr val="E8F4FD"/>
                </a:solidFill>
                <a:latin typeface="Courier New" pitchFamily="34" charset="0"/>
                <a:ea typeface="Courier New" pitchFamily="34" charset="-122"/>
                <a:cs typeface="Courier New" pitchFamily="34" charset="-120"/>
              </a:rPr>
              <a:t>("Alice"))</a:t>
            </a:r>
          </a:p>
          <a:p>
            <a:pPr marL="0" indent="0" algn="l">
              <a:buNone/>
            </a:pPr>
            <a:r>
              <a:rPr lang="en-US" sz="700" dirty="0">
                <a:solidFill>
                  <a:srgbClr val="E8F4FD"/>
                </a:solidFill>
                <a:latin typeface="Courier New" pitchFamily="34" charset="0"/>
                <a:ea typeface="Courier New" pitchFamily="34" charset="-122"/>
                <a:cs typeface="Courier New" pitchFamily="34" charset="-120"/>
              </a:rPr>
              <a:t>    .body("email", </a:t>
            </a:r>
            <a:r>
              <a:rPr lang="en-US" sz="700" dirty="0" err="1">
                <a:solidFill>
                  <a:srgbClr val="E8F4FD"/>
                </a:solidFill>
                <a:latin typeface="Courier New" pitchFamily="34" charset="0"/>
                <a:ea typeface="Courier New" pitchFamily="34" charset="-122"/>
                <a:cs typeface="Courier New" pitchFamily="34" charset="-120"/>
              </a:rPr>
              <a:t>notNullValue</a:t>
            </a:r>
            <a:r>
              <a:rPr lang="en-US" sz="700" dirty="0">
                <a:solidFill>
                  <a:srgbClr val="E8F4FD"/>
                </a:solidFill>
                <a:latin typeface="Courier New" pitchFamily="34" charset="0"/>
                <a:ea typeface="Courier New" pitchFamily="34" charset="-122"/>
                <a:cs typeface="Courier New" pitchFamily="34" charset="-120"/>
              </a:rPr>
              <a:t>())</a:t>
            </a:r>
          </a:p>
          <a:p>
            <a:pPr marL="0" indent="0" algn="l">
              <a:buNone/>
            </a:pPr>
            <a:r>
              <a:rPr lang="en-US" sz="700" dirty="0">
                <a:solidFill>
                  <a:srgbClr val="E8F4FD"/>
                </a:solidFill>
                <a:latin typeface="Courier New" pitchFamily="34" charset="0"/>
                <a:ea typeface="Courier New" pitchFamily="34" charset="-122"/>
                <a:cs typeface="Courier New" pitchFamily="34" charset="-120"/>
              </a:rPr>
              <a:t>    .header("Content-Type",</a:t>
            </a:r>
          </a:p>
          <a:p>
            <a:pPr marL="0" indent="0" algn="l">
              <a:buNone/>
            </a:pPr>
            <a:r>
              <a:rPr lang="en-US" sz="700" dirty="0">
                <a:solidFill>
                  <a:srgbClr val="E8F4FD"/>
                </a:solidFill>
                <a:latin typeface="Courier New" pitchFamily="34" charset="0"/>
                <a:ea typeface="Courier New" pitchFamily="34" charset="-122"/>
                <a:cs typeface="Courier New" pitchFamily="34" charset="-120"/>
              </a:rPr>
              <a:t>            </a:t>
            </a:r>
            <a:r>
              <a:rPr lang="en-US" sz="700" dirty="0" err="1">
                <a:solidFill>
                  <a:srgbClr val="E8F4FD"/>
                </a:solidFill>
                <a:latin typeface="Courier New" pitchFamily="34" charset="0"/>
                <a:ea typeface="Courier New" pitchFamily="34" charset="-122"/>
                <a:cs typeface="Courier New" pitchFamily="34" charset="-120"/>
              </a:rPr>
              <a:t>containsString</a:t>
            </a:r>
            <a:r>
              <a:rPr lang="en-US" sz="700" dirty="0">
                <a:solidFill>
                  <a:srgbClr val="E8F4FD"/>
                </a:solidFill>
                <a:latin typeface="Courier New" pitchFamily="34" charset="0"/>
                <a:ea typeface="Courier New" pitchFamily="34" charset="-122"/>
                <a:cs typeface="Courier New" pitchFamily="34" charset="-120"/>
              </a:rPr>
              <a:t>("application/</a:t>
            </a:r>
            <a:r>
              <a:rPr lang="en-US" sz="700" dirty="0" err="1">
                <a:solidFill>
                  <a:srgbClr val="E8F4FD"/>
                </a:solidFill>
                <a:latin typeface="Courier New" pitchFamily="34" charset="0"/>
                <a:ea typeface="Courier New" pitchFamily="34" charset="-122"/>
                <a:cs typeface="Courier New" pitchFamily="34" charset="-120"/>
              </a:rPr>
              <a:t>json</a:t>
            </a:r>
            <a:r>
              <a:rPr lang="en-US" sz="700" dirty="0">
                <a:solidFill>
                  <a:srgbClr val="E8F4FD"/>
                </a:solidFill>
                <a:latin typeface="Courier New" pitchFamily="34" charset="0"/>
                <a:ea typeface="Courier New" pitchFamily="34" charset="-122"/>
                <a:cs typeface="Courier New" pitchFamily="34" charset="-120"/>
              </a:rPr>
              <a:t>"));</a:t>
            </a:r>
          </a:p>
          <a:p>
            <a:pPr marL="0" indent="0" algn="l">
              <a:buNone/>
            </a:pPr>
            <a:r>
              <a:rPr lang="en-US" sz="700" dirty="0">
                <a:solidFill>
                  <a:srgbClr val="E8F4FD"/>
                </a:solidFill>
                <a:latin typeface="Courier New" pitchFamily="34" charset="0"/>
                <a:ea typeface="Courier New" pitchFamily="34" charset="-122"/>
                <a:cs typeface="Courier New" pitchFamily="34" charset="-120"/>
              </a:rPr>
              <a:t>}</a:t>
            </a:r>
          </a:p>
        </p:txBody>
      </p:sp>
    </p:spTree>
    <p:extLst>
      <p:ext uri="{BB962C8B-B14F-4D97-AF65-F5344CB8AC3E}">
        <p14:creationId xmlns:p14="http://schemas.microsoft.com/office/powerpoint/2010/main" val="747918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DATA-DRIVEN &amp; CONTRACT</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Data-Driven API Tests &amp; Contract / Schema Validation</a:t>
            </a:r>
            <a:endParaRPr lang="en-US" sz="2200" dirty="0"/>
          </a:p>
        </p:txBody>
      </p:sp>
      <p:sp>
        <p:nvSpPr>
          <p:cNvPr id="200" name="CodeBlock1"/>
          <p:cNvSpPr>
            <a:spLocks noGrp="1"/>
          </p:cNvSpPr>
          <p:nvPr/>
        </p:nvSpPr>
        <p:spPr>
          <a:xfrm>
            <a:off x="368300" y="863600"/>
            <a:ext cx="4165600" cy="3968277"/>
          </a:xfrm>
          <a:prstGeom prst="rect">
            <a:avLst/>
          </a:prstGeom>
          <a:solidFill>
            <a:srgbClr val="1E2A36"/>
          </a:solidFill>
          <a:ln>
            <a:noFill/>
          </a:ln>
        </p:spPr>
        <p:txBody>
          <a:bodyPr wrap="square" lIns="91440" tIns="45720" rIns="91440" bIns="45720" anchor="t">
            <a:normAutofit/>
          </a:bodyPr>
          <a:lstStyle/>
          <a:p>
            <a:pPr marL="0" indent="0" algn="l">
              <a:buNone/>
            </a:pPr>
            <a:r>
              <a:rPr lang="en-US" sz="1050" b="1" dirty="0">
                <a:solidFill>
                  <a:srgbClr val="90A4AE"/>
                </a:solidFill>
              </a:rPr>
              <a:t>Data-driven — @ParameterizedTest + REST Assured</a:t>
            </a:r>
          </a:p>
          <a:p>
            <a:pPr marL="0" indent="0" algn="l">
              <a:buNone/>
            </a:pPr>
            <a:r>
              <a:rPr lang="en-US" sz="1050" dirty="0">
                <a:solidFill>
                  <a:srgbClr val="E8F4FD"/>
                </a:solidFill>
                <a:latin typeface="Courier New" pitchFamily="34" charset="0"/>
                <a:ea typeface="Courier New" pitchFamily="34" charset="-122"/>
                <a:cs typeface="Courier New" pitchFamily="34" charset="-120"/>
              </a:rPr>
              <a:t>// Data-driven API test — JUnit 5 @ParameterizedTest</a:t>
            </a:r>
          </a:p>
          <a:p>
            <a:pPr marL="0" indent="0" algn="l">
              <a:buNone/>
            </a:pPr>
            <a:r>
              <a:rPr lang="en-US" sz="1050" dirty="0">
                <a:solidFill>
                  <a:srgbClr val="E8F4FD"/>
                </a:solidFill>
                <a:latin typeface="Courier New" pitchFamily="34" charset="0"/>
                <a:ea typeface="Courier New" pitchFamily="34" charset="-122"/>
                <a:cs typeface="Courier New" pitchFamily="34" charset="-120"/>
              </a:rPr>
              <a:t>@ParameterizedTest</a:t>
            </a:r>
          </a:p>
          <a:p>
            <a:pPr marL="0" indent="0" algn="l">
              <a:buNone/>
            </a:pPr>
            <a:r>
              <a:rPr lang="en-US" sz="1050" dirty="0">
                <a:solidFill>
                  <a:srgbClr val="E8F4FD"/>
                </a:solidFill>
                <a:latin typeface="Courier New" pitchFamily="34" charset="0"/>
                <a:ea typeface="Courier New" pitchFamily="34" charset="-122"/>
                <a:cs typeface="Courier New" pitchFamily="34" charset="-120"/>
              </a:rPr>
              <a:t>@CsvSource({</a:t>
            </a:r>
          </a:p>
          <a:p>
            <a:pPr marL="0" indent="0" algn="l">
              <a:buNone/>
            </a:pPr>
            <a:r>
              <a:rPr lang="en-US" sz="1050" dirty="0">
                <a:solidFill>
                  <a:srgbClr val="E8F4FD"/>
                </a:solidFill>
                <a:latin typeface="Courier New" pitchFamily="34" charset="0"/>
                <a:ea typeface="Courier New" pitchFamily="34" charset="-122"/>
                <a:cs typeface="Courier New" pitchFamily="34" charset="-120"/>
              </a:rPr>
              <a:t>  "1, Alice, 200",</a:t>
            </a:r>
          </a:p>
          <a:p>
            <a:pPr marL="0" indent="0" algn="l">
              <a:buNone/>
            </a:pPr>
            <a:r>
              <a:rPr lang="en-US" sz="1050" dirty="0">
                <a:solidFill>
                  <a:srgbClr val="E8F4FD"/>
                </a:solidFill>
                <a:latin typeface="Courier New" pitchFamily="34" charset="0"/>
                <a:ea typeface="Courier New" pitchFamily="34" charset="-122"/>
                <a:cs typeface="Courier New" pitchFamily="34" charset="-120"/>
              </a:rPr>
              <a:t>  "999, null, 404",</a:t>
            </a:r>
          </a:p>
          <a:p>
            <a:pPr marL="0" indent="0" algn="l">
              <a:buNone/>
            </a:pPr>
            <a:r>
              <a:rPr lang="en-US" sz="1050" dirty="0">
                <a:solidFill>
                  <a:srgbClr val="E8F4FD"/>
                </a:solidFill>
                <a:latin typeface="Courier New" pitchFamily="34" charset="0"/>
                <a:ea typeface="Courier New" pitchFamily="34" charset="-122"/>
                <a:cs typeface="Courier New" pitchFamily="34" charset="-120"/>
              </a:rPr>
              <a:t>  "abc, null, 400"</a:t>
            </a:r>
          </a:p>
          <a:p>
            <a:pPr marL="0" indent="0" algn="l">
              <a:buNone/>
            </a:pPr>
            <a:r>
              <a:rPr lang="en-US" sz="1050" dirty="0">
                <a:solidFill>
                  <a:srgbClr val="E8F4FD"/>
                </a:solidFill>
                <a:latin typeface="Courier New" pitchFamily="34" charset="0"/>
                <a:ea typeface="Courier New" pitchFamily="34" charset="-122"/>
                <a:cs typeface="Courier New" pitchFamily="34" charset="-120"/>
              </a:rPr>
              <a:t>})</a:t>
            </a:r>
          </a:p>
          <a:p>
            <a:pPr marL="0" indent="0" algn="l">
              <a:buNone/>
            </a:pPr>
            <a:r>
              <a:rPr lang="en-US" sz="1050" dirty="0">
                <a:solidFill>
                  <a:srgbClr val="E8F4FD"/>
                </a:solidFill>
                <a:latin typeface="Courier New" pitchFamily="34" charset="0"/>
                <a:ea typeface="Courier New" pitchFamily="34" charset="-122"/>
                <a:cs typeface="Courier New" pitchFamily="34" charset="-120"/>
              </a:rPr>
              <a:t>void getUser_variousIds(String id,</a:t>
            </a:r>
          </a:p>
          <a:p>
            <a:pPr marL="0" indent="0" algn="l">
              <a:buNone/>
            </a:pPr>
            <a:r>
              <a:rPr lang="en-US" sz="1050" dirty="0">
                <a:solidFill>
                  <a:srgbClr val="E8F4FD"/>
                </a:solidFill>
                <a:latin typeface="Courier New" pitchFamily="34" charset="0"/>
                <a:ea typeface="Courier New" pitchFamily="34" charset="-122"/>
                <a:cs typeface="Courier New" pitchFamily="34" charset="-120"/>
              </a:rPr>
              <a:t>                        String name,</a:t>
            </a:r>
          </a:p>
          <a:p>
            <a:pPr marL="0" indent="0" algn="l">
              <a:buNone/>
            </a:pPr>
            <a:r>
              <a:rPr lang="en-US" sz="1050" dirty="0">
                <a:solidFill>
                  <a:srgbClr val="E8F4FD"/>
                </a:solidFill>
                <a:latin typeface="Courier New" pitchFamily="34" charset="0"/>
                <a:ea typeface="Courier New" pitchFamily="34" charset="-122"/>
                <a:cs typeface="Courier New" pitchFamily="34" charset="-120"/>
              </a:rPr>
              <a:t>                        int expectedStatus) {</a:t>
            </a:r>
          </a:p>
          <a:p>
            <a:pPr marL="0" indent="0" algn="l">
              <a:buNone/>
            </a:pPr>
            <a:r>
              <a:rPr lang="en-US" sz="1050" dirty="0">
                <a:solidFill>
                  <a:srgbClr val="E8F4FD"/>
                </a:solidFill>
                <a:latin typeface="Courier New" pitchFamily="34" charset="0"/>
                <a:ea typeface="Courier New" pitchFamily="34" charset="-122"/>
                <a:cs typeface="Courier New" pitchFamily="34" charset="-120"/>
              </a:rPr>
              <a:t>  ValidatableResponse resp = given()</a:t>
            </a:r>
          </a:p>
          <a:p>
            <a:pPr marL="0" indent="0" algn="l">
              <a:buNone/>
            </a:pPr>
            <a:r>
              <a:rPr lang="en-US" sz="1050" dirty="0">
                <a:solidFill>
                  <a:srgbClr val="E8F4FD"/>
                </a:solidFill>
                <a:latin typeface="Courier New" pitchFamily="34" charset="0"/>
                <a:ea typeface="Courier New" pitchFamily="34" charset="-122"/>
                <a:cs typeface="Courier New" pitchFamily="34" charset="-120"/>
              </a:rPr>
              <a:t>    .baseUri(BASE_URL)</a:t>
            </a:r>
          </a:p>
          <a:p>
            <a:pPr marL="0" indent="0" algn="l">
              <a:buNone/>
            </a:pPr>
            <a:r>
              <a:rPr lang="en-US" sz="1050" dirty="0">
                <a:solidFill>
                  <a:srgbClr val="E8F4FD"/>
                </a:solidFill>
                <a:latin typeface="Courier New" pitchFamily="34" charset="0"/>
                <a:ea typeface="Courier New" pitchFamily="34" charset="-122"/>
                <a:cs typeface="Courier New" pitchFamily="34" charset="-120"/>
              </a:rPr>
              <a:t>  .when()</a:t>
            </a:r>
          </a:p>
          <a:p>
            <a:pPr marL="0" indent="0" algn="l">
              <a:buNone/>
            </a:pPr>
            <a:r>
              <a:rPr lang="en-US" sz="1050" dirty="0">
                <a:solidFill>
                  <a:srgbClr val="E8F4FD"/>
                </a:solidFill>
                <a:latin typeface="Courier New" pitchFamily="34" charset="0"/>
                <a:ea typeface="Courier New" pitchFamily="34" charset="-122"/>
                <a:cs typeface="Courier New" pitchFamily="34" charset="-120"/>
              </a:rPr>
              <a:t>    .get("/users/{id}", id)</a:t>
            </a:r>
          </a:p>
          <a:p>
            <a:pPr marL="0" indent="0" algn="l">
              <a:buNone/>
            </a:pPr>
            <a:r>
              <a:rPr lang="en-US" sz="1050" dirty="0">
                <a:solidFill>
                  <a:srgbClr val="E8F4FD"/>
                </a:solidFill>
                <a:latin typeface="Courier New" pitchFamily="34" charset="0"/>
                <a:ea typeface="Courier New" pitchFamily="34" charset="-122"/>
                <a:cs typeface="Courier New" pitchFamily="34" charset="-120"/>
              </a:rPr>
              <a:t>  .then()</a:t>
            </a:r>
          </a:p>
          <a:p>
            <a:pPr marL="0" indent="0" algn="l">
              <a:buNone/>
            </a:pPr>
            <a:r>
              <a:rPr lang="en-US" sz="1050" dirty="0">
                <a:solidFill>
                  <a:srgbClr val="E8F4FD"/>
                </a:solidFill>
                <a:latin typeface="Courier New" pitchFamily="34" charset="0"/>
                <a:ea typeface="Courier New" pitchFamily="34" charset="-122"/>
                <a:cs typeface="Courier New" pitchFamily="34" charset="-120"/>
              </a:rPr>
              <a:t>    .statusCode(expectedStatus);</a:t>
            </a:r>
          </a:p>
          <a:p>
            <a:pPr marL="0" indent="0" algn="l">
              <a:buNone/>
            </a:pPr>
            <a:endParaRPr lang="en-US" sz="1050" dirty="0">
              <a:solidFill>
                <a:srgbClr val="E8F4FD"/>
              </a:solidFill>
              <a:latin typeface="Courier New" pitchFamily="34" charset="0"/>
              <a:ea typeface="Courier New" pitchFamily="34" charset="-122"/>
              <a:cs typeface="Courier New" pitchFamily="34" charset="-120"/>
            </a:endParaRPr>
          </a:p>
          <a:p>
            <a:pPr marL="0" indent="0" algn="l">
              <a:buNone/>
            </a:pPr>
            <a:r>
              <a:rPr lang="en-US" sz="1050" dirty="0">
                <a:solidFill>
                  <a:srgbClr val="E8F4FD"/>
                </a:solidFill>
                <a:latin typeface="Courier New" pitchFamily="34" charset="0"/>
                <a:ea typeface="Courier New" pitchFamily="34" charset="-122"/>
                <a:cs typeface="Courier New" pitchFamily="34" charset="-120"/>
              </a:rPr>
              <a:t>  if (expectedStatus == 200) {</a:t>
            </a:r>
          </a:p>
          <a:p>
            <a:pPr marL="0" indent="0" algn="l">
              <a:buNone/>
            </a:pPr>
            <a:r>
              <a:rPr lang="en-US" sz="1050" dirty="0">
                <a:solidFill>
                  <a:srgbClr val="E8F4FD"/>
                </a:solidFill>
                <a:latin typeface="Courier New" pitchFamily="34" charset="0"/>
                <a:ea typeface="Courier New" pitchFamily="34" charset="-122"/>
                <a:cs typeface="Courier New" pitchFamily="34" charset="-120"/>
              </a:rPr>
              <a:t>    resp.body("name", equalTo(name));</a:t>
            </a:r>
          </a:p>
          <a:p>
            <a:pPr marL="0" indent="0" algn="l">
              <a:buNone/>
            </a:pPr>
            <a:r>
              <a:rPr lang="en-US" sz="1050" dirty="0">
                <a:solidFill>
                  <a:srgbClr val="E8F4FD"/>
                </a:solidFill>
                <a:latin typeface="Courier New" pitchFamily="34" charset="0"/>
                <a:ea typeface="Courier New" pitchFamily="34" charset="-122"/>
                <a:cs typeface="Courier New" pitchFamily="34" charset="-120"/>
              </a:rPr>
              <a:t>  }</a:t>
            </a:r>
          </a:p>
          <a:p>
            <a:pPr marL="0" indent="0" algn="l">
              <a:buNone/>
            </a:pPr>
            <a:r>
              <a:rPr lang="en-US" sz="1050" dirty="0">
                <a:solidFill>
                  <a:srgbClr val="E8F4FD"/>
                </a:solidFill>
                <a:latin typeface="Courier New" pitchFamily="34" charset="0"/>
                <a:ea typeface="Courier New" pitchFamily="34" charset="-122"/>
                <a:cs typeface="Courier New" pitchFamily="34" charset="-120"/>
              </a:rPr>
              <a:t>}</a:t>
            </a:r>
          </a:p>
        </p:txBody>
      </p:sp>
      <p:sp>
        <p:nvSpPr>
          <p:cNvPr id="201" name="CodeBlock2"/>
          <p:cNvSpPr>
            <a:spLocks noGrp="1"/>
          </p:cNvSpPr>
          <p:nvPr/>
        </p:nvSpPr>
        <p:spPr>
          <a:xfrm>
            <a:off x="4660900" y="863601"/>
            <a:ext cx="4114800" cy="2014354"/>
          </a:xfrm>
          <a:prstGeom prst="rect">
            <a:avLst/>
          </a:prstGeom>
          <a:solidFill>
            <a:srgbClr val="1E2A36"/>
          </a:solidFill>
          <a:ln>
            <a:noFill/>
          </a:ln>
        </p:spPr>
        <p:txBody>
          <a:bodyPr wrap="square" lIns="91440" tIns="45720" rIns="91440" bIns="45720" anchor="t">
            <a:normAutofit/>
          </a:bodyPr>
          <a:lstStyle/>
          <a:p>
            <a:pPr marL="0" indent="0" algn="l">
              <a:buNone/>
            </a:pPr>
            <a:r>
              <a:rPr lang="en-US" sz="800" b="1" dirty="0">
                <a:solidFill>
                  <a:srgbClr val="90A4AE"/>
                </a:solidFill>
              </a:rPr>
              <a:t>JSON Schema file — user-schema.json</a:t>
            </a:r>
          </a:p>
          <a:p>
            <a:pPr marL="0" indent="0" algn="l">
              <a:buNone/>
            </a:pPr>
            <a:r>
              <a:rPr lang="en-US" sz="820" dirty="0">
                <a:solidFill>
                  <a:srgbClr val="E8F4FD"/>
                </a:solidFill>
                <a:latin typeface="Courier New" pitchFamily="34" charset="0"/>
                <a:ea typeface="Courier New" pitchFamily="34" charset="-122"/>
                <a:cs typeface="Courier New" pitchFamily="34" charset="-120"/>
              </a:rPr>
              <a:t>// JSON Schema file: src/test/resources/</a:t>
            </a:r>
          </a:p>
          <a:p>
            <a:pPr marL="0" indent="0" algn="l">
              <a:buNone/>
            </a:pPr>
            <a:r>
              <a:rPr lang="en-US" sz="820" dirty="0">
                <a:solidFill>
                  <a:srgbClr val="E8F4FD"/>
                </a:solidFill>
                <a:latin typeface="Courier New" pitchFamily="34" charset="0"/>
                <a:ea typeface="Courier New" pitchFamily="34" charset="-122"/>
                <a:cs typeface="Courier New" pitchFamily="34" charset="-120"/>
              </a:rPr>
              <a:t>//                   schemas/user-schema.json</a:t>
            </a:r>
          </a:p>
          <a:p>
            <a:pPr marL="0" indent="0" algn="l">
              <a:buNone/>
            </a:pPr>
            <a:r>
              <a:rPr lang="en-US" sz="820" dirty="0">
                <a:solidFill>
                  <a:srgbClr val="E8F4FD"/>
                </a:solidFill>
                <a:latin typeface="Courier New" pitchFamily="34" charset="0"/>
                <a:ea typeface="Courier New" pitchFamily="34" charset="-122"/>
                <a:cs typeface="Courier New" pitchFamily="34" charset="-120"/>
              </a:rPr>
              <a:t>{</a:t>
            </a:r>
          </a:p>
          <a:p>
            <a:pPr marL="0" indent="0" algn="l">
              <a:buNone/>
            </a:pPr>
            <a:r>
              <a:rPr lang="en-US" sz="820" dirty="0">
                <a:solidFill>
                  <a:srgbClr val="E8F4FD"/>
                </a:solidFill>
                <a:latin typeface="Courier New" pitchFamily="34" charset="0"/>
                <a:ea typeface="Courier New" pitchFamily="34" charset="-122"/>
                <a:cs typeface="Courier New" pitchFamily="34" charset="-120"/>
              </a:rPr>
              <a:t>  "$schema": "http://json-schema.org/draft-07/schema",</a:t>
            </a:r>
          </a:p>
          <a:p>
            <a:pPr marL="0" indent="0" algn="l">
              <a:buNone/>
            </a:pPr>
            <a:r>
              <a:rPr lang="en-US" sz="820" dirty="0">
                <a:solidFill>
                  <a:srgbClr val="E8F4FD"/>
                </a:solidFill>
                <a:latin typeface="Courier New" pitchFamily="34" charset="0"/>
                <a:ea typeface="Courier New" pitchFamily="34" charset="-122"/>
                <a:cs typeface="Courier New" pitchFamily="34" charset="-120"/>
              </a:rPr>
              <a:t>  "type": "object",</a:t>
            </a:r>
          </a:p>
          <a:p>
            <a:pPr marL="0" indent="0" algn="l">
              <a:buNone/>
            </a:pPr>
            <a:r>
              <a:rPr lang="en-US" sz="820" dirty="0">
                <a:solidFill>
                  <a:srgbClr val="E8F4FD"/>
                </a:solidFill>
                <a:latin typeface="Courier New" pitchFamily="34" charset="0"/>
                <a:ea typeface="Courier New" pitchFamily="34" charset="-122"/>
                <a:cs typeface="Courier New" pitchFamily="34" charset="-120"/>
              </a:rPr>
              <a:t>  "required": ["id", "name", "email"],</a:t>
            </a:r>
          </a:p>
          <a:p>
            <a:pPr marL="0" indent="0" algn="l">
              <a:buNone/>
            </a:pPr>
            <a:r>
              <a:rPr lang="en-US" sz="820" dirty="0">
                <a:solidFill>
                  <a:srgbClr val="E8F4FD"/>
                </a:solidFill>
                <a:latin typeface="Courier New" pitchFamily="34" charset="0"/>
                <a:ea typeface="Courier New" pitchFamily="34" charset="-122"/>
                <a:cs typeface="Courier New" pitchFamily="34" charset="-120"/>
              </a:rPr>
              <a:t>  "properties": {</a:t>
            </a:r>
          </a:p>
          <a:p>
            <a:pPr marL="0" indent="0" algn="l">
              <a:buNone/>
            </a:pPr>
            <a:r>
              <a:rPr lang="en-US" sz="820" dirty="0">
                <a:solidFill>
                  <a:srgbClr val="E8F4FD"/>
                </a:solidFill>
                <a:latin typeface="Courier New" pitchFamily="34" charset="0"/>
                <a:ea typeface="Courier New" pitchFamily="34" charset="-122"/>
                <a:cs typeface="Courier New" pitchFamily="34" charset="-120"/>
              </a:rPr>
              <a:t>    "id":    { "type": "integer" },</a:t>
            </a:r>
          </a:p>
          <a:p>
            <a:pPr marL="0" indent="0" algn="l">
              <a:buNone/>
            </a:pPr>
            <a:r>
              <a:rPr lang="en-US" sz="820" dirty="0">
                <a:solidFill>
                  <a:srgbClr val="E8F4FD"/>
                </a:solidFill>
                <a:latin typeface="Courier New" pitchFamily="34" charset="0"/>
                <a:ea typeface="Courier New" pitchFamily="34" charset="-122"/>
                <a:cs typeface="Courier New" pitchFamily="34" charset="-120"/>
              </a:rPr>
              <a:t>    "name":  { "type": "string"  },</a:t>
            </a:r>
          </a:p>
          <a:p>
            <a:pPr marL="0" indent="0" algn="l">
              <a:buNone/>
            </a:pPr>
            <a:r>
              <a:rPr lang="en-US" sz="820" dirty="0">
                <a:solidFill>
                  <a:srgbClr val="E8F4FD"/>
                </a:solidFill>
                <a:latin typeface="Courier New" pitchFamily="34" charset="0"/>
                <a:ea typeface="Courier New" pitchFamily="34" charset="-122"/>
                <a:cs typeface="Courier New" pitchFamily="34" charset="-120"/>
              </a:rPr>
              <a:t>    "email": { "type": "string",</a:t>
            </a:r>
          </a:p>
          <a:p>
            <a:pPr marL="0" indent="0" algn="l">
              <a:buNone/>
            </a:pPr>
            <a:r>
              <a:rPr lang="en-US" sz="820" dirty="0">
                <a:solidFill>
                  <a:srgbClr val="E8F4FD"/>
                </a:solidFill>
                <a:latin typeface="Courier New" pitchFamily="34" charset="0"/>
                <a:ea typeface="Courier New" pitchFamily="34" charset="-122"/>
                <a:cs typeface="Courier New" pitchFamily="34" charset="-120"/>
              </a:rPr>
              <a:t>               "format": "email"  }</a:t>
            </a:r>
          </a:p>
          <a:p>
            <a:pPr marL="0" indent="0" algn="l">
              <a:buNone/>
            </a:pPr>
            <a:r>
              <a:rPr lang="en-US" sz="820" dirty="0">
                <a:solidFill>
                  <a:srgbClr val="E8F4FD"/>
                </a:solidFill>
                <a:latin typeface="Courier New" pitchFamily="34" charset="0"/>
                <a:ea typeface="Courier New" pitchFamily="34" charset="-122"/>
                <a:cs typeface="Courier New" pitchFamily="34" charset="-120"/>
              </a:rPr>
              <a:t>  }</a:t>
            </a:r>
          </a:p>
          <a:p>
            <a:pPr marL="0" indent="0" algn="l">
              <a:buNone/>
            </a:pPr>
            <a:r>
              <a:rPr lang="en-US" sz="820" dirty="0">
                <a:solidFill>
                  <a:srgbClr val="E8F4FD"/>
                </a:solidFill>
                <a:latin typeface="Courier New" pitchFamily="34" charset="0"/>
                <a:ea typeface="Courier New" pitchFamily="34" charset="-122"/>
                <a:cs typeface="Courier New" pitchFamily="34" charset="-120"/>
              </a:rPr>
              <a:t>}</a:t>
            </a:r>
          </a:p>
        </p:txBody>
      </p:sp>
      <p:sp>
        <p:nvSpPr>
          <p:cNvPr id="202" name="CodeBlock3"/>
          <p:cNvSpPr>
            <a:spLocks noGrp="1"/>
          </p:cNvSpPr>
          <p:nvPr/>
        </p:nvSpPr>
        <p:spPr>
          <a:xfrm>
            <a:off x="4660900" y="2946028"/>
            <a:ext cx="4114800" cy="1885849"/>
          </a:xfrm>
          <a:prstGeom prst="rect">
            <a:avLst/>
          </a:prstGeom>
          <a:solidFill>
            <a:srgbClr val="1E2A36"/>
          </a:solidFill>
          <a:ln>
            <a:noFill/>
          </a:ln>
        </p:spPr>
        <p:txBody>
          <a:bodyPr wrap="square" lIns="91440" tIns="45720" rIns="91440" bIns="45720" anchor="t">
            <a:normAutofit fontScale="92500" lnSpcReduction="10000"/>
          </a:bodyPr>
          <a:lstStyle/>
          <a:p>
            <a:pPr marL="0" indent="0" algn="l">
              <a:buNone/>
            </a:pPr>
            <a:r>
              <a:rPr lang="en-US" sz="800" b="1" dirty="0">
                <a:solidFill>
                  <a:srgbClr val="90A4AE"/>
                </a:solidFill>
              </a:rPr>
              <a:t>Schema validation test — REST Assured</a:t>
            </a:r>
          </a:p>
          <a:p>
            <a:pPr marL="0" indent="0" algn="l">
              <a:buNone/>
            </a:pPr>
            <a:r>
              <a:rPr lang="en-US" sz="820" dirty="0">
                <a:solidFill>
                  <a:srgbClr val="E8F4FD"/>
                </a:solidFill>
                <a:latin typeface="Courier New" pitchFamily="34" charset="0"/>
                <a:ea typeface="Courier New" pitchFamily="34" charset="-122"/>
                <a:cs typeface="Courier New" pitchFamily="34" charset="-120"/>
              </a:rPr>
              <a:t>// Assert response matches schema</a:t>
            </a:r>
          </a:p>
          <a:p>
            <a:pPr marL="0" indent="0" algn="l">
              <a:buNone/>
            </a:pPr>
            <a:r>
              <a:rPr lang="en-US" sz="820" dirty="0">
                <a:solidFill>
                  <a:srgbClr val="E8F4FD"/>
                </a:solidFill>
                <a:latin typeface="Courier New" pitchFamily="34" charset="0"/>
                <a:ea typeface="Courier New" pitchFamily="34" charset="-122"/>
                <a:cs typeface="Courier New" pitchFamily="34" charset="-120"/>
              </a:rPr>
              <a:t>import static io.restassured.module.jsv</a:t>
            </a:r>
          </a:p>
          <a:p>
            <a:pPr marL="0" indent="0" algn="l">
              <a:buNone/>
            </a:pPr>
            <a:r>
              <a:rPr lang="en-US" sz="820" dirty="0">
                <a:solidFill>
                  <a:srgbClr val="E8F4FD"/>
                </a:solidFill>
                <a:latin typeface="Courier New" pitchFamily="34" charset="0"/>
                <a:ea typeface="Courier New" pitchFamily="34" charset="-122"/>
                <a:cs typeface="Courier New" pitchFamily="34" charset="-120"/>
              </a:rPr>
              <a:t>    .JsonSchemaValidator.*;</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@Test</a:t>
            </a:r>
          </a:p>
          <a:p>
            <a:pPr marL="0" indent="0" algn="l">
              <a:buNone/>
            </a:pPr>
            <a:r>
              <a:rPr lang="en-US" sz="820" dirty="0">
                <a:solidFill>
                  <a:srgbClr val="E8F4FD"/>
                </a:solidFill>
                <a:latin typeface="Courier New" pitchFamily="34" charset="0"/>
                <a:ea typeface="Courier New" pitchFamily="34" charset="-122"/>
                <a:cs typeface="Courier New" pitchFamily="34" charset="-120"/>
              </a:rPr>
              <a:t>void getUser_responseMatchesSchema() {</a:t>
            </a:r>
          </a:p>
          <a:p>
            <a:pPr marL="0" indent="0" algn="l">
              <a:buNone/>
            </a:pPr>
            <a:r>
              <a:rPr lang="en-US" sz="820" dirty="0">
                <a:solidFill>
                  <a:srgbClr val="E8F4FD"/>
                </a:solidFill>
                <a:latin typeface="Courier New" pitchFamily="34" charset="0"/>
                <a:ea typeface="Courier New" pitchFamily="34" charset="-122"/>
                <a:cs typeface="Courier New" pitchFamily="34" charset="-120"/>
              </a:rPr>
              <a:t>  given()</a:t>
            </a:r>
          </a:p>
          <a:p>
            <a:pPr marL="0" indent="0" algn="l">
              <a:buNone/>
            </a:pPr>
            <a:r>
              <a:rPr lang="en-US" sz="820" dirty="0">
                <a:solidFill>
                  <a:srgbClr val="E8F4FD"/>
                </a:solidFill>
                <a:latin typeface="Courier New" pitchFamily="34" charset="0"/>
                <a:ea typeface="Courier New" pitchFamily="34" charset="-122"/>
                <a:cs typeface="Courier New" pitchFamily="34" charset="-120"/>
              </a:rPr>
              <a:t>    .baseUri(BASE_URL)</a:t>
            </a:r>
          </a:p>
          <a:p>
            <a:pPr marL="0" indent="0" algn="l">
              <a:buNone/>
            </a:pPr>
            <a:r>
              <a:rPr lang="en-US" sz="820" dirty="0">
                <a:solidFill>
                  <a:srgbClr val="E8F4FD"/>
                </a:solidFill>
                <a:latin typeface="Courier New" pitchFamily="34" charset="0"/>
                <a:ea typeface="Courier New" pitchFamily="34" charset="-122"/>
                <a:cs typeface="Courier New" pitchFamily="34" charset="-120"/>
              </a:rPr>
              <a:t>  .when()</a:t>
            </a:r>
          </a:p>
          <a:p>
            <a:pPr marL="0" indent="0" algn="l">
              <a:buNone/>
            </a:pPr>
            <a:r>
              <a:rPr lang="en-US" sz="820" dirty="0">
                <a:solidFill>
                  <a:srgbClr val="E8F4FD"/>
                </a:solidFill>
                <a:latin typeface="Courier New" pitchFamily="34" charset="0"/>
                <a:ea typeface="Courier New" pitchFamily="34" charset="-122"/>
                <a:cs typeface="Courier New" pitchFamily="34" charset="-120"/>
              </a:rPr>
              <a:t>    .get("/users/1")</a:t>
            </a:r>
          </a:p>
          <a:p>
            <a:pPr marL="0" indent="0" algn="l">
              <a:buNone/>
            </a:pPr>
            <a:r>
              <a:rPr lang="en-US" sz="820" dirty="0">
                <a:solidFill>
                  <a:srgbClr val="E8F4FD"/>
                </a:solidFill>
                <a:latin typeface="Courier New" pitchFamily="34" charset="0"/>
                <a:ea typeface="Courier New" pitchFamily="34" charset="-122"/>
                <a:cs typeface="Courier New" pitchFamily="34" charset="-120"/>
              </a:rPr>
              <a:t>  .then()</a:t>
            </a:r>
          </a:p>
          <a:p>
            <a:pPr marL="0" indent="0" algn="l">
              <a:buNone/>
            </a:pPr>
            <a:r>
              <a:rPr lang="en-US" sz="820" dirty="0">
                <a:solidFill>
                  <a:srgbClr val="E8F4FD"/>
                </a:solidFill>
                <a:latin typeface="Courier New" pitchFamily="34" charset="0"/>
                <a:ea typeface="Courier New" pitchFamily="34" charset="-122"/>
                <a:cs typeface="Courier New" pitchFamily="34" charset="-120"/>
              </a:rPr>
              <a:t>    .statusCode(200)</a:t>
            </a:r>
          </a:p>
          <a:p>
            <a:pPr marL="0" indent="0" algn="l">
              <a:buNone/>
            </a:pPr>
            <a:r>
              <a:rPr lang="en-US" sz="820" dirty="0">
                <a:solidFill>
                  <a:srgbClr val="E8F4FD"/>
                </a:solidFill>
                <a:latin typeface="Courier New" pitchFamily="34" charset="0"/>
                <a:ea typeface="Courier New" pitchFamily="34" charset="-122"/>
                <a:cs typeface="Courier New" pitchFamily="34" charset="-120"/>
              </a:rPr>
              <a:t>    .body(matchesJsonSchemaInClasspath(</a:t>
            </a:r>
          </a:p>
          <a:p>
            <a:pPr marL="0" indent="0" algn="l">
              <a:buNone/>
            </a:pPr>
            <a:r>
              <a:rPr lang="en-US" sz="820" dirty="0">
                <a:solidFill>
                  <a:srgbClr val="E8F4FD"/>
                </a:solidFill>
                <a:latin typeface="Courier New" pitchFamily="34" charset="0"/>
                <a:ea typeface="Courier New" pitchFamily="34" charset="-122"/>
                <a:cs typeface="Courier New" pitchFamily="34" charset="-120"/>
              </a:rPr>
              <a:t>      "schemas/user-schema.json"));</a:t>
            </a:r>
          </a:p>
          <a:p>
            <a:pPr marL="0" indent="0" algn="l">
              <a:buNone/>
            </a:pPr>
            <a:r>
              <a:rPr lang="en-US" sz="820" dirty="0">
                <a:solidFill>
                  <a:srgbClr val="E8F4FD"/>
                </a:solidFill>
                <a:latin typeface="Courier New" pitchFamily="34" charset="0"/>
                <a:ea typeface="Courier New" pitchFamily="34" charset="-122"/>
                <a:cs typeface="Courier New" pitchFamily="34" charset="-120"/>
              </a:rPr>
              <a:t>}</a:t>
            </a:r>
          </a:p>
        </p:txBody>
      </p:sp>
    </p:spTree>
    <p:extLst>
      <p:ext uri="{BB962C8B-B14F-4D97-AF65-F5344CB8AC3E}">
        <p14:creationId xmlns:p14="http://schemas.microsoft.com/office/powerpoint/2010/main" val="960973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POSTMAN / NEWMAN</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Postman Collections &amp; Newman CLI in CI</a:t>
            </a:r>
            <a:endParaRPr lang="en-US" sz="2200" dirty="0"/>
          </a:p>
        </p:txBody>
      </p:sp>
      <p:sp>
        <p:nvSpPr>
          <p:cNvPr id="200" name="LeftLabel"/>
          <p:cNvSpPr>
            <a:spLocks noGrp="1"/>
          </p:cNvSpPr>
          <p:nvPr/>
        </p:nvSpPr>
        <p:spPr>
          <a:xfrm>
            <a:off x="368300" y="863600"/>
            <a:ext cx="4064000" cy="292100"/>
          </a:xfrm>
          <a:prstGeom prst="rect">
            <a:avLst/>
          </a:prstGeom>
          <a:solidFill>
            <a:srgbClr val="263345"/>
          </a:solidFill>
          <a:ln>
            <a:noFill/>
          </a:ln>
        </p:spPr>
        <p:txBody>
          <a:bodyPr wrap="square" lIns="91440" tIns="45720" rIns="91440" bIns="45720" anchor="ctr"/>
          <a:lstStyle/>
          <a:p>
            <a:pPr marL="0" indent="0" algn="l">
              <a:buNone/>
            </a:pPr>
            <a:r>
              <a:rPr lang="en-US" sz="900" b="1" dirty="0">
                <a:solidFill>
                  <a:srgbClr val="64B5F6"/>
                </a:solidFill>
              </a:rPr>
              <a:t>Newman CLI — Command Reference</a:t>
            </a:r>
          </a:p>
        </p:txBody>
      </p:sp>
      <p:sp>
        <p:nvSpPr>
          <p:cNvPr id="201" name="LeftCodeBlock"/>
          <p:cNvSpPr>
            <a:spLocks noGrp="1"/>
          </p:cNvSpPr>
          <p:nvPr/>
        </p:nvSpPr>
        <p:spPr>
          <a:xfrm>
            <a:off x="368300" y="1219200"/>
            <a:ext cx="4064000" cy="3612676"/>
          </a:xfrm>
          <a:prstGeom prst="rect">
            <a:avLst/>
          </a:prstGeom>
          <a:solidFill>
            <a:srgbClr val="1E2A36"/>
          </a:solidFill>
          <a:ln>
            <a:noFill/>
          </a:ln>
        </p:spPr>
        <p:txBody>
          <a:bodyPr wrap="square" lIns="91440" tIns="45720" rIns="91440" bIns="45720" anchor="t">
            <a:normAutofit/>
          </a:bodyPr>
          <a:lstStyle/>
          <a:p>
            <a:pPr marL="0" indent="0" algn="l">
              <a:buNone/>
            </a:pPr>
            <a:r>
              <a:rPr lang="en-US" sz="800" b="1" dirty="0">
                <a:solidFill>
                  <a:srgbClr val="90A4AE"/>
                </a:solidFill>
              </a:rPr>
              <a:t>Newman CLI commands</a:t>
            </a:r>
          </a:p>
          <a:p>
            <a:pPr marL="0" indent="0" algn="l">
              <a:buNone/>
            </a:pPr>
            <a:r>
              <a:rPr lang="en-US" sz="820" dirty="0">
                <a:solidFill>
                  <a:srgbClr val="E8F4FD"/>
                </a:solidFill>
                <a:latin typeface="Courier New" pitchFamily="34" charset="0"/>
                <a:ea typeface="Courier New" pitchFamily="34" charset="-122"/>
                <a:cs typeface="Courier New" pitchFamily="34" charset="-120"/>
              </a:rPr>
              <a:t># Install Newman globally</a:t>
            </a:r>
          </a:p>
          <a:p>
            <a:pPr marL="0" indent="0" algn="l">
              <a:buNone/>
            </a:pPr>
            <a:r>
              <a:rPr lang="en-US" sz="820" dirty="0">
                <a:solidFill>
                  <a:srgbClr val="E8F4FD"/>
                </a:solidFill>
                <a:latin typeface="Courier New" pitchFamily="34" charset="0"/>
                <a:ea typeface="Courier New" pitchFamily="34" charset="-122"/>
                <a:cs typeface="Courier New" pitchFamily="34" charset="-120"/>
              </a:rPr>
              <a:t>npm install -g newman</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Run a collection (basic)</a:t>
            </a:r>
          </a:p>
          <a:p>
            <a:pPr marL="0" indent="0" algn="l">
              <a:buNone/>
            </a:pPr>
            <a:r>
              <a:rPr lang="en-US" sz="820" dirty="0">
                <a:solidFill>
                  <a:srgbClr val="E8F4FD"/>
                </a:solidFill>
                <a:latin typeface="Courier New" pitchFamily="34" charset="0"/>
                <a:ea typeface="Courier New" pitchFamily="34" charset="-122"/>
                <a:cs typeface="Courier New" pitchFamily="34" charset="-120"/>
              </a:rPr>
              <a:t>newman run collection.json</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Run with environment file</a:t>
            </a:r>
          </a:p>
          <a:p>
            <a:pPr marL="0" indent="0" algn="l">
              <a:buNone/>
            </a:pPr>
            <a:r>
              <a:rPr lang="en-US" sz="820" dirty="0">
                <a:solidFill>
                  <a:srgbClr val="E8F4FD"/>
                </a:solidFill>
                <a:latin typeface="Courier New" pitchFamily="34" charset="0"/>
                <a:ea typeface="Courier New" pitchFamily="34" charset="-122"/>
                <a:cs typeface="Courier New" pitchFamily="34" charset="-120"/>
              </a:rPr>
              <a:t>newman run collection.json \</a:t>
            </a:r>
          </a:p>
          <a:p>
            <a:pPr marL="0" indent="0" algn="l">
              <a:buNone/>
            </a:pPr>
            <a:r>
              <a:rPr lang="en-US" sz="820" dirty="0">
                <a:solidFill>
                  <a:srgbClr val="E8F4FD"/>
                </a:solidFill>
                <a:latin typeface="Courier New" pitchFamily="34" charset="0"/>
                <a:ea typeface="Courier New" pitchFamily="34" charset="-122"/>
                <a:cs typeface="Courier New" pitchFamily="34" charset="-120"/>
              </a:rPr>
              <a:t>  -e environments/staging.json</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Generate JUnit XML report (for CI)</a:t>
            </a:r>
          </a:p>
          <a:p>
            <a:pPr marL="0" indent="0" algn="l">
              <a:buNone/>
            </a:pPr>
            <a:r>
              <a:rPr lang="en-US" sz="820" dirty="0">
                <a:solidFill>
                  <a:srgbClr val="E8F4FD"/>
                </a:solidFill>
                <a:latin typeface="Courier New" pitchFamily="34" charset="0"/>
                <a:ea typeface="Courier New" pitchFamily="34" charset="-122"/>
                <a:cs typeface="Courier New" pitchFamily="34" charset="-120"/>
              </a:rPr>
              <a:t>newman run collection.json \</a:t>
            </a:r>
          </a:p>
          <a:p>
            <a:pPr marL="0" indent="0" algn="l">
              <a:buNone/>
            </a:pPr>
            <a:r>
              <a:rPr lang="en-US" sz="820" dirty="0">
                <a:solidFill>
                  <a:srgbClr val="E8F4FD"/>
                </a:solidFill>
                <a:latin typeface="Courier New" pitchFamily="34" charset="0"/>
                <a:ea typeface="Courier New" pitchFamily="34" charset="-122"/>
                <a:cs typeface="Courier New" pitchFamily="34" charset="-120"/>
              </a:rPr>
              <a:t>  -e environments/staging.json \</a:t>
            </a:r>
          </a:p>
          <a:p>
            <a:pPr marL="0" indent="0" algn="l">
              <a:buNone/>
            </a:pPr>
            <a:r>
              <a:rPr lang="en-US" sz="820" dirty="0">
                <a:solidFill>
                  <a:srgbClr val="E8F4FD"/>
                </a:solidFill>
                <a:latin typeface="Courier New" pitchFamily="34" charset="0"/>
                <a:ea typeface="Courier New" pitchFamily="34" charset="-122"/>
                <a:cs typeface="Courier New" pitchFamily="34" charset="-120"/>
              </a:rPr>
              <a:t>  -r cli,junit \</a:t>
            </a:r>
          </a:p>
          <a:p>
            <a:pPr marL="0" indent="0" algn="l">
              <a:buNone/>
            </a:pPr>
            <a:r>
              <a:rPr lang="en-US" sz="820" dirty="0">
                <a:solidFill>
                  <a:srgbClr val="E8F4FD"/>
                </a:solidFill>
                <a:latin typeface="Courier New" pitchFamily="34" charset="0"/>
                <a:ea typeface="Courier New" pitchFamily="34" charset="-122"/>
                <a:cs typeface="Courier New" pitchFamily="34" charset="-120"/>
              </a:rPr>
              <a:t>  --reporter-junit-export results/</a:t>
            </a:r>
          </a:p>
          <a:p>
            <a:pPr marL="0" indent="0" algn="l">
              <a:buNone/>
            </a:pPr>
            <a:r>
              <a:rPr lang="en-US" sz="820" dirty="0">
                <a:solidFill>
                  <a:srgbClr val="E8F4FD"/>
                </a:solidFill>
                <a:latin typeface="Courier New" pitchFamily="34" charset="0"/>
                <a:ea typeface="Courier New" pitchFamily="34" charset="-122"/>
                <a:cs typeface="Courier New" pitchFamily="34" charset="-120"/>
              </a:rPr>
              <a:t>      newman-junit.xml</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Run specific folder in collection</a:t>
            </a:r>
          </a:p>
          <a:p>
            <a:pPr marL="0" indent="0" algn="l">
              <a:buNone/>
            </a:pPr>
            <a:r>
              <a:rPr lang="en-US" sz="820" dirty="0">
                <a:solidFill>
                  <a:srgbClr val="E8F4FD"/>
                </a:solidFill>
                <a:latin typeface="Courier New" pitchFamily="34" charset="0"/>
                <a:ea typeface="Courier New" pitchFamily="34" charset="-122"/>
                <a:cs typeface="Courier New" pitchFamily="34" charset="-120"/>
              </a:rPr>
              <a:t>newman run collection.json \</a:t>
            </a:r>
          </a:p>
          <a:p>
            <a:pPr marL="0" indent="0" algn="l">
              <a:buNone/>
            </a:pPr>
            <a:r>
              <a:rPr lang="en-US" sz="820" dirty="0">
                <a:solidFill>
                  <a:srgbClr val="E8F4FD"/>
                </a:solidFill>
                <a:latin typeface="Courier New" pitchFamily="34" charset="0"/>
                <a:ea typeface="Courier New" pitchFamily="34" charset="-122"/>
                <a:cs typeface="Courier New" pitchFamily="34" charset="-120"/>
              </a:rPr>
              <a:t>  --folder "User API Tests"</a:t>
            </a:r>
          </a:p>
        </p:txBody>
      </p:sp>
      <p:sp>
        <p:nvSpPr>
          <p:cNvPr id="202" name="RightLabel"/>
          <p:cNvSpPr>
            <a:spLocks noGrp="1"/>
          </p:cNvSpPr>
          <p:nvPr/>
        </p:nvSpPr>
        <p:spPr>
          <a:xfrm>
            <a:off x="4660900" y="863600"/>
            <a:ext cx="4114800" cy="292100"/>
          </a:xfrm>
          <a:prstGeom prst="rect">
            <a:avLst/>
          </a:prstGeom>
          <a:solidFill>
            <a:srgbClr val="263345"/>
          </a:solidFill>
          <a:ln>
            <a:noFill/>
          </a:ln>
        </p:spPr>
        <p:txBody>
          <a:bodyPr wrap="square" lIns="91440" tIns="45720" rIns="91440" bIns="45720" anchor="ctr"/>
          <a:lstStyle/>
          <a:p>
            <a:pPr marL="0" indent="0" algn="l">
              <a:buNone/>
            </a:pPr>
            <a:r>
              <a:rPr lang="en-US" sz="900" b="1" dirty="0">
                <a:solidFill>
                  <a:srgbClr val="64B5F6"/>
                </a:solidFill>
              </a:rPr>
              <a:t>GitHub Actions — Newman in CI Pipeline</a:t>
            </a:r>
          </a:p>
        </p:txBody>
      </p:sp>
      <p:sp>
        <p:nvSpPr>
          <p:cNvPr id="203" name="RightCodeBlock"/>
          <p:cNvSpPr>
            <a:spLocks noGrp="1"/>
          </p:cNvSpPr>
          <p:nvPr/>
        </p:nvSpPr>
        <p:spPr>
          <a:xfrm>
            <a:off x="4660900" y="1219200"/>
            <a:ext cx="4114800" cy="3612676"/>
          </a:xfrm>
          <a:prstGeom prst="rect">
            <a:avLst/>
          </a:prstGeom>
          <a:solidFill>
            <a:srgbClr val="1E2A36"/>
          </a:solidFill>
          <a:ln>
            <a:noFill/>
          </a:ln>
        </p:spPr>
        <p:txBody>
          <a:bodyPr wrap="square" lIns="91440" tIns="45720" rIns="91440" bIns="45720" anchor="t">
            <a:normAutofit fontScale="92500" lnSpcReduction="10000"/>
          </a:bodyPr>
          <a:lstStyle/>
          <a:p>
            <a:pPr marL="0" indent="0" algn="l">
              <a:buNone/>
            </a:pPr>
            <a:r>
              <a:rPr lang="en-US" sz="800" b="1" dirty="0">
                <a:solidFill>
                  <a:srgbClr val="90A4AE"/>
                </a:solidFill>
              </a:rPr>
              <a:t>.github/workflows/ci.yml — Newman job</a:t>
            </a:r>
          </a:p>
          <a:p>
            <a:pPr marL="0" indent="0" algn="l">
              <a:buNone/>
            </a:pPr>
            <a:r>
              <a:rPr lang="en-US" sz="820" dirty="0">
                <a:solidFill>
                  <a:srgbClr val="E8F4FD"/>
                </a:solidFill>
                <a:latin typeface="Courier New" pitchFamily="34" charset="0"/>
                <a:ea typeface="Courier New" pitchFamily="34" charset="-122"/>
                <a:cs typeface="Courier New" pitchFamily="34" charset="-120"/>
              </a:rPr>
              <a:t>  api-test:</a:t>
            </a:r>
          </a:p>
          <a:p>
            <a:pPr marL="0" indent="0" algn="l">
              <a:buNone/>
            </a:pPr>
            <a:r>
              <a:rPr lang="en-US" sz="820" dirty="0">
                <a:solidFill>
                  <a:srgbClr val="E8F4FD"/>
                </a:solidFill>
                <a:latin typeface="Courier New" pitchFamily="34" charset="0"/>
                <a:ea typeface="Courier New" pitchFamily="34" charset="-122"/>
                <a:cs typeface="Courier New" pitchFamily="34" charset="-120"/>
              </a:rPr>
              <a:t>    needs: unit-test</a:t>
            </a:r>
          </a:p>
          <a:p>
            <a:pPr marL="0" indent="0" algn="l">
              <a:buNone/>
            </a:pPr>
            <a:r>
              <a:rPr lang="en-US" sz="820" dirty="0">
                <a:solidFill>
                  <a:srgbClr val="E8F4FD"/>
                </a:solidFill>
                <a:latin typeface="Courier New" pitchFamily="34" charset="0"/>
                <a:ea typeface="Courier New" pitchFamily="34" charset="-122"/>
                <a:cs typeface="Courier New" pitchFamily="34" charset="-120"/>
              </a:rPr>
              <a:t>    runs-on: ubuntu-latest</a:t>
            </a:r>
          </a:p>
          <a:p>
            <a:pPr marL="0" indent="0" algn="l">
              <a:buNone/>
            </a:pPr>
            <a:r>
              <a:rPr lang="en-US" sz="820" dirty="0">
                <a:solidFill>
                  <a:srgbClr val="E8F4FD"/>
                </a:solidFill>
                <a:latin typeface="Courier New" pitchFamily="34" charset="0"/>
                <a:ea typeface="Courier New" pitchFamily="34" charset="-122"/>
                <a:cs typeface="Courier New" pitchFamily="34" charset="-120"/>
              </a:rPr>
              <a:t>    steps:</a:t>
            </a:r>
          </a:p>
          <a:p>
            <a:pPr marL="0" indent="0" algn="l">
              <a:buNone/>
            </a:pPr>
            <a:r>
              <a:rPr lang="en-US" sz="820" dirty="0">
                <a:solidFill>
                  <a:srgbClr val="E8F4FD"/>
                </a:solidFill>
                <a:latin typeface="Courier New" pitchFamily="34" charset="0"/>
                <a:ea typeface="Courier New" pitchFamily="34" charset="-122"/>
                <a:cs typeface="Courier New" pitchFamily="34" charset="-120"/>
              </a:rPr>
              <a:t>      - uses: actions/checkout@v6</a:t>
            </a:r>
          </a:p>
          <a:p>
            <a:pPr marL="0" indent="0" algn="l">
              <a:buNone/>
            </a:pPr>
            <a:r>
              <a:rPr lang="en-US" sz="820" dirty="0">
                <a:solidFill>
                  <a:srgbClr val="E8F4FD"/>
                </a:solidFill>
                <a:latin typeface="Courier New" pitchFamily="34" charset="0"/>
                <a:ea typeface="Courier New" pitchFamily="34" charset="-122"/>
                <a:cs typeface="Courier New" pitchFamily="34" charset="-120"/>
              </a:rPr>
              <a:t>      - uses: actions/setup-node@v4</a:t>
            </a:r>
          </a:p>
          <a:p>
            <a:pPr marL="0" indent="0" algn="l">
              <a:buNone/>
            </a:pPr>
            <a:r>
              <a:rPr lang="en-US" sz="820" dirty="0">
                <a:solidFill>
                  <a:srgbClr val="E8F4FD"/>
                </a:solidFill>
                <a:latin typeface="Courier New" pitchFamily="34" charset="0"/>
                <a:ea typeface="Courier New" pitchFamily="34" charset="-122"/>
                <a:cs typeface="Courier New" pitchFamily="34" charset="-120"/>
              </a:rPr>
              <a:t>        with:</a:t>
            </a:r>
          </a:p>
          <a:p>
            <a:pPr marL="0" indent="0" algn="l">
              <a:buNone/>
            </a:pPr>
            <a:r>
              <a:rPr lang="en-US" sz="820" dirty="0">
                <a:solidFill>
                  <a:srgbClr val="E8F4FD"/>
                </a:solidFill>
                <a:latin typeface="Courier New" pitchFamily="34" charset="0"/>
                <a:ea typeface="Courier New" pitchFamily="34" charset="-122"/>
                <a:cs typeface="Courier New" pitchFamily="34" charset="-120"/>
              </a:rPr>
              <a:t>          node-version: '20'</a:t>
            </a:r>
          </a:p>
          <a:p>
            <a:pPr marL="0" indent="0" algn="l">
              <a:buNone/>
            </a:pPr>
            <a:r>
              <a:rPr lang="en-US" sz="820" dirty="0">
                <a:solidFill>
                  <a:srgbClr val="E8F4FD"/>
                </a:solidFill>
                <a:latin typeface="Courier New" pitchFamily="34" charset="0"/>
                <a:ea typeface="Courier New" pitchFamily="34" charset="-122"/>
                <a:cs typeface="Courier New" pitchFamily="34" charset="-120"/>
              </a:rPr>
              <a:t>      - name: Install Newman</a:t>
            </a:r>
          </a:p>
          <a:p>
            <a:pPr marL="0" indent="0" algn="l">
              <a:buNone/>
            </a:pPr>
            <a:r>
              <a:rPr lang="en-US" sz="820" dirty="0">
                <a:solidFill>
                  <a:srgbClr val="E8F4FD"/>
                </a:solidFill>
                <a:latin typeface="Courier New" pitchFamily="34" charset="0"/>
                <a:ea typeface="Courier New" pitchFamily="34" charset="-122"/>
                <a:cs typeface="Courier New" pitchFamily="34" charset="-120"/>
              </a:rPr>
              <a:t>        run: npm install -g newman</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 name: Run API tests</a:t>
            </a:r>
          </a:p>
          <a:p>
            <a:pPr marL="0" indent="0" algn="l">
              <a:buNone/>
            </a:pPr>
            <a:r>
              <a:rPr lang="en-US" sz="820" dirty="0">
                <a:solidFill>
                  <a:srgbClr val="E8F4FD"/>
                </a:solidFill>
                <a:latin typeface="Courier New" pitchFamily="34" charset="0"/>
                <a:ea typeface="Courier New" pitchFamily="34" charset="-122"/>
                <a:cs typeface="Courier New" pitchFamily="34" charset="-120"/>
              </a:rPr>
              <a:t>        run: |</a:t>
            </a:r>
          </a:p>
          <a:p>
            <a:pPr marL="0" indent="0" algn="l">
              <a:buNone/>
            </a:pPr>
            <a:r>
              <a:rPr lang="en-US" sz="820" dirty="0">
                <a:solidFill>
                  <a:srgbClr val="E8F4FD"/>
                </a:solidFill>
                <a:latin typeface="Courier New" pitchFamily="34" charset="0"/>
                <a:ea typeface="Courier New" pitchFamily="34" charset="-122"/>
                <a:cs typeface="Courier New" pitchFamily="34" charset="-120"/>
              </a:rPr>
              <a:t>          newman run \</a:t>
            </a:r>
          </a:p>
          <a:p>
            <a:pPr marL="0" indent="0" algn="l">
              <a:buNone/>
            </a:pPr>
            <a:r>
              <a:rPr lang="en-US" sz="820" dirty="0">
                <a:solidFill>
                  <a:srgbClr val="E8F4FD"/>
                </a:solidFill>
                <a:latin typeface="Courier New" pitchFamily="34" charset="0"/>
                <a:ea typeface="Courier New" pitchFamily="34" charset="-122"/>
                <a:cs typeface="Courier New" pitchFamily="34" charset="-120"/>
              </a:rPr>
              <a:t>            postman/api-tests.json \</a:t>
            </a:r>
          </a:p>
          <a:p>
            <a:pPr marL="0" indent="0" algn="l">
              <a:buNone/>
            </a:pPr>
            <a:r>
              <a:rPr lang="en-US" sz="820" dirty="0">
                <a:solidFill>
                  <a:srgbClr val="E8F4FD"/>
                </a:solidFill>
                <a:latin typeface="Courier New" pitchFamily="34" charset="0"/>
                <a:ea typeface="Courier New" pitchFamily="34" charset="-122"/>
                <a:cs typeface="Courier New" pitchFamily="34" charset="-120"/>
              </a:rPr>
              <a:t>            -e postman/env-ci.json \</a:t>
            </a:r>
          </a:p>
          <a:p>
            <a:pPr marL="0" indent="0" algn="l">
              <a:buNone/>
            </a:pPr>
            <a:r>
              <a:rPr lang="en-US" sz="820" dirty="0">
                <a:solidFill>
                  <a:srgbClr val="E8F4FD"/>
                </a:solidFill>
                <a:latin typeface="Courier New" pitchFamily="34" charset="0"/>
                <a:ea typeface="Courier New" pitchFamily="34" charset="-122"/>
                <a:cs typeface="Courier New" pitchFamily="34" charset="-120"/>
              </a:rPr>
              <a:t>            -r cli,junit \</a:t>
            </a:r>
          </a:p>
          <a:p>
            <a:pPr marL="0" indent="0" algn="l">
              <a:buNone/>
            </a:pPr>
            <a:r>
              <a:rPr lang="en-US" sz="820" dirty="0">
                <a:solidFill>
                  <a:srgbClr val="E8F4FD"/>
                </a:solidFill>
                <a:latin typeface="Courier New" pitchFamily="34" charset="0"/>
                <a:ea typeface="Courier New" pitchFamily="34" charset="-122"/>
                <a:cs typeface="Courier New" pitchFamily="34" charset="-120"/>
              </a:rPr>
              <a:t>            --reporter-junit-export \</a:t>
            </a:r>
          </a:p>
          <a:p>
            <a:pPr marL="0" indent="0" algn="l">
              <a:buNone/>
            </a:pPr>
            <a:r>
              <a:rPr lang="en-US" sz="820" dirty="0">
                <a:solidFill>
                  <a:srgbClr val="E8F4FD"/>
                </a:solidFill>
                <a:latin typeface="Courier New" pitchFamily="34" charset="0"/>
                <a:ea typeface="Courier New" pitchFamily="34" charset="-122"/>
                <a:cs typeface="Courier New" pitchFamily="34" charset="-120"/>
              </a:rPr>
              <a:t>            results/newman-junit.xml</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 uses: actions/upload-artifact@v4</a:t>
            </a:r>
          </a:p>
          <a:p>
            <a:pPr marL="0" indent="0" algn="l">
              <a:buNone/>
            </a:pPr>
            <a:r>
              <a:rPr lang="en-US" sz="820" dirty="0">
                <a:solidFill>
                  <a:srgbClr val="E8F4FD"/>
                </a:solidFill>
                <a:latin typeface="Courier New" pitchFamily="34" charset="0"/>
                <a:ea typeface="Courier New" pitchFamily="34" charset="-122"/>
                <a:cs typeface="Courier New" pitchFamily="34" charset="-120"/>
              </a:rPr>
              <a:t>        if: always()</a:t>
            </a:r>
          </a:p>
          <a:p>
            <a:pPr marL="0" indent="0" algn="l">
              <a:buNone/>
            </a:pPr>
            <a:r>
              <a:rPr lang="en-US" sz="820" dirty="0">
                <a:solidFill>
                  <a:srgbClr val="E8F4FD"/>
                </a:solidFill>
                <a:latin typeface="Courier New" pitchFamily="34" charset="0"/>
                <a:ea typeface="Courier New" pitchFamily="34" charset="-122"/>
                <a:cs typeface="Courier New" pitchFamily="34" charset="-120"/>
              </a:rPr>
              <a:t>        with:</a:t>
            </a:r>
          </a:p>
          <a:p>
            <a:pPr marL="0" indent="0" algn="l">
              <a:buNone/>
            </a:pPr>
            <a:r>
              <a:rPr lang="en-US" sz="820" dirty="0">
                <a:solidFill>
                  <a:srgbClr val="E8F4FD"/>
                </a:solidFill>
                <a:latin typeface="Courier New" pitchFamily="34" charset="0"/>
                <a:ea typeface="Courier New" pitchFamily="34" charset="-122"/>
                <a:cs typeface="Courier New" pitchFamily="34" charset="-120"/>
              </a:rPr>
              <a:t>          name: api-test-results</a:t>
            </a:r>
          </a:p>
          <a:p>
            <a:pPr marL="0" indent="0" algn="l">
              <a:buNone/>
            </a:pPr>
            <a:r>
              <a:rPr lang="en-US" sz="820" dirty="0">
                <a:solidFill>
                  <a:srgbClr val="E8F4FD"/>
                </a:solidFill>
                <a:latin typeface="Courier New" pitchFamily="34" charset="0"/>
                <a:ea typeface="Courier New" pitchFamily="34" charset="-122"/>
                <a:cs typeface="Courier New" pitchFamily="34" charset="-120"/>
              </a:rPr>
              <a:t>          path: results/newman-junit.xml</a:t>
            </a:r>
          </a:p>
          <a:p>
            <a:pPr marL="0" indent="0" algn="l">
              <a:buNone/>
            </a:pPr>
            <a:r>
              <a:rPr lang="en-US" sz="820" dirty="0">
                <a:solidFill>
                  <a:srgbClr val="E8F4FD"/>
                </a:solidFill>
                <a:latin typeface="Courier New" pitchFamily="34" charset="0"/>
                <a:ea typeface="Courier New" pitchFamily="34" charset="-122"/>
                <a:cs typeface="Courier New" pitchFamily="34" charset="-120"/>
              </a:rPr>
              <a:t>      # upload-artifact stores the file only.</a:t>
            </a:r>
          </a:p>
          <a:p>
            <a:pPr marL="0" indent="0" algn="l">
              <a:buNone/>
            </a:pPr>
            <a:r>
              <a:rPr lang="en-US" sz="820" dirty="0">
                <a:solidFill>
                  <a:srgbClr val="E8F4FD"/>
                </a:solidFill>
                <a:latin typeface="Courier New" pitchFamily="34" charset="0"/>
                <a:ea typeface="Courier New" pitchFamily="34" charset="-122"/>
                <a:cs typeface="Courier New" pitchFamily="34" charset="-120"/>
              </a:rPr>
              <a:t>      # Add a test-reporting action (e.g.</a:t>
            </a:r>
          </a:p>
          <a:p>
            <a:pPr marL="0" indent="0" algn="l">
              <a:buNone/>
            </a:pPr>
            <a:r>
              <a:rPr lang="en-US" sz="820" dirty="0">
                <a:solidFill>
                  <a:srgbClr val="E8F4FD"/>
                </a:solidFill>
                <a:latin typeface="Courier New" pitchFamily="34" charset="0"/>
                <a:ea typeface="Courier New" pitchFamily="34" charset="-122"/>
                <a:cs typeface="Courier New" pitchFamily="34" charset="-120"/>
              </a:rPr>
              <a:t>      # dorny/test-reporter) to surface results</a:t>
            </a:r>
          </a:p>
          <a:p>
            <a:pPr marL="0" indent="0" algn="l">
              <a:buNone/>
            </a:pPr>
            <a:r>
              <a:rPr lang="en-US" sz="820" dirty="0">
                <a:solidFill>
                  <a:srgbClr val="E8F4FD"/>
                </a:solidFill>
                <a:latin typeface="Courier New" pitchFamily="34" charset="0"/>
                <a:ea typeface="Courier New" pitchFamily="34" charset="-122"/>
                <a:cs typeface="Courier New" pitchFamily="34" charset="-120"/>
              </a:rPr>
              <a:t>      # as job summaries or PR check annotations.</a:t>
            </a:r>
          </a:p>
        </p:txBody>
      </p:sp>
    </p:spTree>
    <p:extLst>
      <p:ext uri="{BB962C8B-B14F-4D97-AF65-F5344CB8AC3E}">
        <p14:creationId xmlns:p14="http://schemas.microsoft.com/office/powerpoint/2010/main" val="1047118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CI INTEGRATION</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Integrating REST Assured API Tests into CI</a:t>
            </a:r>
            <a:endParaRPr lang="en-US" sz="2200" dirty="0"/>
          </a:p>
        </p:txBody>
      </p:sp>
      <p:sp>
        <p:nvSpPr>
          <p:cNvPr id="200" name="LeftCodeBlock"/>
          <p:cNvSpPr>
            <a:spLocks noGrp="1"/>
          </p:cNvSpPr>
          <p:nvPr/>
        </p:nvSpPr>
        <p:spPr>
          <a:xfrm>
            <a:off x="368300" y="863600"/>
            <a:ext cx="4165600" cy="4097520"/>
          </a:xfrm>
          <a:prstGeom prst="rect">
            <a:avLst/>
          </a:prstGeom>
          <a:solidFill>
            <a:srgbClr val="1E2A36"/>
          </a:solidFill>
          <a:ln>
            <a:noFill/>
          </a:ln>
        </p:spPr>
        <p:txBody>
          <a:bodyPr wrap="square" lIns="91440" tIns="45720" rIns="91440" bIns="45720" anchor="t">
            <a:normAutofit/>
          </a:bodyPr>
          <a:lstStyle/>
          <a:p>
            <a:pPr marL="0" indent="0" algn="l">
              <a:buNone/>
            </a:pPr>
            <a:r>
              <a:rPr lang="en-US" sz="800" b="1" dirty="0">
                <a:solidFill>
                  <a:srgbClr val="90A4AE"/>
                </a:solidFill>
              </a:rPr>
              <a:t>pom.xml — Failsafe for API/integration tests</a:t>
            </a:r>
          </a:p>
          <a:p>
            <a:pPr marL="0" indent="0" algn="l">
              <a:buNone/>
            </a:pPr>
            <a:r>
              <a:rPr lang="en-US" sz="820" dirty="0">
                <a:solidFill>
                  <a:srgbClr val="E8F4FD"/>
                </a:solidFill>
                <a:latin typeface="Courier New" pitchFamily="34" charset="0"/>
                <a:ea typeface="Courier New" pitchFamily="34" charset="-122"/>
                <a:cs typeface="Courier New" pitchFamily="34" charset="-120"/>
              </a:rPr>
              <a:t>&lt;!-- pom.xml: run API tests via Failsafe --&gt;</a:t>
            </a:r>
          </a:p>
          <a:p>
            <a:pPr marL="0" indent="0" algn="l">
              <a:buNone/>
            </a:pPr>
            <a:r>
              <a:rPr lang="en-US" sz="820" dirty="0">
                <a:solidFill>
                  <a:srgbClr val="E8F4FD"/>
                </a:solidFill>
                <a:latin typeface="Courier New" pitchFamily="34" charset="0"/>
                <a:ea typeface="Courier New" pitchFamily="34" charset="-122"/>
                <a:cs typeface="Courier New" pitchFamily="34" charset="-120"/>
              </a:rPr>
              <a:t>&lt;plugin&gt;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&lt;groupId&gt;org.apache.maven.plugins&lt;/groupId&gt;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&lt;artifactId&gt;maven-failsafe-plugin&lt;/artifactId&gt;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&lt;version&gt;3.5.5&lt;/version&gt;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&lt;executions&gt;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&lt;execution&gt;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&lt;goals&gt;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&lt;goal&gt;integration-test&lt;/goal&gt;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&lt;goal&gt;verify&lt;/goal&gt;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&lt;/goals&gt;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&lt;/execution&gt;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&lt;/executions&gt;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&lt;configuration&gt;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&lt;groups&gt;api&lt;/groups&gt;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&lt;includes&gt;**/*IT.java&lt;/includes&gt;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&lt;/configuration&gt;</a:t>
            </a:r>
          </a:p>
          <a:p>
            <a:pPr marL="0" indent="0" algn="l">
              <a:buNone/>
            </a:pPr>
            <a:r>
              <a:rPr lang="en-US" sz="820" dirty="0">
                <a:solidFill>
                  <a:srgbClr val="E8F4FD"/>
                </a:solidFill>
                <a:latin typeface="Courier New" pitchFamily="34" charset="0"/>
                <a:ea typeface="Courier New" pitchFamily="34" charset="-122"/>
                <a:cs typeface="Courier New" pitchFamily="34" charset="-120"/>
              </a:rPr>
              <a:t>&lt;/plugin&gt;</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&lt;!-- Convention: API test class names end *IT --&gt;</a:t>
            </a:r>
          </a:p>
          <a:p>
            <a:pPr marL="0" indent="0" algn="l">
              <a:buNone/>
            </a:pPr>
            <a:r>
              <a:rPr lang="en-US" sz="820" dirty="0">
                <a:solidFill>
                  <a:srgbClr val="E8F4FD"/>
                </a:solidFill>
                <a:latin typeface="Courier New" pitchFamily="34" charset="0"/>
                <a:ea typeface="Courier New" pitchFamily="34" charset="-122"/>
                <a:cs typeface="Courier New" pitchFamily="34" charset="-120"/>
              </a:rPr>
              <a:t>&lt;!-- Run: mvn verify -Dgroups=api           --&gt;</a:t>
            </a:r>
          </a:p>
        </p:txBody>
      </p:sp>
      <p:sp>
        <p:nvSpPr>
          <p:cNvPr id="201" name="RightCodeBlock"/>
          <p:cNvSpPr>
            <a:spLocks noGrp="1"/>
          </p:cNvSpPr>
          <p:nvPr/>
        </p:nvSpPr>
        <p:spPr>
          <a:xfrm>
            <a:off x="4660900" y="863600"/>
            <a:ext cx="4114800" cy="4097520"/>
          </a:xfrm>
          <a:prstGeom prst="rect">
            <a:avLst/>
          </a:prstGeom>
          <a:solidFill>
            <a:srgbClr val="1E2A36"/>
          </a:solidFill>
          <a:ln>
            <a:noFill/>
          </a:ln>
        </p:spPr>
        <p:txBody>
          <a:bodyPr wrap="square" lIns="91440" tIns="45720" rIns="91440" bIns="45720" anchor="t">
            <a:normAutofit/>
          </a:bodyPr>
          <a:lstStyle/>
          <a:p>
            <a:pPr marL="0" indent="0" algn="l">
              <a:buNone/>
            </a:pPr>
            <a:r>
              <a:rPr lang="en-US" sz="800" b="1" dirty="0">
                <a:solidFill>
                  <a:srgbClr val="90A4AE"/>
                </a:solidFill>
              </a:rPr>
              <a:t>GitHub Actions — REST Assured API test job</a:t>
            </a:r>
          </a:p>
          <a:p>
            <a:pPr marL="0" indent="0" algn="l">
              <a:buNone/>
            </a:pPr>
            <a:r>
              <a:rPr lang="en-US" sz="820" dirty="0">
                <a:solidFill>
                  <a:srgbClr val="E8F4FD"/>
                </a:solidFill>
                <a:latin typeface="Courier New" pitchFamily="34" charset="0"/>
                <a:ea typeface="Courier New" pitchFamily="34" charset="-122"/>
                <a:cs typeface="Courier New" pitchFamily="34" charset="-120"/>
              </a:rPr>
              <a:t>  api-test:</a:t>
            </a:r>
          </a:p>
          <a:p>
            <a:pPr marL="0" indent="0" algn="l">
              <a:buNone/>
            </a:pPr>
            <a:r>
              <a:rPr lang="en-US" sz="820" dirty="0">
                <a:solidFill>
                  <a:srgbClr val="E8F4FD"/>
                </a:solidFill>
                <a:latin typeface="Courier New" pitchFamily="34" charset="0"/>
                <a:ea typeface="Courier New" pitchFamily="34" charset="-122"/>
                <a:cs typeface="Courier New" pitchFamily="34" charset="-120"/>
              </a:rPr>
              <a:t>    needs: unit-test</a:t>
            </a:r>
          </a:p>
          <a:p>
            <a:pPr marL="0" indent="0" algn="l">
              <a:buNone/>
            </a:pPr>
            <a:r>
              <a:rPr lang="en-US" sz="820" dirty="0">
                <a:solidFill>
                  <a:srgbClr val="E8F4FD"/>
                </a:solidFill>
                <a:latin typeface="Courier New" pitchFamily="34" charset="0"/>
                <a:ea typeface="Courier New" pitchFamily="34" charset="-122"/>
                <a:cs typeface="Courier New" pitchFamily="34" charset="-120"/>
              </a:rPr>
              <a:t>    runs-on: ubuntu-latest</a:t>
            </a:r>
          </a:p>
          <a:p>
            <a:pPr marL="0" indent="0" algn="l">
              <a:buNone/>
            </a:pPr>
            <a:r>
              <a:rPr lang="en-US" sz="820" dirty="0">
                <a:solidFill>
                  <a:srgbClr val="E8F4FD"/>
                </a:solidFill>
                <a:latin typeface="Courier New" pitchFamily="34" charset="0"/>
                <a:ea typeface="Courier New" pitchFamily="34" charset="-122"/>
                <a:cs typeface="Courier New" pitchFamily="34" charset="-120"/>
              </a:rPr>
              <a:t>    steps:</a:t>
            </a:r>
          </a:p>
          <a:p>
            <a:pPr marL="0" indent="0" algn="l">
              <a:buNone/>
            </a:pPr>
            <a:r>
              <a:rPr lang="en-US" sz="820" dirty="0">
                <a:solidFill>
                  <a:srgbClr val="E8F4FD"/>
                </a:solidFill>
                <a:latin typeface="Courier New" pitchFamily="34" charset="0"/>
                <a:ea typeface="Courier New" pitchFamily="34" charset="-122"/>
                <a:cs typeface="Courier New" pitchFamily="34" charset="-120"/>
              </a:rPr>
              <a:t>      - uses: actions/checkout@v6</a:t>
            </a:r>
          </a:p>
          <a:p>
            <a:pPr marL="0" indent="0" algn="l">
              <a:buNone/>
            </a:pPr>
            <a:r>
              <a:rPr lang="en-US" sz="820" dirty="0">
                <a:solidFill>
                  <a:srgbClr val="E8F4FD"/>
                </a:solidFill>
                <a:latin typeface="Courier New" pitchFamily="34" charset="0"/>
                <a:ea typeface="Courier New" pitchFamily="34" charset="-122"/>
                <a:cs typeface="Courier New" pitchFamily="34" charset="-120"/>
              </a:rPr>
              <a:t>      - uses: actions/setup-java@v5</a:t>
            </a:r>
          </a:p>
          <a:p>
            <a:pPr marL="0" indent="0" algn="l">
              <a:buNone/>
            </a:pPr>
            <a:r>
              <a:rPr lang="en-US" sz="820" dirty="0">
                <a:solidFill>
                  <a:srgbClr val="E8F4FD"/>
                </a:solidFill>
                <a:latin typeface="Courier New" pitchFamily="34" charset="0"/>
                <a:ea typeface="Courier New" pitchFamily="34" charset="-122"/>
                <a:cs typeface="Courier New" pitchFamily="34" charset="-120"/>
              </a:rPr>
              <a:t>        with:</a:t>
            </a:r>
          </a:p>
          <a:p>
            <a:pPr marL="0" indent="0" algn="l">
              <a:buNone/>
            </a:pPr>
            <a:r>
              <a:rPr lang="en-US" sz="820" dirty="0">
                <a:solidFill>
                  <a:srgbClr val="E8F4FD"/>
                </a:solidFill>
                <a:latin typeface="Courier New" pitchFamily="34" charset="0"/>
                <a:ea typeface="Courier New" pitchFamily="34" charset="-122"/>
                <a:cs typeface="Courier New" pitchFamily="34" charset="-120"/>
              </a:rPr>
              <a:t>          java-version: '21'</a:t>
            </a:r>
          </a:p>
          <a:p>
            <a:pPr marL="0" indent="0" algn="l">
              <a:buNone/>
            </a:pPr>
            <a:r>
              <a:rPr lang="en-US" sz="820" dirty="0">
                <a:solidFill>
                  <a:srgbClr val="E8F4FD"/>
                </a:solidFill>
                <a:latin typeface="Courier New" pitchFamily="34" charset="0"/>
                <a:ea typeface="Courier New" pitchFamily="34" charset="-122"/>
                <a:cs typeface="Courier New" pitchFamily="34" charset="-120"/>
              </a:rPr>
              <a:t>          distribution: temurin</a:t>
            </a:r>
          </a:p>
          <a:p>
            <a:pPr marL="0" indent="0" algn="l">
              <a:buNone/>
            </a:pPr>
            <a:r>
              <a:rPr lang="en-US" sz="820" dirty="0">
                <a:solidFill>
                  <a:srgbClr val="E8F4FD"/>
                </a:solidFill>
                <a:latin typeface="Courier New" pitchFamily="34" charset="0"/>
                <a:ea typeface="Courier New" pitchFamily="34" charset="-122"/>
                <a:cs typeface="Courier New" pitchFamily="34" charset="-120"/>
              </a:rPr>
              <a:t>      - uses: actions/cache@v4</a:t>
            </a:r>
          </a:p>
          <a:p>
            <a:pPr marL="0" indent="0" algn="l">
              <a:buNone/>
            </a:pPr>
            <a:r>
              <a:rPr lang="en-US" sz="820" dirty="0">
                <a:solidFill>
                  <a:srgbClr val="E8F4FD"/>
                </a:solidFill>
                <a:latin typeface="Courier New" pitchFamily="34" charset="0"/>
                <a:ea typeface="Courier New" pitchFamily="34" charset="-122"/>
                <a:cs typeface="Courier New" pitchFamily="34" charset="-120"/>
              </a:rPr>
              <a:t>        with:</a:t>
            </a:r>
          </a:p>
          <a:p>
            <a:pPr marL="0" indent="0" algn="l">
              <a:buNone/>
            </a:pPr>
            <a:r>
              <a:rPr lang="en-US" sz="820" dirty="0">
                <a:solidFill>
                  <a:srgbClr val="E8F4FD"/>
                </a:solidFill>
                <a:latin typeface="Courier New" pitchFamily="34" charset="0"/>
                <a:ea typeface="Courier New" pitchFamily="34" charset="-122"/>
                <a:cs typeface="Courier New" pitchFamily="34" charset="-120"/>
              </a:rPr>
              <a:t>          path: ~/.m2</a:t>
            </a:r>
          </a:p>
          <a:p>
            <a:pPr marL="0" indent="0" algn="l">
              <a:buNone/>
            </a:pPr>
            <a:r>
              <a:rPr lang="en-US" sz="820" dirty="0">
                <a:solidFill>
                  <a:srgbClr val="E8F4FD"/>
                </a:solidFill>
                <a:latin typeface="Courier New" pitchFamily="34" charset="0"/>
                <a:ea typeface="Courier New" pitchFamily="34" charset="-122"/>
                <a:cs typeface="Courier New" pitchFamily="34" charset="-120"/>
              </a:rPr>
              <a:t>          key: ${{ runner.os }}-m2-${{</a:t>
            </a:r>
          </a:p>
          <a:p>
            <a:pPr marL="0" indent="0" algn="l">
              <a:buNone/>
            </a:pPr>
            <a:r>
              <a:rPr lang="en-US" sz="820" dirty="0">
                <a:solidFill>
                  <a:srgbClr val="E8F4FD"/>
                </a:solidFill>
                <a:latin typeface="Courier New" pitchFamily="34" charset="0"/>
                <a:ea typeface="Courier New" pitchFamily="34" charset="-122"/>
                <a:cs typeface="Courier New" pitchFamily="34" charset="-120"/>
              </a:rPr>
              <a:t>            hashFiles('**/pom.xml') }}</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 name: Run API integration tests</a:t>
            </a:r>
          </a:p>
          <a:p>
            <a:pPr marL="0" indent="0" algn="l">
              <a:buNone/>
            </a:pPr>
            <a:r>
              <a:rPr lang="en-US" sz="820" dirty="0">
                <a:solidFill>
                  <a:srgbClr val="E8F4FD"/>
                </a:solidFill>
                <a:latin typeface="Courier New" pitchFamily="34" charset="0"/>
                <a:ea typeface="Courier New" pitchFamily="34" charset="-122"/>
                <a:cs typeface="Courier New" pitchFamily="34" charset="-120"/>
              </a:rPr>
              <a:t>        run: mvn verify -Dgroups=api</a:t>
            </a:r>
          </a:p>
          <a:p>
            <a:pPr marL="0" indent="0" algn="l">
              <a:buNone/>
            </a:pPr>
            <a:r>
              <a:rPr lang="en-US" sz="820" dirty="0">
                <a:solidFill>
                  <a:srgbClr val="E8F4FD"/>
                </a:solidFill>
                <a:latin typeface="Courier New" pitchFamily="34" charset="0"/>
                <a:ea typeface="Courier New" pitchFamily="34" charset="-122"/>
                <a:cs typeface="Courier New" pitchFamily="34" charset="-120"/>
              </a:rPr>
              <a:t>        env:</a:t>
            </a:r>
          </a:p>
          <a:p>
            <a:pPr marL="0" indent="0" algn="l">
              <a:buNone/>
            </a:pPr>
            <a:r>
              <a:rPr lang="en-US" sz="820" dirty="0">
                <a:solidFill>
                  <a:srgbClr val="E8F4FD"/>
                </a:solidFill>
                <a:latin typeface="Courier New" pitchFamily="34" charset="0"/>
                <a:ea typeface="Courier New" pitchFamily="34" charset="-122"/>
                <a:cs typeface="Courier New" pitchFamily="34" charset="-120"/>
              </a:rPr>
              <a:t>          API_BASE_URL: ${{ vars.STAGING_URL }}</a:t>
            </a:r>
          </a:p>
          <a:p>
            <a:pPr marL="0" indent="0" algn="l">
              <a:buNone/>
            </a:pPr>
            <a:r>
              <a:rPr lang="en-US" sz="820" dirty="0">
                <a:solidFill>
                  <a:srgbClr val="E8F4FD"/>
                </a:solidFill>
                <a:latin typeface="Courier New" pitchFamily="34" charset="0"/>
                <a:ea typeface="Courier New" pitchFamily="34" charset="-122"/>
                <a:cs typeface="Courier New" pitchFamily="34" charset="-120"/>
              </a:rPr>
              <a:t>          API_KEY: ${{ secrets.API_KEY }}</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 uses: actions/upload-artifact@v4</a:t>
            </a:r>
          </a:p>
          <a:p>
            <a:pPr marL="0" indent="0" algn="l">
              <a:buNone/>
            </a:pPr>
            <a:r>
              <a:rPr lang="en-US" sz="820" dirty="0">
                <a:solidFill>
                  <a:srgbClr val="E8F4FD"/>
                </a:solidFill>
                <a:latin typeface="Courier New" pitchFamily="34" charset="0"/>
                <a:ea typeface="Courier New" pitchFamily="34" charset="-122"/>
                <a:cs typeface="Courier New" pitchFamily="34" charset="-120"/>
              </a:rPr>
              <a:t>        if: always()</a:t>
            </a:r>
          </a:p>
          <a:p>
            <a:pPr marL="0" indent="0" algn="l">
              <a:buNone/>
            </a:pPr>
            <a:r>
              <a:rPr lang="en-US" sz="820" dirty="0">
                <a:solidFill>
                  <a:srgbClr val="E8F4FD"/>
                </a:solidFill>
                <a:latin typeface="Courier New" pitchFamily="34" charset="0"/>
                <a:ea typeface="Courier New" pitchFamily="34" charset="-122"/>
                <a:cs typeface="Courier New" pitchFamily="34" charset="-120"/>
              </a:rPr>
              <a:t>        with:</a:t>
            </a:r>
          </a:p>
          <a:p>
            <a:pPr marL="0" indent="0" algn="l">
              <a:buNone/>
            </a:pPr>
            <a:r>
              <a:rPr lang="en-US" sz="820" dirty="0">
                <a:solidFill>
                  <a:srgbClr val="E8F4FD"/>
                </a:solidFill>
                <a:latin typeface="Courier New" pitchFamily="34" charset="0"/>
                <a:ea typeface="Courier New" pitchFamily="34" charset="-122"/>
                <a:cs typeface="Courier New" pitchFamily="34" charset="-120"/>
              </a:rPr>
              <a:t>          name: api-test-results</a:t>
            </a:r>
          </a:p>
          <a:p>
            <a:pPr marL="0" indent="0" algn="l">
              <a:buNone/>
            </a:pPr>
            <a:r>
              <a:rPr lang="en-US" sz="820" dirty="0">
                <a:solidFill>
                  <a:srgbClr val="E8F4FD"/>
                </a:solidFill>
                <a:latin typeface="Courier New" pitchFamily="34" charset="0"/>
                <a:ea typeface="Courier New" pitchFamily="34" charset="-122"/>
                <a:cs typeface="Courier New" pitchFamily="34" charset="-120"/>
              </a:rPr>
              <a:t>          path: target/failsafe-reports/</a:t>
            </a:r>
          </a:p>
          <a:p>
            <a:pPr marL="0" indent="0" algn="l">
              <a:buNone/>
            </a:pPr>
            <a:r>
              <a:rPr lang="en-US" sz="820" dirty="0">
                <a:solidFill>
                  <a:srgbClr val="E8F4FD"/>
                </a:solidFill>
                <a:latin typeface="Courier New" pitchFamily="34" charset="0"/>
                <a:ea typeface="Courier New" pitchFamily="34" charset="-122"/>
                <a:cs typeface="Courier New" pitchFamily="34" charset="-120"/>
              </a:rPr>
              <a:t>      # upload-artifact stores the XML file.</a:t>
            </a:r>
          </a:p>
          <a:p>
            <a:pPr marL="0" indent="0" algn="l">
              <a:buNone/>
            </a:pPr>
            <a:r>
              <a:rPr lang="en-US" sz="820" dirty="0">
                <a:solidFill>
                  <a:srgbClr val="E8F4FD"/>
                </a:solidFill>
                <a:latin typeface="Courier New" pitchFamily="34" charset="0"/>
                <a:ea typeface="Courier New" pitchFamily="34" charset="-122"/>
                <a:cs typeface="Courier New" pitchFamily="34" charset="-120"/>
              </a:rPr>
              <a:t>      # Use a test-reporting action to parse JUnit</a:t>
            </a:r>
          </a:p>
          <a:p>
            <a:pPr marL="0" indent="0" algn="l">
              <a:buNone/>
            </a:pPr>
            <a:r>
              <a:rPr lang="en-US" sz="820" dirty="0">
                <a:solidFill>
                  <a:srgbClr val="E8F4FD"/>
                </a:solidFill>
                <a:latin typeface="Courier New" pitchFamily="34" charset="0"/>
                <a:ea typeface="Courier New" pitchFamily="34" charset="-122"/>
                <a:cs typeface="Courier New" pitchFamily="34" charset="-120"/>
              </a:rPr>
              <a:t>      # XML and surface results in the job summary.</a:t>
            </a:r>
          </a:p>
        </p:txBody>
      </p:sp>
    </p:spTree>
    <p:extLst>
      <p:ext uri="{BB962C8B-B14F-4D97-AF65-F5344CB8AC3E}">
        <p14:creationId xmlns:p14="http://schemas.microsoft.com/office/powerpoint/2010/main" val="2835170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REPORTS &amp; ANALYSIS</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Analysing API Test Reports &amp; CI Execution Evidence</a:t>
            </a:r>
            <a:endParaRPr lang="en-US" sz="2200" dirty="0"/>
          </a:p>
        </p:txBody>
      </p:sp>
      <p:sp>
        <p:nvSpPr>
          <p:cNvPr id="33" name="Shape 31"/>
          <p:cNvSpPr/>
          <p:nvPr/>
        </p:nvSpPr>
        <p:spPr>
          <a:xfrm>
            <a:off x="4617720" y="868680"/>
            <a:ext cx="4160520" cy="292608"/>
          </a:xfrm>
          <a:prstGeom prst="rect">
            <a:avLst/>
          </a:prstGeom>
          <a:solidFill>
            <a:srgbClr val="00897B"/>
          </a:solidFill>
          <a:ln w="12700">
            <a:solidFill>
              <a:srgbClr val="00897B"/>
            </a:solidFill>
            <a:prstDash val="solid"/>
          </a:ln>
        </p:spPr>
      </p:sp>
      <p:sp>
        <p:nvSpPr>
          <p:cNvPr id="34" name="Text 32"/>
          <p:cNvSpPr/>
          <p:nvPr/>
        </p:nvSpPr>
        <p:spPr>
          <a:xfrm>
            <a:off x="4617720" y="868680"/>
            <a:ext cx="4160520" cy="292608"/>
          </a:xfrm>
          <a:prstGeom prst="rect">
            <a:avLst/>
          </a:prstGeom>
          <a:noFill/>
          <a:ln/>
        </p:spPr>
        <p:txBody>
          <a:bodyPr wrap="square" lIns="0" tIns="0" rIns="0" bIns="0" rtlCol="0" anchor="ctr"/>
          <a:lstStyle/>
          <a:p>
            <a:pPr marL="0" indent="0" algn="ctr">
              <a:buNone/>
            </a:pPr>
            <a:r>
              <a:rPr lang="en-US" sz="1100" b="1" dirty="0">
                <a:solidFill>
                  <a:srgbClr val="FFFFFF"/>
                </a:solidFill>
              </a:rPr>
              <a:t>API Failure Investigation Checklist</a:t>
            </a:r>
            <a:endParaRPr lang="en-US" sz="1100" dirty="0"/>
          </a:p>
        </p:txBody>
      </p:sp>
      <p:sp>
        <p:nvSpPr>
          <p:cNvPr id="35" name="Shape 33"/>
          <p:cNvSpPr/>
          <p:nvPr/>
        </p:nvSpPr>
        <p:spPr>
          <a:xfrm>
            <a:off x="4617720" y="1216152"/>
            <a:ext cx="4160520" cy="694944"/>
          </a:xfrm>
          <a:prstGeom prst="rect">
            <a:avLst/>
          </a:prstGeom>
          <a:solidFill>
            <a:srgbClr val="112233"/>
          </a:solidFill>
          <a:ln w="12700">
            <a:solidFill>
              <a:srgbClr val="00BCD4"/>
            </a:solidFill>
            <a:prstDash val="solid"/>
          </a:ln>
        </p:spPr>
      </p:sp>
      <p:pic>
        <p:nvPicPr>
          <p:cNvPr id="36" name="Image 0" descr="preencoded.png"/>
          <p:cNvPicPr>
            <a:picLocks noChangeAspect="1"/>
          </p:cNvPicPr>
          <p:nvPr/>
        </p:nvPicPr>
        <p:blipFill>
          <a:blip r:embed="rId3"/>
          <a:stretch>
            <a:fillRect/>
          </a:stretch>
        </p:blipFill>
        <p:spPr>
          <a:xfrm>
            <a:off x="4681728" y="1399032"/>
            <a:ext cx="237744" cy="237744"/>
          </a:xfrm>
          <a:prstGeom prst="rect">
            <a:avLst/>
          </a:prstGeom>
        </p:spPr>
      </p:pic>
      <p:sp>
        <p:nvSpPr>
          <p:cNvPr id="37" name="Text 34"/>
          <p:cNvSpPr/>
          <p:nvPr/>
        </p:nvSpPr>
        <p:spPr>
          <a:xfrm>
            <a:off x="4983480" y="1261872"/>
            <a:ext cx="3712464" cy="237744"/>
          </a:xfrm>
          <a:prstGeom prst="rect">
            <a:avLst/>
          </a:prstGeom>
          <a:noFill/>
          <a:ln/>
        </p:spPr>
        <p:txBody>
          <a:bodyPr wrap="square" lIns="0" tIns="0" rIns="0" bIns="0" rtlCol="0" anchor="ctr"/>
          <a:lstStyle/>
          <a:p>
            <a:pPr marL="0" indent="0" algn="l">
              <a:buNone/>
            </a:pPr>
            <a:r>
              <a:rPr lang="en-US" sz="950" b="1" dirty="0">
                <a:solidFill>
                  <a:srgbClr val="00BCD4"/>
                </a:solidFill>
              </a:rPr>
              <a:t>1. Check status code mismatch</a:t>
            </a:r>
            <a:endParaRPr lang="en-US" sz="950" dirty="0"/>
          </a:p>
        </p:txBody>
      </p:sp>
      <p:sp>
        <p:nvSpPr>
          <p:cNvPr id="38" name="Text 35"/>
          <p:cNvSpPr/>
          <p:nvPr/>
        </p:nvSpPr>
        <p:spPr>
          <a:xfrm>
            <a:off x="4983480" y="1536192"/>
            <a:ext cx="3712464" cy="329184"/>
          </a:xfrm>
          <a:prstGeom prst="rect">
            <a:avLst/>
          </a:prstGeom>
          <a:noFill/>
          <a:ln/>
        </p:spPr>
        <p:txBody>
          <a:bodyPr wrap="square" lIns="0" tIns="0" rIns="0" bIns="0" rtlCol="0" anchor="ctr"/>
          <a:lstStyle/>
          <a:p>
            <a:pPr marL="0" indent="0" algn="l">
              <a:buNone/>
            </a:pPr>
            <a:r>
              <a:rPr lang="en-US" sz="850" dirty="0">
                <a:solidFill>
                  <a:srgbClr val="E8F4FD"/>
                </a:solidFill>
              </a:rPr>
              <a:t>Expected 201, got 400? Read the response body in the failure message — the server may return a validation error detail that tells you exactly what's wrong.</a:t>
            </a:r>
            <a:endParaRPr lang="en-US" sz="850" dirty="0"/>
          </a:p>
        </p:txBody>
      </p:sp>
      <p:sp>
        <p:nvSpPr>
          <p:cNvPr id="39" name="Shape 36"/>
          <p:cNvSpPr/>
          <p:nvPr/>
        </p:nvSpPr>
        <p:spPr>
          <a:xfrm>
            <a:off x="4617720" y="1965960"/>
            <a:ext cx="4160520" cy="694944"/>
          </a:xfrm>
          <a:prstGeom prst="rect">
            <a:avLst/>
          </a:prstGeom>
          <a:solidFill>
            <a:srgbClr val="112233"/>
          </a:solidFill>
          <a:ln w="12700">
            <a:solidFill>
              <a:srgbClr val="00C853"/>
            </a:solidFill>
            <a:prstDash val="solid"/>
          </a:ln>
        </p:spPr>
      </p:sp>
      <p:pic>
        <p:nvPicPr>
          <p:cNvPr id="40" name="Image 1" descr="preencoded.png"/>
          <p:cNvPicPr>
            <a:picLocks noChangeAspect="1"/>
          </p:cNvPicPr>
          <p:nvPr/>
        </p:nvPicPr>
        <p:blipFill>
          <a:blip r:embed="rId3"/>
          <a:stretch>
            <a:fillRect/>
          </a:stretch>
        </p:blipFill>
        <p:spPr>
          <a:xfrm>
            <a:off x="4681728" y="2148840"/>
            <a:ext cx="237744" cy="237744"/>
          </a:xfrm>
          <a:prstGeom prst="rect">
            <a:avLst/>
          </a:prstGeom>
        </p:spPr>
      </p:pic>
      <p:sp>
        <p:nvSpPr>
          <p:cNvPr id="41" name="Text 37"/>
          <p:cNvSpPr/>
          <p:nvPr/>
        </p:nvSpPr>
        <p:spPr>
          <a:xfrm>
            <a:off x="4983480" y="2011680"/>
            <a:ext cx="3712464" cy="237744"/>
          </a:xfrm>
          <a:prstGeom prst="rect">
            <a:avLst/>
          </a:prstGeom>
          <a:noFill/>
          <a:ln/>
        </p:spPr>
        <p:txBody>
          <a:bodyPr wrap="square" lIns="0" tIns="0" rIns="0" bIns="0" rtlCol="0" anchor="ctr"/>
          <a:lstStyle/>
          <a:p>
            <a:pPr marL="0" indent="0" algn="l">
              <a:buNone/>
            </a:pPr>
            <a:r>
              <a:rPr lang="en-US" sz="950" b="1" dirty="0">
                <a:solidFill>
                  <a:srgbClr val="00C853"/>
                </a:solidFill>
              </a:rPr>
              <a:t>2. Verify the test environment config</a:t>
            </a:r>
            <a:endParaRPr lang="en-US" sz="950" dirty="0"/>
          </a:p>
        </p:txBody>
      </p:sp>
      <p:sp>
        <p:nvSpPr>
          <p:cNvPr id="42" name="Text 38"/>
          <p:cNvSpPr/>
          <p:nvPr/>
        </p:nvSpPr>
        <p:spPr>
          <a:xfrm>
            <a:off x="4983480" y="2286000"/>
            <a:ext cx="3712464" cy="329184"/>
          </a:xfrm>
          <a:prstGeom prst="rect">
            <a:avLst/>
          </a:prstGeom>
          <a:noFill/>
          <a:ln/>
        </p:spPr>
        <p:txBody>
          <a:bodyPr wrap="square" lIns="0" tIns="0" rIns="0" bIns="0" rtlCol="0" anchor="ctr"/>
          <a:lstStyle/>
          <a:p>
            <a:pPr marL="0" indent="0" algn="l">
              <a:buNone/>
            </a:pPr>
            <a:r>
              <a:rPr lang="en-US" sz="850" dirty="0">
                <a:solidFill>
                  <a:srgbClr val="E8F4FD"/>
                </a:solidFill>
              </a:rPr>
              <a:t>Was the API_BASE_URL variable pointing at the right environment? Check the CI env-vars. A test that works locally but fails in CI is often a config/environment issue.</a:t>
            </a:r>
            <a:endParaRPr lang="en-US" sz="850" dirty="0"/>
          </a:p>
        </p:txBody>
      </p:sp>
      <p:sp>
        <p:nvSpPr>
          <p:cNvPr id="43" name="Shape 39"/>
          <p:cNvSpPr/>
          <p:nvPr/>
        </p:nvSpPr>
        <p:spPr>
          <a:xfrm>
            <a:off x="4617720" y="2715768"/>
            <a:ext cx="4160520" cy="694944"/>
          </a:xfrm>
          <a:prstGeom prst="rect">
            <a:avLst/>
          </a:prstGeom>
          <a:solidFill>
            <a:srgbClr val="112233"/>
          </a:solidFill>
          <a:ln w="12700">
            <a:solidFill>
              <a:srgbClr val="FFD600"/>
            </a:solidFill>
            <a:prstDash val="solid"/>
          </a:ln>
        </p:spPr>
      </p:sp>
      <p:pic>
        <p:nvPicPr>
          <p:cNvPr id="44" name="Image 2" descr="preencoded.png"/>
          <p:cNvPicPr>
            <a:picLocks noChangeAspect="1"/>
          </p:cNvPicPr>
          <p:nvPr/>
        </p:nvPicPr>
        <p:blipFill>
          <a:blip r:embed="rId3"/>
          <a:stretch>
            <a:fillRect/>
          </a:stretch>
        </p:blipFill>
        <p:spPr>
          <a:xfrm>
            <a:off x="4681728" y="2898648"/>
            <a:ext cx="237744" cy="237744"/>
          </a:xfrm>
          <a:prstGeom prst="rect">
            <a:avLst/>
          </a:prstGeom>
        </p:spPr>
      </p:pic>
      <p:sp>
        <p:nvSpPr>
          <p:cNvPr id="45" name="Text 40"/>
          <p:cNvSpPr/>
          <p:nvPr/>
        </p:nvSpPr>
        <p:spPr>
          <a:xfrm>
            <a:off x="4983480" y="2761488"/>
            <a:ext cx="3712464" cy="237744"/>
          </a:xfrm>
          <a:prstGeom prst="rect">
            <a:avLst/>
          </a:prstGeom>
          <a:noFill/>
          <a:ln/>
        </p:spPr>
        <p:txBody>
          <a:bodyPr wrap="square" lIns="0" tIns="0" rIns="0" bIns="0" rtlCol="0" anchor="ctr"/>
          <a:lstStyle/>
          <a:p>
            <a:pPr marL="0" indent="0" algn="l">
              <a:buNone/>
            </a:pPr>
            <a:r>
              <a:rPr lang="en-US" sz="950" b="1" dirty="0">
                <a:solidFill>
                  <a:srgbClr val="FFD600"/>
                </a:solidFill>
              </a:rPr>
              <a:t>3. Check auth token / API key validity</a:t>
            </a:r>
            <a:endParaRPr lang="en-US" sz="950" dirty="0"/>
          </a:p>
        </p:txBody>
      </p:sp>
      <p:sp>
        <p:nvSpPr>
          <p:cNvPr id="46" name="Text 41"/>
          <p:cNvSpPr/>
          <p:nvPr/>
        </p:nvSpPr>
        <p:spPr>
          <a:xfrm>
            <a:off x="4983480" y="3035808"/>
            <a:ext cx="3712464" cy="329184"/>
          </a:xfrm>
          <a:prstGeom prst="rect">
            <a:avLst/>
          </a:prstGeom>
          <a:noFill/>
          <a:ln/>
        </p:spPr>
        <p:txBody>
          <a:bodyPr wrap="square" lIns="0" tIns="0" rIns="0" bIns="0" rtlCol="0" anchor="ctr"/>
          <a:lstStyle/>
          <a:p>
            <a:pPr marL="0" indent="0" algn="l">
              <a:buNone/>
            </a:pPr>
            <a:r>
              <a:rPr lang="en-US" sz="850" dirty="0">
                <a:solidFill>
                  <a:srgbClr val="E8F4FD"/>
                </a:solidFill>
              </a:rPr>
              <a:t>401 Unauthorised in CI often means a secret expired or wasn't injected correctly. Verify the secret name matches between the pipeline YAML and GitHub repo settings.</a:t>
            </a:r>
            <a:endParaRPr lang="en-US" sz="850" dirty="0"/>
          </a:p>
        </p:txBody>
      </p:sp>
      <p:sp>
        <p:nvSpPr>
          <p:cNvPr id="47" name="Shape 42"/>
          <p:cNvSpPr/>
          <p:nvPr/>
        </p:nvSpPr>
        <p:spPr>
          <a:xfrm>
            <a:off x="4617720" y="3465576"/>
            <a:ext cx="4160520" cy="694944"/>
          </a:xfrm>
          <a:prstGeom prst="rect">
            <a:avLst/>
          </a:prstGeom>
          <a:solidFill>
            <a:srgbClr val="112233"/>
          </a:solidFill>
          <a:ln w="12700">
            <a:solidFill>
              <a:srgbClr val="29B6F6"/>
            </a:solidFill>
            <a:prstDash val="solid"/>
          </a:ln>
        </p:spPr>
      </p:sp>
      <p:pic>
        <p:nvPicPr>
          <p:cNvPr id="48" name="Image 3" descr="preencoded.png"/>
          <p:cNvPicPr>
            <a:picLocks noChangeAspect="1"/>
          </p:cNvPicPr>
          <p:nvPr/>
        </p:nvPicPr>
        <p:blipFill>
          <a:blip r:embed="rId3"/>
          <a:stretch>
            <a:fillRect/>
          </a:stretch>
        </p:blipFill>
        <p:spPr>
          <a:xfrm>
            <a:off x="4681728" y="3648456"/>
            <a:ext cx="237744" cy="237744"/>
          </a:xfrm>
          <a:prstGeom prst="rect">
            <a:avLst/>
          </a:prstGeom>
        </p:spPr>
      </p:pic>
      <p:sp>
        <p:nvSpPr>
          <p:cNvPr id="49" name="Text 43"/>
          <p:cNvSpPr/>
          <p:nvPr/>
        </p:nvSpPr>
        <p:spPr>
          <a:xfrm>
            <a:off x="4983480" y="3511296"/>
            <a:ext cx="3712464" cy="237744"/>
          </a:xfrm>
          <a:prstGeom prst="rect">
            <a:avLst/>
          </a:prstGeom>
          <a:noFill/>
          <a:ln/>
        </p:spPr>
        <p:txBody>
          <a:bodyPr wrap="square" lIns="0" tIns="0" rIns="0" bIns="0" rtlCol="0" anchor="ctr"/>
          <a:lstStyle/>
          <a:p>
            <a:pPr marL="0" indent="0" algn="l">
              <a:buNone/>
            </a:pPr>
            <a:r>
              <a:rPr lang="en-US" sz="950" b="1" dirty="0">
                <a:solidFill>
                  <a:srgbClr val="29B6F6"/>
                </a:solidFill>
              </a:rPr>
              <a:t>4. Inspect response time and payload</a:t>
            </a:r>
            <a:endParaRPr lang="en-US" sz="950" dirty="0"/>
          </a:p>
        </p:txBody>
      </p:sp>
      <p:sp>
        <p:nvSpPr>
          <p:cNvPr id="50" name="Text 44"/>
          <p:cNvSpPr/>
          <p:nvPr/>
        </p:nvSpPr>
        <p:spPr>
          <a:xfrm>
            <a:off x="4983480" y="3785616"/>
            <a:ext cx="3712464" cy="329184"/>
          </a:xfrm>
          <a:prstGeom prst="rect">
            <a:avLst/>
          </a:prstGeom>
          <a:noFill/>
          <a:ln/>
        </p:spPr>
        <p:txBody>
          <a:bodyPr wrap="square" lIns="0" tIns="0" rIns="0" bIns="0" rtlCol="0" anchor="ctr"/>
          <a:lstStyle/>
          <a:p>
            <a:pPr marL="0" indent="0" algn="l">
              <a:buNone/>
            </a:pPr>
            <a:r>
              <a:rPr lang="en-US" sz="850" dirty="0">
                <a:solidFill>
                  <a:srgbClr val="E8F4FD"/>
                </a:solidFill>
              </a:rPr>
              <a:t>Timeout errors (408/504) or truncated responses may indicate a downstream service was unavailable during the run. Check if the test is hitting a real service or a mock.</a:t>
            </a:r>
            <a:endParaRPr lang="en-US" sz="850" dirty="0"/>
          </a:p>
        </p:txBody>
      </p:sp>
      <p:sp>
        <p:nvSpPr>
          <p:cNvPr id="51" name="Shape 45"/>
          <p:cNvSpPr/>
          <p:nvPr/>
        </p:nvSpPr>
        <p:spPr>
          <a:xfrm>
            <a:off x="4617720" y="4215384"/>
            <a:ext cx="4160520" cy="694944"/>
          </a:xfrm>
          <a:prstGeom prst="rect">
            <a:avLst/>
          </a:prstGeom>
          <a:solidFill>
            <a:srgbClr val="112233"/>
          </a:solidFill>
          <a:ln w="12700">
            <a:solidFill>
              <a:srgbClr val="F44336"/>
            </a:solidFill>
            <a:prstDash val="solid"/>
          </a:ln>
        </p:spPr>
      </p:sp>
      <p:pic>
        <p:nvPicPr>
          <p:cNvPr id="52" name="Image 4" descr="preencoded.png"/>
          <p:cNvPicPr>
            <a:picLocks noChangeAspect="1"/>
          </p:cNvPicPr>
          <p:nvPr/>
        </p:nvPicPr>
        <p:blipFill>
          <a:blip r:embed="rId4"/>
          <a:stretch>
            <a:fillRect/>
          </a:stretch>
        </p:blipFill>
        <p:spPr>
          <a:xfrm>
            <a:off x="4681728" y="4398264"/>
            <a:ext cx="237744" cy="237744"/>
          </a:xfrm>
          <a:prstGeom prst="rect">
            <a:avLst/>
          </a:prstGeom>
        </p:spPr>
      </p:pic>
      <p:sp>
        <p:nvSpPr>
          <p:cNvPr id="53" name="Text 46"/>
          <p:cNvSpPr/>
          <p:nvPr/>
        </p:nvSpPr>
        <p:spPr>
          <a:xfrm>
            <a:off x="4983480" y="4261104"/>
            <a:ext cx="3712464" cy="237744"/>
          </a:xfrm>
          <a:prstGeom prst="rect">
            <a:avLst/>
          </a:prstGeom>
          <a:noFill/>
          <a:ln/>
        </p:spPr>
        <p:txBody>
          <a:bodyPr wrap="square" lIns="0" tIns="0" rIns="0" bIns="0" rtlCol="0" anchor="ctr"/>
          <a:lstStyle/>
          <a:p>
            <a:pPr marL="0" indent="0" algn="l">
              <a:buNone/>
            </a:pPr>
            <a:r>
              <a:rPr lang="en-US" sz="950" b="1" dirty="0">
                <a:solidFill>
                  <a:srgbClr val="F44336"/>
                </a:solidFill>
              </a:rPr>
              <a:t>5. Separate contract vs functional failures</a:t>
            </a:r>
            <a:endParaRPr lang="en-US" sz="950" dirty="0"/>
          </a:p>
        </p:txBody>
      </p:sp>
      <p:sp>
        <p:nvSpPr>
          <p:cNvPr id="54" name="Text 47"/>
          <p:cNvSpPr/>
          <p:nvPr/>
        </p:nvSpPr>
        <p:spPr>
          <a:xfrm>
            <a:off x="4983480" y="4535424"/>
            <a:ext cx="3712464" cy="329184"/>
          </a:xfrm>
          <a:prstGeom prst="rect">
            <a:avLst/>
          </a:prstGeom>
          <a:noFill/>
          <a:ln/>
        </p:spPr>
        <p:txBody>
          <a:bodyPr wrap="square" lIns="0" tIns="0" rIns="0" bIns="0" rtlCol="0" anchor="ctr"/>
          <a:lstStyle/>
          <a:p>
            <a:pPr marL="0" indent="0" algn="l">
              <a:buNone/>
            </a:pPr>
            <a:r>
              <a:rPr lang="en-US" sz="850" dirty="0">
                <a:solidFill>
                  <a:srgbClr val="E8F4FD"/>
                </a:solidFill>
              </a:rPr>
              <a:t>Schema validation failure = the response structure changed (contract drift). Status/body assertion failure = functional regression. Triage and route to the right team.</a:t>
            </a:r>
            <a:endParaRPr lang="en-US" sz="850" dirty="0"/>
          </a:p>
        </p:txBody>
      </p:sp>
      <p:sp>
        <p:nvSpPr>
          <p:cNvPr id="200" name="LeftLabel"/>
          <p:cNvSpPr>
            <a:spLocks noGrp="1"/>
          </p:cNvSpPr>
          <p:nvPr/>
        </p:nvSpPr>
        <p:spPr>
          <a:xfrm>
            <a:off x="368300" y="863600"/>
            <a:ext cx="4025900" cy="292100"/>
          </a:xfrm>
          <a:prstGeom prst="rect">
            <a:avLst/>
          </a:prstGeom>
          <a:solidFill>
            <a:srgbClr val="263345"/>
          </a:solidFill>
          <a:ln>
            <a:noFill/>
          </a:ln>
        </p:spPr>
        <p:txBody>
          <a:bodyPr wrap="square" lIns="91440" tIns="45720" rIns="91440" bIns="45720" anchor="ctr"/>
          <a:lstStyle/>
          <a:p>
            <a:pPr marL="0" indent="0" algn="l">
              <a:buNone/>
            </a:pPr>
            <a:r>
              <a:rPr lang="en-US" sz="900" b="1" dirty="0">
                <a:solidFill>
                  <a:srgbClr val="64B5F6"/>
                </a:solidFill>
              </a:rPr>
              <a:t>Reading JUnit XML Reports</a:t>
            </a:r>
          </a:p>
        </p:txBody>
      </p:sp>
      <p:sp>
        <p:nvSpPr>
          <p:cNvPr id="201" name="LeftCodeBlock"/>
          <p:cNvSpPr>
            <a:spLocks noGrp="1"/>
          </p:cNvSpPr>
          <p:nvPr/>
        </p:nvSpPr>
        <p:spPr>
          <a:xfrm>
            <a:off x="368300" y="1219200"/>
            <a:ext cx="4025900" cy="3691128"/>
          </a:xfrm>
          <a:prstGeom prst="rect">
            <a:avLst/>
          </a:prstGeom>
          <a:solidFill>
            <a:srgbClr val="1E2A36"/>
          </a:solidFill>
          <a:ln>
            <a:noFill/>
          </a:ln>
        </p:spPr>
        <p:txBody>
          <a:bodyPr wrap="square" lIns="91440" tIns="45720" rIns="91440" bIns="45720" anchor="t">
            <a:normAutofit/>
          </a:bodyPr>
          <a:lstStyle/>
          <a:p>
            <a:pPr marL="0" indent="0" algn="l">
              <a:buNone/>
            </a:pPr>
            <a:r>
              <a:rPr lang="en-US" sz="800" b="1" dirty="0">
                <a:solidFill>
                  <a:srgbClr val="90A4AE"/>
                </a:solidFill>
              </a:rPr>
              <a:t>target/failsafe-reports/TEST-UserApiIT.xml</a:t>
            </a:r>
          </a:p>
          <a:p>
            <a:pPr marL="0" indent="0" algn="l">
              <a:buNone/>
            </a:pPr>
            <a:r>
              <a:rPr lang="en-US" sz="820" dirty="0">
                <a:solidFill>
                  <a:srgbClr val="E8F4FD"/>
                </a:solidFill>
                <a:latin typeface="Courier New" pitchFamily="34" charset="0"/>
                <a:ea typeface="Courier New" pitchFamily="34" charset="-122"/>
                <a:cs typeface="Courier New" pitchFamily="34" charset="-120"/>
              </a:rPr>
              <a:t>&lt;!-- JUnit XML — produced by both Failsafe --&gt;</a:t>
            </a:r>
          </a:p>
          <a:p>
            <a:pPr marL="0" indent="0" algn="l">
              <a:buNone/>
            </a:pPr>
            <a:r>
              <a:rPr lang="en-US" sz="820" dirty="0">
                <a:solidFill>
                  <a:srgbClr val="E8F4FD"/>
                </a:solidFill>
                <a:latin typeface="Courier New" pitchFamily="34" charset="0"/>
                <a:ea typeface="Courier New" pitchFamily="34" charset="-122"/>
                <a:cs typeface="Courier New" pitchFamily="34" charset="-120"/>
              </a:rPr>
              <a:t>&lt;!-- and Newman -r junit                   --&gt;</a:t>
            </a:r>
          </a:p>
          <a:p>
            <a:pPr marL="0" indent="0" algn="l">
              <a:buNone/>
            </a:pPr>
            <a:r>
              <a:rPr lang="en-US" sz="820" dirty="0">
                <a:solidFill>
                  <a:srgbClr val="E8F4FD"/>
                </a:solidFill>
                <a:latin typeface="Courier New" pitchFamily="34" charset="0"/>
                <a:ea typeface="Courier New" pitchFamily="34" charset="-122"/>
                <a:cs typeface="Courier New" pitchFamily="34" charset="-120"/>
              </a:rPr>
              <a:t>&lt;testsuite name="API Tests"</a:t>
            </a:r>
          </a:p>
          <a:p>
            <a:pPr marL="0" indent="0" algn="l">
              <a:buNone/>
            </a:pPr>
            <a:r>
              <a:rPr lang="en-US" sz="820" dirty="0">
                <a:solidFill>
                  <a:srgbClr val="E8F4FD"/>
                </a:solidFill>
                <a:latin typeface="Courier New" pitchFamily="34" charset="0"/>
                <a:ea typeface="Courier New" pitchFamily="34" charset="-122"/>
                <a:cs typeface="Courier New" pitchFamily="34" charset="-120"/>
              </a:rPr>
              <a:t>           tests="12" failures="1"</a:t>
            </a:r>
          </a:p>
          <a:p>
            <a:pPr marL="0" indent="0" algn="l">
              <a:buNone/>
            </a:pPr>
            <a:r>
              <a:rPr lang="en-US" sz="820" dirty="0">
                <a:solidFill>
                  <a:srgbClr val="E8F4FD"/>
                </a:solidFill>
                <a:latin typeface="Courier New" pitchFamily="34" charset="0"/>
                <a:ea typeface="Courier New" pitchFamily="34" charset="-122"/>
                <a:cs typeface="Courier New" pitchFamily="34" charset="-120"/>
              </a:rPr>
              <a:t>           errors="0"  time="4.32"&gt;</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&lt;testcase name="getUser_returns200"</a:t>
            </a:r>
          </a:p>
          <a:p>
            <a:pPr marL="0" indent="0" algn="l">
              <a:buNone/>
            </a:pPr>
            <a:r>
              <a:rPr lang="en-US" sz="820" dirty="0">
                <a:solidFill>
                  <a:srgbClr val="E8F4FD"/>
                </a:solidFill>
                <a:latin typeface="Courier New" pitchFamily="34" charset="0"/>
                <a:ea typeface="Courier New" pitchFamily="34" charset="-122"/>
                <a:cs typeface="Courier New" pitchFamily="34" charset="-120"/>
              </a:rPr>
              <a:t>            classname="UserApiIT"</a:t>
            </a:r>
          </a:p>
          <a:p>
            <a:pPr marL="0" indent="0" algn="l">
              <a:buNone/>
            </a:pPr>
            <a:r>
              <a:rPr lang="en-US" sz="820" dirty="0">
                <a:solidFill>
                  <a:srgbClr val="E8F4FD"/>
                </a:solidFill>
                <a:latin typeface="Courier New" pitchFamily="34" charset="0"/>
                <a:ea typeface="Courier New" pitchFamily="34" charset="-122"/>
                <a:cs typeface="Courier New" pitchFamily="34" charset="-120"/>
              </a:rPr>
              <a:t>            time="0.45"/&gt;</a:t>
            </a:r>
          </a:p>
          <a:p>
            <a:pPr marL="0" indent="0" algn="l">
              <a:buNone/>
            </a:pPr>
            <a:endParaRPr lang="en-US" sz="820" dirty="0">
              <a:solidFill>
                <a:srgbClr val="E8F4FD"/>
              </a:solidFill>
              <a:latin typeface="Courier New" pitchFamily="34" charset="0"/>
              <a:ea typeface="Courier New" pitchFamily="34" charset="-122"/>
              <a:cs typeface="Courier New" pitchFamily="34" charset="-120"/>
            </a:endParaRPr>
          </a:p>
          <a:p>
            <a:pPr marL="0" indent="0" algn="l">
              <a:buNone/>
            </a:pPr>
            <a:r>
              <a:rPr lang="en-US" sz="820" dirty="0">
                <a:solidFill>
                  <a:srgbClr val="E8F4FD"/>
                </a:solidFill>
                <a:latin typeface="Courier New" pitchFamily="34" charset="0"/>
                <a:ea typeface="Courier New" pitchFamily="34" charset="-122"/>
                <a:cs typeface="Courier New" pitchFamily="34" charset="-120"/>
              </a:rPr>
              <a:t>  &lt;testcase name="createUser_returns201"</a:t>
            </a:r>
          </a:p>
          <a:p>
            <a:pPr marL="0" indent="0" algn="l">
              <a:buNone/>
            </a:pPr>
            <a:r>
              <a:rPr lang="en-US" sz="820" dirty="0">
                <a:solidFill>
                  <a:srgbClr val="E8F4FD"/>
                </a:solidFill>
                <a:latin typeface="Courier New" pitchFamily="34" charset="0"/>
                <a:ea typeface="Courier New" pitchFamily="34" charset="-122"/>
                <a:cs typeface="Courier New" pitchFamily="34" charset="-120"/>
              </a:rPr>
              <a:t>            classname="UserApiIT"</a:t>
            </a:r>
          </a:p>
          <a:p>
            <a:pPr marL="0" indent="0" algn="l">
              <a:buNone/>
            </a:pPr>
            <a:r>
              <a:rPr lang="en-US" sz="820" dirty="0">
                <a:solidFill>
                  <a:srgbClr val="E8F4FD"/>
                </a:solidFill>
                <a:latin typeface="Courier New" pitchFamily="34" charset="0"/>
                <a:ea typeface="Courier New" pitchFamily="34" charset="-122"/>
                <a:cs typeface="Courier New" pitchFamily="34" charset="-120"/>
              </a:rPr>
              <a:t>            time="0.83"&gt;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&lt;failure message="expected: 201</a:t>
            </a:r>
          </a:p>
          <a:p>
            <a:pPr marL="0" indent="0" algn="l">
              <a:buNone/>
            </a:pPr>
            <a:r>
              <a:rPr lang="en-US" sz="820" dirty="0">
                <a:solidFill>
                  <a:srgbClr val="E8F4FD"/>
                </a:solidFill>
                <a:latin typeface="Courier New" pitchFamily="34" charset="0"/>
                <a:ea typeface="Courier New" pitchFamily="34" charset="-122"/>
                <a:cs typeface="Courier New" pitchFamily="34" charset="-120"/>
              </a:rPr>
              <a:t>    but was: 400"&gt;</a:t>
            </a:r>
          </a:p>
          <a:p>
            <a:pPr marL="0" indent="0" algn="l">
              <a:buNone/>
            </a:pPr>
            <a:r>
              <a:rPr lang="en-US" sz="820" dirty="0">
                <a:solidFill>
                  <a:srgbClr val="E8F4FD"/>
                </a:solidFill>
                <a:latin typeface="Courier New" pitchFamily="34" charset="0"/>
                <a:ea typeface="Courier New" pitchFamily="34" charset="-122"/>
                <a:cs typeface="Courier New" pitchFamily="34" charset="-120"/>
              </a:rPr>
              <a:t>      AssertionError: status code</a:t>
            </a:r>
          </a:p>
          <a:p>
            <a:pPr marL="0" indent="0" algn="l">
              <a:buNone/>
            </a:pPr>
            <a:r>
              <a:rPr lang="en-US" sz="820" dirty="0">
                <a:solidFill>
                  <a:srgbClr val="E8F4FD"/>
                </a:solidFill>
                <a:latin typeface="Courier New" pitchFamily="34" charset="0"/>
                <a:ea typeface="Courier New" pitchFamily="34" charset="-122"/>
                <a:cs typeface="Courier New" pitchFamily="34" charset="-120"/>
              </a:rPr>
              <a:t>    &lt;/failure&gt;</a:t>
            </a:r>
          </a:p>
          <a:p>
            <a:pPr marL="0" indent="0" algn="l">
              <a:buNone/>
            </a:pPr>
            <a:r>
              <a:rPr lang="en-US" sz="820" dirty="0">
                <a:solidFill>
                  <a:srgbClr val="E8F4FD"/>
                </a:solidFill>
                <a:latin typeface="Courier New" pitchFamily="34" charset="0"/>
                <a:ea typeface="Courier New" pitchFamily="34" charset="-122"/>
                <a:cs typeface="Courier New" pitchFamily="34" charset="-120"/>
              </a:rPr>
              <a:t>  &lt;/testcase&gt;</a:t>
            </a:r>
          </a:p>
          <a:p>
            <a:pPr marL="0" indent="0" algn="l">
              <a:buNone/>
            </a:pPr>
            <a:r>
              <a:rPr lang="en-US" sz="820" dirty="0">
                <a:solidFill>
                  <a:srgbClr val="E8F4FD"/>
                </a:solidFill>
                <a:latin typeface="Courier New" pitchFamily="34" charset="0"/>
                <a:ea typeface="Courier New" pitchFamily="34" charset="-122"/>
                <a:cs typeface="Courier New" pitchFamily="34" charset="-120"/>
              </a:rPr>
              <a:t>&lt;/testsuite&gt;</a:t>
            </a:r>
          </a:p>
        </p:txBody>
      </p:sp>
    </p:spTree>
    <p:extLst>
      <p:ext uri="{BB962C8B-B14F-4D97-AF65-F5344CB8AC3E}">
        <p14:creationId xmlns:p14="http://schemas.microsoft.com/office/powerpoint/2010/main" val="3205859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DEMO</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Demo: Write → Integrate → Validate → Analyse</a:t>
            </a:r>
            <a:endParaRPr lang="en-US" sz="2200" dirty="0"/>
          </a:p>
        </p:txBody>
      </p:sp>
      <p:sp>
        <p:nvSpPr>
          <p:cNvPr id="9" name="Shape 7"/>
          <p:cNvSpPr/>
          <p:nvPr/>
        </p:nvSpPr>
        <p:spPr>
          <a:xfrm>
            <a:off x="365760" y="914400"/>
            <a:ext cx="8412480" cy="1261872"/>
          </a:xfrm>
          <a:prstGeom prst="rect">
            <a:avLst/>
          </a:prstGeom>
          <a:solidFill>
            <a:srgbClr val="112233"/>
          </a:solidFill>
          <a:ln w="12700">
            <a:solidFill>
              <a:srgbClr val="1565C0"/>
            </a:solidFill>
            <a:prstDash val="solid"/>
          </a:ln>
        </p:spPr>
      </p:sp>
      <p:sp>
        <p:nvSpPr>
          <p:cNvPr id="10" name="Shape 8"/>
          <p:cNvSpPr/>
          <p:nvPr/>
        </p:nvSpPr>
        <p:spPr>
          <a:xfrm>
            <a:off x="365760" y="914400"/>
            <a:ext cx="658368" cy="1261872"/>
          </a:xfrm>
          <a:prstGeom prst="rect">
            <a:avLst/>
          </a:prstGeom>
          <a:solidFill>
            <a:srgbClr val="1565C0"/>
          </a:solidFill>
          <a:ln w="12700">
            <a:solidFill>
              <a:srgbClr val="1565C0"/>
            </a:solidFill>
            <a:prstDash val="solid"/>
          </a:ln>
        </p:spPr>
      </p:sp>
      <p:sp>
        <p:nvSpPr>
          <p:cNvPr id="11" name="Text 9"/>
          <p:cNvSpPr/>
          <p:nvPr/>
        </p:nvSpPr>
        <p:spPr>
          <a:xfrm>
            <a:off x="365760" y="1298448"/>
            <a:ext cx="658368" cy="502920"/>
          </a:xfrm>
          <a:prstGeom prst="rect">
            <a:avLst/>
          </a:prstGeom>
          <a:noFill/>
          <a:ln/>
        </p:spPr>
        <p:txBody>
          <a:bodyPr wrap="square" lIns="0" tIns="0" rIns="0" bIns="0" rtlCol="0" anchor="ctr"/>
          <a:lstStyle/>
          <a:p>
            <a:pPr marL="0" indent="0" algn="ctr">
              <a:buNone/>
            </a:pPr>
            <a:r>
              <a:rPr lang="en-US" sz="2000" b="1" dirty="0">
                <a:solidFill>
                  <a:srgbClr val="FFFFFF"/>
                </a:solidFill>
              </a:rPr>
              <a:t>01</a:t>
            </a:r>
            <a:endParaRPr lang="en-US" sz="2000" dirty="0"/>
          </a:p>
        </p:txBody>
      </p:sp>
      <p:sp>
        <p:nvSpPr>
          <p:cNvPr id="12" name="Text 10"/>
          <p:cNvSpPr/>
          <p:nvPr/>
        </p:nvSpPr>
        <p:spPr>
          <a:xfrm>
            <a:off x="1115568" y="969264"/>
            <a:ext cx="7498080" cy="274320"/>
          </a:xfrm>
          <a:prstGeom prst="rect">
            <a:avLst/>
          </a:prstGeom>
          <a:noFill/>
          <a:ln/>
        </p:spPr>
        <p:txBody>
          <a:bodyPr wrap="square" lIns="0" tIns="0" rIns="0" bIns="0" rtlCol="0" anchor="ctr"/>
          <a:lstStyle/>
          <a:p>
            <a:pPr marL="0" indent="0" algn="l">
              <a:buNone/>
            </a:pPr>
            <a:r>
              <a:rPr lang="en-US" sz="1200" b="1" dirty="0">
                <a:solidFill>
                  <a:srgbClr val="1565C0"/>
                </a:solidFill>
              </a:rPr>
              <a:t>Writing API Automation Tests with REST Assured</a:t>
            </a:r>
            <a:endParaRPr lang="en-US" sz="1200" dirty="0"/>
          </a:p>
        </p:txBody>
      </p:sp>
      <p:sp>
        <p:nvSpPr>
          <p:cNvPr id="13" name="Text 11"/>
          <p:cNvSpPr/>
          <p:nvPr/>
        </p:nvSpPr>
        <p:spPr>
          <a:xfrm>
            <a:off x="1115568" y="1298448"/>
            <a:ext cx="3520440" cy="347472"/>
          </a:xfrm>
          <a:prstGeom prst="rect">
            <a:avLst/>
          </a:prstGeom>
          <a:noFill/>
          <a:ln/>
        </p:spPr>
        <p:txBody>
          <a:bodyPr wrap="square" lIns="0" tIns="0" rIns="0" bIns="0" rtlCol="0" anchor="ctr"/>
          <a:lstStyle/>
          <a:p>
            <a:pPr marL="0" indent="0" algn="l">
              <a:buNone/>
            </a:pPr>
            <a:r>
              <a:rPr lang="en-US" sz="950" b="1" dirty="0">
                <a:solidFill>
                  <a:srgbClr val="1565C0"/>
                </a:solidFill>
              </a:rPr>
              <a:t>▸  </a:t>
            </a:r>
            <a:r>
              <a:rPr lang="en-US" sz="950" dirty="0">
                <a:solidFill>
                  <a:srgbClr val="E8F4FD"/>
                </a:solidFill>
              </a:rPr>
              <a:t>Add REST Assured 6.0.0 dependency to the course Maven project</a:t>
            </a:r>
            <a:endParaRPr lang="en-US" sz="950" dirty="0"/>
          </a:p>
        </p:txBody>
      </p:sp>
      <p:sp>
        <p:nvSpPr>
          <p:cNvPr id="14" name="Text 12"/>
          <p:cNvSpPr/>
          <p:nvPr/>
        </p:nvSpPr>
        <p:spPr>
          <a:xfrm>
            <a:off x="1115568" y="1691640"/>
            <a:ext cx="3520440" cy="347472"/>
          </a:xfrm>
          <a:prstGeom prst="rect">
            <a:avLst/>
          </a:prstGeom>
          <a:noFill/>
          <a:ln/>
        </p:spPr>
        <p:txBody>
          <a:bodyPr wrap="square" lIns="0" tIns="0" rIns="0" bIns="0" rtlCol="0" anchor="ctr"/>
          <a:lstStyle/>
          <a:p>
            <a:pPr marL="0" indent="0" algn="l">
              <a:buNone/>
            </a:pPr>
            <a:r>
              <a:rPr lang="en-US" sz="950" b="1" dirty="0">
                <a:solidFill>
                  <a:srgbClr val="1565C0"/>
                </a:solidFill>
              </a:rPr>
              <a:t>▸  </a:t>
            </a:r>
            <a:r>
              <a:rPr lang="en-US" sz="950" dirty="0">
                <a:solidFill>
                  <a:srgbClr val="E8F4FD"/>
                </a:solidFill>
              </a:rPr>
              <a:t>Write a GET test: given baseUri + when get('/users/1') + then statusCode(200)</a:t>
            </a:r>
            <a:endParaRPr lang="en-US" sz="950" dirty="0"/>
          </a:p>
        </p:txBody>
      </p:sp>
      <p:sp>
        <p:nvSpPr>
          <p:cNvPr id="15" name="Text 13"/>
          <p:cNvSpPr/>
          <p:nvPr/>
        </p:nvSpPr>
        <p:spPr>
          <a:xfrm>
            <a:off x="4773168" y="1298448"/>
            <a:ext cx="3520440" cy="347472"/>
          </a:xfrm>
          <a:prstGeom prst="rect">
            <a:avLst/>
          </a:prstGeom>
          <a:noFill/>
          <a:ln/>
        </p:spPr>
        <p:txBody>
          <a:bodyPr wrap="square" lIns="0" tIns="0" rIns="0" bIns="0" rtlCol="0" anchor="ctr"/>
          <a:lstStyle/>
          <a:p>
            <a:pPr marL="0" indent="0" algn="l">
              <a:buNone/>
            </a:pPr>
            <a:r>
              <a:rPr lang="en-US" sz="950" b="1" dirty="0">
                <a:solidFill>
                  <a:srgbClr val="1565C0"/>
                </a:solidFill>
              </a:rPr>
              <a:t>▸  </a:t>
            </a:r>
            <a:r>
              <a:rPr lang="en-US" sz="950" dirty="0">
                <a:solidFill>
                  <a:srgbClr val="E8F4FD"/>
                </a:solidFill>
              </a:rPr>
              <a:t>Add a JSON Schema validation assertion using matchesJsonSchemaInClasspath()</a:t>
            </a:r>
            <a:endParaRPr lang="en-US" sz="950" dirty="0"/>
          </a:p>
        </p:txBody>
      </p:sp>
      <p:sp>
        <p:nvSpPr>
          <p:cNvPr id="16" name="Text 14"/>
          <p:cNvSpPr/>
          <p:nvPr/>
        </p:nvSpPr>
        <p:spPr>
          <a:xfrm>
            <a:off x="4773168" y="1691640"/>
            <a:ext cx="3520440" cy="347472"/>
          </a:xfrm>
          <a:prstGeom prst="rect">
            <a:avLst/>
          </a:prstGeom>
          <a:noFill/>
          <a:ln/>
        </p:spPr>
        <p:txBody>
          <a:bodyPr wrap="square" lIns="0" tIns="0" rIns="0" bIns="0" rtlCol="0" anchor="ctr"/>
          <a:lstStyle/>
          <a:p>
            <a:pPr marL="0" indent="0" algn="l">
              <a:buNone/>
            </a:pPr>
            <a:r>
              <a:rPr lang="en-US" sz="950" b="1" dirty="0">
                <a:solidFill>
                  <a:srgbClr val="1565C0"/>
                </a:solidFill>
              </a:rPr>
              <a:t>▸  </a:t>
            </a:r>
            <a:r>
              <a:rPr lang="en-US" sz="950" dirty="0">
                <a:solidFill>
                  <a:srgbClr val="E8F4FD"/>
                </a:solidFill>
              </a:rPr>
              <a:t>Run locally: mvn verify -Dgroups=api — confirm test passes in console</a:t>
            </a:r>
            <a:endParaRPr lang="en-US" sz="950" dirty="0"/>
          </a:p>
        </p:txBody>
      </p:sp>
      <p:sp>
        <p:nvSpPr>
          <p:cNvPr id="17" name="Shape 15"/>
          <p:cNvSpPr/>
          <p:nvPr/>
        </p:nvSpPr>
        <p:spPr>
          <a:xfrm>
            <a:off x="365760" y="2258568"/>
            <a:ext cx="8412480" cy="1261872"/>
          </a:xfrm>
          <a:prstGeom prst="rect">
            <a:avLst/>
          </a:prstGeom>
          <a:solidFill>
            <a:srgbClr val="112233"/>
          </a:solidFill>
          <a:ln w="12700">
            <a:solidFill>
              <a:srgbClr val="00897B"/>
            </a:solidFill>
            <a:prstDash val="solid"/>
          </a:ln>
        </p:spPr>
      </p:sp>
      <p:sp>
        <p:nvSpPr>
          <p:cNvPr id="18" name="Shape 16"/>
          <p:cNvSpPr/>
          <p:nvPr/>
        </p:nvSpPr>
        <p:spPr>
          <a:xfrm>
            <a:off x="365760" y="2258568"/>
            <a:ext cx="658368" cy="1261872"/>
          </a:xfrm>
          <a:prstGeom prst="rect">
            <a:avLst/>
          </a:prstGeom>
          <a:solidFill>
            <a:srgbClr val="00897B"/>
          </a:solidFill>
          <a:ln w="12700">
            <a:solidFill>
              <a:srgbClr val="00897B"/>
            </a:solidFill>
            <a:prstDash val="solid"/>
          </a:ln>
        </p:spPr>
      </p:sp>
      <p:sp>
        <p:nvSpPr>
          <p:cNvPr id="19" name="Text 17"/>
          <p:cNvSpPr/>
          <p:nvPr/>
        </p:nvSpPr>
        <p:spPr>
          <a:xfrm>
            <a:off x="365760" y="2642616"/>
            <a:ext cx="658368" cy="502920"/>
          </a:xfrm>
          <a:prstGeom prst="rect">
            <a:avLst/>
          </a:prstGeom>
          <a:noFill/>
          <a:ln/>
        </p:spPr>
        <p:txBody>
          <a:bodyPr wrap="square" lIns="0" tIns="0" rIns="0" bIns="0" rtlCol="0" anchor="ctr"/>
          <a:lstStyle/>
          <a:p>
            <a:pPr marL="0" indent="0" algn="ctr">
              <a:buNone/>
            </a:pPr>
            <a:r>
              <a:rPr lang="en-US" sz="2000" b="1" dirty="0">
                <a:solidFill>
                  <a:srgbClr val="FFFFFF"/>
                </a:solidFill>
              </a:rPr>
              <a:t>02</a:t>
            </a:r>
            <a:endParaRPr lang="en-US" sz="2000" dirty="0"/>
          </a:p>
        </p:txBody>
      </p:sp>
      <p:sp>
        <p:nvSpPr>
          <p:cNvPr id="20" name="Text 18"/>
          <p:cNvSpPr/>
          <p:nvPr/>
        </p:nvSpPr>
        <p:spPr>
          <a:xfrm>
            <a:off x="1115568" y="2313432"/>
            <a:ext cx="7498080" cy="274320"/>
          </a:xfrm>
          <a:prstGeom prst="rect">
            <a:avLst/>
          </a:prstGeom>
          <a:noFill/>
          <a:ln/>
        </p:spPr>
        <p:txBody>
          <a:bodyPr wrap="square" lIns="0" tIns="0" rIns="0" bIns="0" rtlCol="0" anchor="ctr"/>
          <a:lstStyle/>
          <a:p>
            <a:pPr marL="0" indent="0" algn="l">
              <a:buNone/>
            </a:pPr>
            <a:r>
              <a:rPr lang="en-US" sz="1200" b="1" dirty="0">
                <a:solidFill>
                  <a:srgbClr val="00897B"/>
                </a:solidFill>
              </a:rPr>
              <a:t>Executing API Tests in CI Pipeline</a:t>
            </a:r>
            <a:endParaRPr lang="en-US" sz="1200" dirty="0"/>
          </a:p>
        </p:txBody>
      </p:sp>
      <p:sp>
        <p:nvSpPr>
          <p:cNvPr id="21" name="Text 19"/>
          <p:cNvSpPr/>
          <p:nvPr/>
        </p:nvSpPr>
        <p:spPr>
          <a:xfrm>
            <a:off x="1115568" y="2642616"/>
            <a:ext cx="3520440" cy="347472"/>
          </a:xfrm>
          <a:prstGeom prst="rect">
            <a:avLst/>
          </a:prstGeom>
          <a:noFill/>
          <a:ln/>
        </p:spPr>
        <p:txBody>
          <a:bodyPr wrap="square" lIns="0" tIns="0" rIns="0" bIns="0" rtlCol="0" anchor="ctr"/>
          <a:lstStyle/>
          <a:p>
            <a:pPr marL="0" indent="0" algn="l">
              <a:buNone/>
            </a:pPr>
            <a:r>
              <a:rPr lang="en-US" sz="950" b="1" dirty="0">
                <a:solidFill>
                  <a:srgbClr val="00897B"/>
                </a:solidFill>
              </a:rPr>
              <a:t>▸  </a:t>
            </a:r>
            <a:r>
              <a:rPr lang="en-US" sz="950" dirty="0">
                <a:solidFill>
                  <a:srgbClr val="E8F4FD"/>
                </a:solidFill>
              </a:rPr>
              <a:t>Add api-test job to .github/workflows/ci.yml with needs: unit-test</a:t>
            </a:r>
            <a:endParaRPr lang="en-US" sz="950" dirty="0"/>
          </a:p>
        </p:txBody>
      </p:sp>
      <p:sp>
        <p:nvSpPr>
          <p:cNvPr id="22" name="Text 20"/>
          <p:cNvSpPr/>
          <p:nvPr/>
        </p:nvSpPr>
        <p:spPr>
          <a:xfrm>
            <a:off x="1115568" y="3035808"/>
            <a:ext cx="3520440" cy="347472"/>
          </a:xfrm>
          <a:prstGeom prst="rect">
            <a:avLst/>
          </a:prstGeom>
          <a:noFill/>
          <a:ln/>
        </p:spPr>
        <p:txBody>
          <a:bodyPr wrap="square" lIns="0" tIns="0" rIns="0" bIns="0" rtlCol="0" anchor="ctr"/>
          <a:lstStyle/>
          <a:p>
            <a:pPr marL="0" indent="0" algn="l">
              <a:buNone/>
            </a:pPr>
            <a:r>
              <a:rPr lang="en-US" sz="950" b="1" dirty="0">
                <a:solidFill>
                  <a:srgbClr val="00897B"/>
                </a:solidFill>
              </a:rPr>
              <a:t>▸  </a:t>
            </a:r>
            <a:r>
              <a:rPr lang="en-US" sz="950" dirty="0">
                <a:solidFill>
                  <a:srgbClr val="E8F4FD"/>
                </a:solidFill>
              </a:rPr>
              <a:t>Inject API_BASE_URL via GitHub repository variables (not secrets for non-sensitive URLs)</a:t>
            </a:r>
            <a:endParaRPr lang="en-US" sz="950" dirty="0"/>
          </a:p>
        </p:txBody>
      </p:sp>
      <p:sp>
        <p:nvSpPr>
          <p:cNvPr id="23" name="Text 21"/>
          <p:cNvSpPr/>
          <p:nvPr/>
        </p:nvSpPr>
        <p:spPr>
          <a:xfrm>
            <a:off x="4773168" y="2642616"/>
            <a:ext cx="3520440" cy="347472"/>
          </a:xfrm>
          <a:prstGeom prst="rect">
            <a:avLst/>
          </a:prstGeom>
          <a:noFill/>
          <a:ln/>
        </p:spPr>
        <p:txBody>
          <a:bodyPr wrap="square" lIns="0" tIns="0" rIns="0" bIns="0" rtlCol="0" anchor="ctr"/>
          <a:lstStyle/>
          <a:p>
            <a:pPr marL="0" indent="0" algn="l">
              <a:buNone/>
            </a:pPr>
            <a:r>
              <a:rPr lang="en-US" sz="950" b="1" dirty="0">
                <a:solidFill>
                  <a:srgbClr val="00897B"/>
                </a:solidFill>
              </a:rPr>
              <a:t>▸  </a:t>
            </a:r>
            <a:r>
              <a:rPr lang="en-US" sz="950" dirty="0">
                <a:solidFill>
                  <a:srgbClr val="E8F4FD"/>
                </a:solidFill>
              </a:rPr>
              <a:t>Push to feature branch — observe api-test job in Actions tab</a:t>
            </a:r>
            <a:endParaRPr lang="en-US" sz="950" dirty="0"/>
          </a:p>
        </p:txBody>
      </p:sp>
      <p:sp>
        <p:nvSpPr>
          <p:cNvPr id="24" name="Text 22"/>
          <p:cNvSpPr/>
          <p:nvPr/>
        </p:nvSpPr>
        <p:spPr>
          <a:xfrm>
            <a:off x="4773168" y="3035808"/>
            <a:ext cx="3520440" cy="347472"/>
          </a:xfrm>
          <a:prstGeom prst="rect">
            <a:avLst/>
          </a:prstGeom>
          <a:noFill/>
          <a:ln/>
        </p:spPr>
        <p:txBody>
          <a:bodyPr wrap="square" lIns="0" tIns="0" rIns="0" bIns="0" rtlCol="0" anchor="ctr"/>
          <a:lstStyle/>
          <a:p>
            <a:pPr marL="0" indent="0" algn="l">
              <a:buNone/>
            </a:pPr>
            <a:r>
              <a:rPr lang="en-US" sz="950" b="1" dirty="0">
                <a:solidFill>
                  <a:srgbClr val="00897B"/>
                </a:solidFill>
              </a:rPr>
              <a:t>▸  </a:t>
            </a:r>
            <a:r>
              <a:rPr lang="en-US" sz="950" dirty="0">
                <a:solidFill>
                  <a:srgbClr val="E8F4FD"/>
                </a:solidFill>
              </a:rPr>
              <a:t>Download failsafe-reports artefact — open the JUnit XML to review results</a:t>
            </a:r>
            <a:endParaRPr lang="en-US" sz="950" dirty="0"/>
          </a:p>
        </p:txBody>
      </p:sp>
      <p:sp>
        <p:nvSpPr>
          <p:cNvPr id="25" name="Shape 23"/>
          <p:cNvSpPr/>
          <p:nvPr/>
        </p:nvSpPr>
        <p:spPr>
          <a:xfrm>
            <a:off x="365760" y="3602736"/>
            <a:ext cx="8412480" cy="1261872"/>
          </a:xfrm>
          <a:prstGeom prst="rect">
            <a:avLst/>
          </a:prstGeom>
          <a:solidFill>
            <a:srgbClr val="112233"/>
          </a:solidFill>
          <a:ln w="12700">
            <a:solidFill>
              <a:srgbClr val="00BCD4"/>
            </a:solidFill>
            <a:prstDash val="solid"/>
          </a:ln>
        </p:spPr>
      </p:sp>
      <p:sp>
        <p:nvSpPr>
          <p:cNvPr id="26" name="Shape 24"/>
          <p:cNvSpPr/>
          <p:nvPr/>
        </p:nvSpPr>
        <p:spPr>
          <a:xfrm>
            <a:off x="365760" y="3602736"/>
            <a:ext cx="658368" cy="1261872"/>
          </a:xfrm>
          <a:prstGeom prst="rect">
            <a:avLst/>
          </a:prstGeom>
          <a:solidFill>
            <a:srgbClr val="00BCD4"/>
          </a:solidFill>
          <a:ln w="12700">
            <a:solidFill>
              <a:srgbClr val="00BCD4"/>
            </a:solidFill>
            <a:prstDash val="solid"/>
          </a:ln>
        </p:spPr>
      </p:sp>
      <p:sp>
        <p:nvSpPr>
          <p:cNvPr id="27" name="Text 25"/>
          <p:cNvSpPr/>
          <p:nvPr/>
        </p:nvSpPr>
        <p:spPr>
          <a:xfrm>
            <a:off x="365760" y="3986784"/>
            <a:ext cx="658368" cy="502920"/>
          </a:xfrm>
          <a:prstGeom prst="rect">
            <a:avLst/>
          </a:prstGeom>
          <a:noFill/>
          <a:ln/>
        </p:spPr>
        <p:txBody>
          <a:bodyPr wrap="square" lIns="0" tIns="0" rIns="0" bIns="0" rtlCol="0" anchor="ctr"/>
          <a:lstStyle/>
          <a:p>
            <a:pPr marL="0" indent="0" algn="ctr">
              <a:buNone/>
            </a:pPr>
            <a:r>
              <a:rPr lang="en-US" sz="2000" b="1" dirty="0">
                <a:solidFill>
                  <a:srgbClr val="FFFFFF"/>
                </a:solidFill>
              </a:rPr>
              <a:t>03</a:t>
            </a:r>
            <a:endParaRPr lang="en-US" sz="2000" dirty="0"/>
          </a:p>
        </p:txBody>
      </p:sp>
      <p:sp>
        <p:nvSpPr>
          <p:cNvPr id="28" name="Text 26"/>
          <p:cNvSpPr/>
          <p:nvPr/>
        </p:nvSpPr>
        <p:spPr>
          <a:xfrm>
            <a:off x="1115568" y="3657600"/>
            <a:ext cx="7498080" cy="274320"/>
          </a:xfrm>
          <a:prstGeom prst="rect">
            <a:avLst/>
          </a:prstGeom>
          <a:noFill/>
          <a:ln/>
        </p:spPr>
        <p:txBody>
          <a:bodyPr wrap="square" lIns="0" tIns="0" rIns="0" bIns="0" rtlCol="0" anchor="ctr"/>
          <a:lstStyle/>
          <a:p>
            <a:pPr marL="0" indent="0" algn="l">
              <a:buNone/>
            </a:pPr>
            <a:r>
              <a:rPr lang="en-US" sz="1200" b="1" dirty="0">
                <a:solidFill>
                  <a:srgbClr val="00BCD4"/>
                </a:solidFill>
              </a:rPr>
              <a:t>Analysing API Test Reports &amp; Validating Response Data</a:t>
            </a:r>
            <a:endParaRPr lang="en-US" sz="1200" dirty="0"/>
          </a:p>
        </p:txBody>
      </p:sp>
      <p:sp>
        <p:nvSpPr>
          <p:cNvPr id="29" name="Text 27"/>
          <p:cNvSpPr/>
          <p:nvPr/>
        </p:nvSpPr>
        <p:spPr>
          <a:xfrm>
            <a:off x="1115568" y="3986784"/>
            <a:ext cx="3520440" cy="347472"/>
          </a:xfrm>
          <a:prstGeom prst="rect">
            <a:avLst/>
          </a:prstGeom>
          <a:noFill/>
          <a:ln/>
        </p:spPr>
        <p:txBody>
          <a:bodyPr wrap="square" lIns="0" tIns="0" rIns="0" bIns="0" rtlCol="0" anchor="ctr"/>
          <a:lstStyle/>
          <a:p>
            <a:pPr marL="0" indent="0" algn="l">
              <a:buNone/>
            </a:pPr>
            <a:r>
              <a:rPr lang="en-US" sz="950" b="1" dirty="0">
                <a:solidFill>
                  <a:srgbClr val="00BCD4"/>
                </a:solidFill>
              </a:rPr>
              <a:t>▸  </a:t>
            </a:r>
            <a:r>
              <a:rPr lang="en-US" sz="950" dirty="0">
                <a:solidFill>
                  <a:srgbClr val="E8F4FD"/>
                </a:solidFill>
              </a:rPr>
              <a:t>Review Newman CLI console output: iteration count, pass/fail, response times</a:t>
            </a:r>
            <a:endParaRPr lang="en-US" sz="950" dirty="0"/>
          </a:p>
        </p:txBody>
      </p:sp>
      <p:sp>
        <p:nvSpPr>
          <p:cNvPr id="30" name="Text 28"/>
          <p:cNvSpPr/>
          <p:nvPr/>
        </p:nvSpPr>
        <p:spPr>
          <a:xfrm>
            <a:off x="1115568" y="4379976"/>
            <a:ext cx="3520440" cy="347472"/>
          </a:xfrm>
          <a:prstGeom prst="rect">
            <a:avLst/>
          </a:prstGeom>
          <a:noFill/>
          <a:ln/>
        </p:spPr>
        <p:txBody>
          <a:bodyPr wrap="square" lIns="0" tIns="0" rIns="0" bIns="0" rtlCol="0" anchor="ctr"/>
          <a:lstStyle/>
          <a:p>
            <a:pPr marL="0" indent="0" algn="l">
              <a:buNone/>
            </a:pPr>
            <a:r>
              <a:rPr lang="en-US" sz="950" b="1" dirty="0">
                <a:solidFill>
                  <a:srgbClr val="00BCD4"/>
                </a:solidFill>
              </a:rPr>
              <a:t>▸  </a:t>
            </a:r>
            <a:r>
              <a:rPr lang="en-US" sz="950" dirty="0">
                <a:solidFill>
                  <a:srgbClr val="E8F4FD"/>
                </a:solidFill>
              </a:rPr>
              <a:t>Demonstrate: deliberately break a schema field name — observe schema validation fail</a:t>
            </a:r>
            <a:endParaRPr lang="en-US" sz="950" dirty="0"/>
          </a:p>
        </p:txBody>
      </p:sp>
      <p:sp>
        <p:nvSpPr>
          <p:cNvPr id="31" name="Text 29"/>
          <p:cNvSpPr/>
          <p:nvPr/>
        </p:nvSpPr>
        <p:spPr>
          <a:xfrm>
            <a:off x="4773168" y="3986784"/>
            <a:ext cx="3520440" cy="347472"/>
          </a:xfrm>
          <a:prstGeom prst="rect">
            <a:avLst/>
          </a:prstGeom>
          <a:noFill/>
          <a:ln/>
        </p:spPr>
        <p:txBody>
          <a:bodyPr wrap="square" lIns="0" tIns="0" rIns="0" bIns="0" rtlCol="0" anchor="ctr"/>
          <a:lstStyle/>
          <a:p>
            <a:pPr marL="0" indent="0" algn="l">
              <a:buNone/>
            </a:pPr>
            <a:r>
              <a:rPr lang="en-US" sz="950" b="1" dirty="0">
                <a:solidFill>
                  <a:srgbClr val="00BCD4"/>
                </a:solidFill>
              </a:rPr>
              <a:t>▸  </a:t>
            </a:r>
            <a:r>
              <a:rPr lang="en-US" sz="950" dirty="0">
                <a:solidFill>
                  <a:srgbClr val="E8F4FD"/>
                </a:solidFill>
              </a:rPr>
              <a:t>Show: 401 failure simulation — remove API key — trace to 'Unauthorised' in log</a:t>
            </a:r>
            <a:endParaRPr lang="en-US" sz="950" dirty="0"/>
          </a:p>
        </p:txBody>
      </p:sp>
      <p:sp>
        <p:nvSpPr>
          <p:cNvPr id="32" name="Text 30"/>
          <p:cNvSpPr/>
          <p:nvPr/>
        </p:nvSpPr>
        <p:spPr>
          <a:xfrm>
            <a:off x="4773168" y="4379976"/>
            <a:ext cx="3520440" cy="347472"/>
          </a:xfrm>
          <a:prstGeom prst="rect">
            <a:avLst/>
          </a:prstGeom>
          <a:noFill/>
          <a:ln/>
        </p:spPr>
        <p:txBody>
          <a:bodyPr wrap="square" lIns="0" tIns="0" rIns="0" bIns="0" rtlCol="0" anchor="ctr"/>
          <a:lstStyle/>
          <a:p>
            <a:pPr marL="0" indent="0" algn="l">
              <a:buNone/>
            </a:pPr>
            <a:r>
              <a:rPr lang="en-US" sz="950" b="1" dirty="0">
                <a:solidFill>
                  <a:srgbClr val="00BCD4"/>
                </a:solidFill>
              </a:rPr>
              <a:t>▸  </a:t>
            </a:r>
            <a:r>
              <a:rPr lang="en-US" sz="950" dirty="0">
                <a:solidFill>
                  <a:srgbClr val="E8F4FD"/>
                </a:solidFill>
              </a:rPr>
              <a:t>Fix and re-run — confirm CI returns green across both REST Assured and Newman jobs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HANDS-ON LAB</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Lab: Create → Integrate → Validate</a:t>
            </a:r>
            <a:endParaRPr lang="en-US" sz="2200" dirty="0"/>
          </a:p>
        </p:txBody>
      </p:sp>
      <p:sp>
        <p:nvSpPr>
          <p:cNvPr id="9" name="Shape 7"/>
          <p:cNvSpPr/>
          <p:nvPr/>
        </p:nvSpPr>
        <p:spPr>
          <a:xfrm>
            <a:off x="6492240" y="347472"/>
            <a:ext cx="2286000" cy="475488"/>
          </a:xfrm>
          <a:prstGeom prst="rect">
            <a:avLst/>
          </a:prstGeom>
          <a:solidFill>
            <a:srgbClr val="0E1F35"/>
          </a:solidFill>
          <a:ln w="12700">
            <a:solidFill>
              <a:srgbClr val="00BCD4"/>
            </a:solidFill>
            <a:prstDash val="solid"/>
          </a:ln>
        </p:spPr>
      </p:sp>
      <p:sp>
        <p:nvSpPr>
          <p:cNvPr id="10" name="Text 8"/>
          <p:cNvSpPr/>
          <p:nvPr/>
        </p:nvSpPr>
        <p:spPr>
          <a:xfrm>
            <a:off x="6492240" y="347472"/>
            <a:ext cx="2286000" cy="475488"/>
          </a:xfrm>
          <a:prstGeom prst="rect">
            <a:avLst/>
          </a:prstGeom>
          <a:noFill/>
          <a:ln/>
        </p:spPr>
        <p:txBody>
          <a:bodyPr wrap="square" lIns="0" tIns="0" rIns="0" bIns="0" rtlCol="0" anchor="ctr"/>
          <a:lstStyle/>
          <a:p>
            <a:pPr marL="0" indent="0" algn="ctr">
              <a:buNone/>
            </a:pPr>
            <a:r>
              <a:rPr lang="en-US" sz="850" dirty="0">
                <a:solidFill>
                  <a:srgbClr val="00BCD4"/>
                </a:solidFill>
              </a:rPr>
              <a:t>35% Theory  |  65% Hands-on</a:t>
            </a:r>
            <a:endParaRPr lang="en-US" sz="850" dirty="0"/>
          </a:p>
        </p:txBody>
      </p:sp>
      <p:sp>
        <p:nvSpPr>
          <p:cNvPr id="11" name="Shape 9"/>
          <p:cNvSpPr/>
          <p:nvPr/>
        </p:nvSpPr>
        <p:spPr>
          <a:xfrm>
            <a:off x="365760" y="914400"/>
            <a:ext cx="8412480" cy="1261872"/>
          </a:xfrm>
          <a:prstGeom prst="rect">
            <a:avLst/>
          </a:prstGeom>
          <a:solidFill>
            <a:srgbClr val="112233"/>
          </a:solidFill>
          <a:ln w="12700">
            <a:solidFill>
              <a:srgbClr val="1565C0"/>
            </a:solidFill>
            <a:prstDash val="solid"/>
          </a:ln>
        </p:spPr>
      </p:sp>
      <p:sp>
        <p:nvSpPr>
          <p:cNvPr id="12" name="Shape 10"/>
          <p:cNvSpPr/>
          <p:nvPr/>
        </p:nvSpPr>
        <p:spPr>
          <a:xfrm>
            <a:off x="365760" y="914400"/>
            <a:ext cx="1737360" cy="1261872"/>
          </a:xfrm>
          <a:prstGeom prst="rect">
            <a:avLst/>
          </a:prstGeom>
          <a:solidFill>
            <a:srgbClr val="0E1F35"/>
          </a:solidFill>
          <a:ln w="12700">
            <a:solidFill>
              <a:srgbClr val="0E1F35"/>
            </a:solidFill>
            <a:prstDash val="solid"/>
          </a:ln>
        </p:spPr>
      </p:sp>
      <p:pic>
        <p:nvPicPr>
          <p:cNvPr id="13" name="Image 0" descr="preencoded.png"/>
          <p:cNvPicPr>
            <a:picLocks noChangeAspect="1"/>
          </p:cNvPicPr>
          <p:nvPr/>
        </p:nvPicPr>
        <p:blipFill>
          <a:blip r:embed="rId3"/>
          <a:stretch>
            <a:fillRect/>
          </a:stretch>
        </p:blipFill>
        <p:spPr>
          <a:xfrm>
            <a:off x="685800" y="1078992"/>
            <a:ext cx="457200" cy="457200"/>
          </a:xfrm>
          <a:prstGeom prst="rect">
            <a:avLst/>
          </a:prstGeom>
        </p:spPr>
      </p:pic>
      <p:sp>
        <p:nvSpPr>
          <p:cNvPr id="14" name="Text 11"/>
          <p:cNvSpPr/>
          <p:nvPr/>
        </p:nvSpPr>
        <p:spPr>
          <a:xfrm>
            <a:off x="365760" y="1581912"/>
            <a:ext cx="1737360" cy="256032"/>
          </a:xfrm>
          <a:prstGeom prst="rect">
            <a:avLst/>
          </a:prstGeom>
          <a:noFill/>
          <a:ln/>
        </p:spPr>
        <p:txBody>
          <a:bodyPr wrap="square" lIns="0" tIns="0" rIns="0" bIns="0" rtlCol="0" anchor="ctr"/>
          <a:lstStyle/>
          <a:p>
            <a:pPr marL="0" indent="0" algn="ctr">
              <a:buNone/>
            </a:pPr>
            <a:r>
              <a:rPr lang="en-US" sz="900" b="1" dirty="0">
                <a:solidFill>
                  <a:srgbClr val="1565C0"/>
                </a:solidFill>
              </a:rPr>
              <a:t>Task 1</a:t>
            </a:r>
            <a:endParaRPr lang="en-US" sz="900" dirty="0"/>
          </a:p>
        </p:txBody>
      </p:sp>
      <p:sp>
        <p:nvSpPr>
          <p:cNvPr id="15" name="Text 12"/>
          <p:cNvSpPr/>
          <p:nvPr/>
        </p:nvSpPr>
        <p:spPr>
          <a:xfrm>
            <a:off x="365760" y="1865376"/>
            <a:ext cx="1737360" cy="256032"/>
          </a:xfrm>
          <a:prstGeom prst="rect">
            <a:avLst/>
          </a:prstGeom>
          <a:noFill/>
          <a:ln/>
        </p:spPr>
        <p:txBody>
          <a:bodyPr wrap="square" lIns="0" tIns="0" rIns="0" bIns="0" rtlCol="0" anchor="ctr"/>
          <a:lstStyle/>
          <a:p>
            <a:pPr marL="0" indent="0" algn="ctr">
              <a:buNone/>
            </a:pPr>
            <a:r>
              <a:rPr lang="en-US" sz="750" dirty="0">
                <a:solidFill>
                  <a:srgbClr val="90A4AE"/>
                </a:solidFill>
              </a:rPr>
              <a:t>Passing API test suite (mvn verify -Dgroups=api)</a:t>
            </a:r>
            <a:endParaRPr lang="en-US" sz="750" dirty="0"/>
          </a:p>
        </p:txBody>
      </p:sp>
      <p:sp>
        <p:nvSpPr>
          <p:cNvPr id="16" name="Text 13"/>
          <p:cNvSpPr/>
          <p:nvPr/>
        </p:nvSpPr>
        <p:spPr>
          <a:xfrm>
            <a:off x="2194560" y="969264"/>
            <a:ext cx="6492240" cy="274320"/>
          </a:xfrm>
          <a:prstGeom prst="rect">
            <a:avLst/>
          </a:prstGeom>
          <a:noFill/>
          <a:ln/>
        </p:spPr>
        <p:txBody>
          <a:bodyPr wrap="square" lIns="0" tIns="0" rIns="0" bIns="0" rtlCol="0" anchor="ctr"/>
          <a:lstStyle/>
          <a:p>
            <a:pPr marL="0" indent="0" algn="l">
              <a:buNone/>
            </a:pPr>
            <a:r>
              <a:rPr lang="en-US" sz="1200" b="1" dirty="0">
                <a:solidFill>
                  <a:srgbClr val="1565C0"/>
                </a:solidFill>
              </a:rPr>
              <a:t>Create Automated API Tests (REST Assured)</a:t>
            </a:r>
            <a:endParaRPr lang="en-US" sz="1200" dirty="0"/>
          </a:p>
        </p:txBody>
      </p:sp>
      <p:sp>
        <p:nvSpPr>
          <p:cNvPr id="17" name="Text 14"/>
          <p:cNvSpPr/>
          <p:nvPr/>
        </p:nvSpPr>
        <p:spPr>
          <a:xfrm>
            <a:off x="2194560" y="1298448"/>
            <a:ext cx="3108960" cy="347472"/>
          </a:xfrm>
          <a:prstGeom prst="rect">
            <a:avLst/>
          </a:prstGeom>
          <a:noFill/>
          <a:ln/>
        </p:spPr>
        <p:txBody>
          <a:bodyPr wrap="square" lIns="0" tIns="0" rIns="0" bIns="0" rtlCol="0" anchor="ctr"/>
          <a:lstStyle/>
          <a:p>
            <a:pPr marL="0" indent="0" algn="l">
              <a:buNone/>
            </a:pPr>
            <a:r>
              <a:rPr lang="en-US" sz="950" b="1" dirty="0">
                <a:solidFill>
                  <a:srgbClr val="1565C0"/>
                </a:solidFill>
              </a:rPr>
              <a:t>1.  </a:t>
            </a:r>
            <a:r>
              <a:rPr lang="en-US" sz="950" dirty="0">
                <a:solidFill>
                  <a:srgbClr val="E8F4FD"/>
                </a:solidFill>
              </a:rPr>
              <a:t>Add REST Assured 6.0.0 + json-schema-validator to pom.xml</a:t>
            </a:r>
            <a:endParaRPr lang="en-US" sz="950" dirty="0"/>
          </a:p>
        </p:txBody>
      </p:sp>
      <p:sp>
        <p:nvSpPr>
          <p:cNvPr id="18" name="Text 15"/>
          <p:cNvSpPr/>
          <p:nvPr/>
        </p:nvSpPr>
        <p:spPr>
          <a:xfrm>
            <a:off x="2194560" y="1691640"/>
            <a:ext cx="3108960" cy="347472"/>
          </a:xfrm>
          <a:prstGeom prst="rect">
            <a:avLst/>
          </a:prstGeom>
          <a:noFill/>
          <a:ln/>
        </p:spPr>
        <p:txBody>
          <a:bodyPr wrap="square" lIns="0" tIns="0" rIns="0" bIns="0" rtlCol="0" anchor="ctr"/>
          <a:lstStyle/>
          <a:p>
            <a:pPr marL="0" indent="0" algn="l">
              <a:buNone/>
            </a:pPr>
            <a:r>
              <a:rPr lang="en-US" sz="950" b="1" dirty="0">
                <a:solidFill>
                  <a:srgbClr val="1565C0"/>
                </a:solidFill>
              </a:rPr>
              <a:t>2.  </a:t>
            </a:r>
            <a:r>
              <a:rPr lang="en-US" sz="950" dirty="0">
                <a:solidFill>
                  <a:srgbClr val="E8F4FD"/>
                </a:solidFill>
              </a:rPr>
              <a:t>Create UserApiIT.java: write GET /users/{id} test with status + body assertions</a:t>
            </a:r>
            <a:endParaRPr lang="en-US" sz="950" dirty="0"/>
          </a:p>
        </p:txBody>
      </p:sp>
      <p:sp>
        <p:nvSpPr>
          <p:cNvPr id="19" name="Text 16"/>
          <p:cNvSpPr/>
          <p:nvPr/>
        </p:nvSpPr>
        <p:spPr>
          <a:xfrm>
            <a:off x="5440680" y="1298448"/>
            <a:ext cx="3108960" cy="347472"/>
          </a:xfrm>
          <a:prstGeom prst="rect">
            <a:avLst/>
          </a:prstGeom>
          <a:noFill/>
          <a:ln/>
        </p:spPr>
        <p:txBody>
          <a:bodyPr wrap="square" lIns="0" tIns="0" rIns="0" bIns="0" rtlCol="0" anchor="ctr"/>
          <a:lstStyle/>
          <a:p>
            <a:pPr marL="0" indent="0" algn="l">
              <a:buNone/>
            </a:pPr>
            <a:r>
              <a:rPr lang="en-US" sz="950" b="1" dirty="0">
                <a:solidFill>
                  <a:srgbClr val="1565C0"/>
                </a:solidFill>
              </a:rPr>
              <a:t>3.  </a:t>
            </a:r>
            <a:r>
              <a:rPr lang="en-US" sz="950" dirty="0">
                <a:solidFill>
                  <a:srgbClr val="E8F4FD"/>
                </a:solidFill>
              </a:rPr>
              <a:t>Add JSON Schema file to src/test/resources/schemas/</a:t>
            </a:r>
            <a:endParaRPr lang="en-US" sz="950" dirty="0"/>
          </a:p>
        </p:txBody>
      </p:sp>
      <p:sp>
        <p:nvSpPr>
          <p:cNvPr id="20" name="Text 17"/>
          <p:cNvSpPr/>
          <p:nvPr/>
        </p:nvSpPr>
        <p:spPr>
          <a:xfrm>
            <a:off x="5440680" y="1691640"/>
            <a:ext cx="3108960" cy="347472"/>
          </a:xfrm>
          <a:prstGeom prst="rect">
            <a:avLst/>
          </a:prstGeom>
          <a:noFill/>
          <a:ln/>
        </p:spPr>
        <p:txBody>
          <a:bodyPr wrap="square" lIns="0" tIns="0" rIns="0" bIns="0" rtlCol="0" anchor="ctr"/>
          <a:lstStyle/>
          <a:p>
            <a:pPr marL="0" indent="0" algn="l">
              <a:buNone/>
            </a:pPr>
            <a:r>
              <a:rPr lang="en-US" sz="950" b="1" dirty="0">
                <a:solidFill>
                  <a:srgbClr val="1565C0"/>
                </a:solidFill>
              </a:rPr>
              <a:t>4.  </a:t>
            </a:r>
            <a:r>
              <a:rPr lang="en-US" sz="950" dirty="0">
                <a:solidFill>
                  <a:srgbClr val="E8F4FD"/>
                </a:solidFill>
              </a:rPr>
              <a:t>Add schema validation assertion: matchesJsonSchemaInClasspath("schemas/user-schema.json")</a:t>
            </a:r>
            <a:endParaRPr lang="en-US" sz="950" dirty="0"/>
          </a:p>
        </p:txBody>
      </p:sp>
      <p:sp>
        <p:nvSpPr>
          <p:cNvPr id="21" name="Shape 18"/>
          <p:cNvSpPr/>
          <p:nvPr/>
        </p:nvSpPr>
        <p:spPr>
          <a:xfrm>
            <a:off x="365760" y="2258568"/>
            <a:ext cx="8412480" cy="1261872"/>
          </a:xfrm>
          <a:prstGeom prst="rect">
            <a:avLst/>
          </a:prstGeom>
          <a:solidFill>
            <a:srgbClr val="112233"/>
          </a:solidFill>
          <a:ln w="12700">
            <a:solidFill>
              <a:srgbClr val="00897B"/>
            </a:solidFill>
            <a:prstDash val="solid"/>
          </a:ln>
        </p:spPr>
      </p:sp>
      <p:sp>
        <p:nvSpPr>
          <p:cNvPr id="22" name="Shape 19"/>
          <p:cNvSpPr/>
          <p:nvPr/>
        </p:nvSpPr>
        <p:spPr>
          <a:xfrm>
            <a:off x="365760" y="2258568"/>
            <a:ext cx="1737360" cy="1261872"/>
          </a:xfrm>
          <a:prstGeom prst="rect">
            <a:avLst/>
          </a:prstGeom>
          <a:solidFill>
            <a:srgbClr val="0E1F35"/>
          </a:solidFill>
          <a:ln w="12700">
            <a:solidFill>
              <a:srgbClr val="0E1F35"/>
            </a:solidFill>
            <a:prstDash val="solid"/>
          </a:ln>
        </p:spPr>
      </p:sp>
      <p:pic>
        <p:nvPicPr>
          <p:cNvPr id="23" name="Image 1" descr="preencoded.png"/>
          <p:cNvPicPr>
            <a:picLocks noChangeAspect="1"/>
          </p:cNvPicPr>
          <p:nvPr/>
        </p:nvPicPr>
        <p:blipFill>
          <a:blip r:embed="rId4"/>
          <a:stretch>
            <a:fillRect/>
          </a:stretch>
        </p:blipFill>
        <p:spPr>
          <a:xfrm>
            <a:off x="685800" y="2423160"/>
            <a:ext cx="457200" cy="457200"/>
          </a:xfrm>
          <a:prstGeom prst="rect">
            <a:avLst/>
          </a:prstGeom>
        </p:spPr>
      </p:pic>
      <p:sp>
        <p:nvSpPr>
          <p:cNvPr id="24" name="Text 20"/>
          <p:cNvSpPr/>
          <p:nvPr/>
        </p:nvSpPr>
        <p:spPr>
          <a:xfrm>
            <a:off x="365760" y="2926080"/>
            <a:ext cx="1737360" cy="256032"/>
          </a:xfrm>
          <a:prstGeom prst="rect">
            <a:avLst/>
          </a:prstGeom>
          <a:noFill/>
          <a:ln/>
        </p:spPr>
        <p:txBody>
          <a:bodyPr wrap="square" lIns="0" tIns="0" rIns="0" bIns="0" rtlCol="0" anchor="ctr"/>
          <a:lstStyle/>
          <a:p>
            <a:pPr marL="0" indent="0" algn="ctr">
              <a:buNone/>
            </a:pPr>
            <a:r>
              <a:rPr lang="en-US" sz="900" b="1" dirty="0">
                <a:solidFill>
                  <a:srgbClr val="00897B"/>
                </a:solidFill>
              </a:rPr>
              <a:t>Task 2</a:t>
            </a:r>
            <a:endParaRPr lang="en-US" sz="900" dirty="0"/>
          </a:p>
        </p:txBody>
      </p:sp>
      <p:sp>
        <p:nvSpPr>
          <p:cNvPr id="25" name="Text 21"/>
          <p:cNvSpPr/>
          <p:nvPr/>
        </p:nvSpPr>
        <p:spPr>
          <a:xfrm>
            <a:off x="365760" y="3209544"/>
            <a:ext cx="1737360" cy="256032"/>
          </a:xfrm>
          <a:prstGeom prst="rect">
            <a:avLst/>
          </a:prstGeom>
          <a:noFill/>
          <a:ln/>
        </p:spPr>
        <p:txBody>
          <a:bodyPr wrap="square" lIns="0" tIns="0" rIns="0" bIns="0" rtlCol="0" anchor="ctr"/>
          <a:lstStyle/>
          <a:p>
            <a:pPr marL="0" indent="0" algn="ctr">
              <a:buNone/>
            </a:pPr>
            <a:r>
              <a:rPr lang="en-US" sz="750" dirty="0">
                <a:solidFill>
                  <a:srgbClr val="90A4AE"/>
                </a:solidFill>
              </a:rPr>
              <a:t>Green CI run with api-test job</a:t>
            </a:r>
            <a:endParaRPr lang="en-US" sz="750" dirty="0"/>
          </a:p>
        </p:txBody>
      </p:sp>
      <p:sp>
        <p:nvSpPr>
          <p:cNvPr id="26" name="Text 22"/>
          <p:cNvSpPr/>
          <p:nvPr/>
        </p:nvSpPr>
        <p:spPr>
          <a:xfrm>
            <a:off x="2194560" y="2313432"/>
            <a:ext cx="6492240" cy="274320"/>
          </a:xfrm>
          <a:prstGeom prst="rect">
            <a:avLst/>
          </a:prstGeom>
          <a:noFill/>
          <a:ln/>
        </p:spPr>
        <p:txBody>
          <a:bodyPr wrap="square" lIns="0" tIns="0" rIns="0" bIns="0" rtlCol="0" anchor="ctr"/>
          <a:lstStyle/>
          <a:p>
            <a:pPr marL="0" indent="0" algn="l">
              <a:buNone/>
            </a:pPr>
            <a:r>
              <a:rPr lang="en-US" sz="1200" b="1" dirty="0">
                <a:solidFill>
                  <a:srgbClr val="00897B"/>
                </a:solidFill>
              </a:rPr>
              <a:t>Integrate API Tests into CI Pipeline</a:t>
            </a:r>
            <a:endParaRPr lang="en-US" sz="1200" dirty="0"/>
          </a:p>
        </p:txBody>
      </p:sp>
      <p:sp>
        <p:nvSpPr>
          <p:cNvPr id="27" name="Text 23"/>
          <p:cNvSpPr/>
          <p:nvPr/>
        </p:nvSpPr>
        <p:spPr>
          <a:xfrm>
            <a:off x="2194560" y="2642616"/>
            <a:ext cx="3108960" cy="347472"/>
          </a:xfrm>
          <a:prstGeom prst="rect">
            <a:avLst/>
          </a:prstGeom>
          <a:noFill/>
          <a:ln/>
        </p:spPr>
        <p:txBody>
          <a:bodyPr wrap="square" lIns="0" tIns="0" rIns="0" bIns="0" rtlCol="0" anchor="ctr"/>
          <a:lstStyle/>
          <a:p>
            <a:pPr marL="0" indent="0" algn="l">
              <a:buNone/>
            </a:pPr>
            <a:r>
              <a:rPr lang="en-US" sz="950" b="1" dirty="0">
                <a:solidFill>
                  <a:srgbClr val="00897B"/>
                </a:solidFill>
              </a:rPr>
              <a:t>1.  </a:t>
            </a:r>
            <a:r>
              <a:rPr lang="en-US" sz="950" dirty="0">
                <a:solidFill>
                  <a:srgbClr val="E8F4FD"/>
                </a:solidFill>
              </a:rPr>
              <a:t>Add api-test job to ci.yml: needs: unit-test, run: mvn verify -Dgroups=api</a:t>
            </a:r>
            <a:endParaRPr lang="en-US" sz="950" dirty="0"/>
          </a:p>
        </p:txBody>
      </p:sp>
      <p:sp>
        <p:nvSpPr>
          <p:cNvPr id="28" name="Text 24"/>
          <p:cNvSpPr/>
          <p:nvPr/>
        </p:nvSpPr>
        <p:spPr>
          <a:xfrm>
            <a:off x="2194560" y="3035808"/>
            <a:ext cx="3108960" cy="347472"/>
          </a:xfrm>
          <a:prstGeom prst="rect">
            <a:avLst/>
          </a:prstGeom>
          <a:noFill/>
          <a:ln/>
        </p:spPr>
        <p:txBody>
          <a:bodyPr wrap="square" lIns="0" tIns="0" rIns="0" bIns="0" rtlCol="0" anchor="ctr"/>
          <a:lstStyle/>
          <a:p>
            <a:pPr marL="0" indent="0" algn="l">
              <a:buNone/>
            </a:pPr>
            <a:r>
              <a:rPr lang="en-US" sz="950" b="1" dirty="0">
                <a:solidFill>
                  <a:srgbClr val="00897B"/>
                </a:solidFill>
              </a:rPr>
              <a:t>2.  </a:t>
            </a:r>
            <a:r>
              <a:rPr lang="en-US" sz="950" dirty="0">
                <a:solidFill>
                  <a:srgbClr val="E8F4FD"/>
                </a:solidFill>
              </a:rPr>
              <a:t>Add API_BASE_URL as a GitHub repository variable (Settings → Variables)</a:t>
            </a:r>
            <a:endParaRPr lang="en-US" sz="950" dirty="0"/>
          </a:p>
        </p:txBody>
      </p:sp>
      <p:sp>
        <p:nvSpPr>
          <p:cNvPr id="29" name="Text 25"/>
          <p:cNvSpPr/>
          <p:nvPr/>
        </p:nvSpPr>
        <p:spPr>
          <a:xfrm>
            <a:off x="5440680" y="2642616"/>
            <a:ext cx="3108960" cy="347472"/>
          </a:xfrm>
          <a:prstGeom prst="rect">
            <a:avLst/>
          </a:prstGeom>
          <a:noFill/>
          <a:ln/>
        </p:spPr>
        <p:txBody>
          <a:bodyPr wrap="square" lIns="0" tIns="0" rIns="0" bIns="0" rtlCol="0" anchor="ctr"/>
          <a:lstStyle/>
          <a:p>
            <a:pPr marL="0" indent="0" algn="l">
              <a:buNone/>
            </a:pPr>
            <a:r>
              <a:rPr lang="en-US" sz="950" b="1" dirty="0">
                <a:solidFill>
                  <a:srgbClr val="00897B"/>
                </a:solidFill>
              </a:rPr>
              <a:t>3.  </a:t>
            </a:r>
            <a:r>
              <a:rPr lang="en-US" sz="950" dirty="0">
                <a:solidFill>
                  <a:srgbClr val="E8F4FD"/>
                </a:solidFill>
              </a:rPr>
              <a:t>Push branch and open a PR — confirm api-test job appears and passes</a:t>
            </a:r>
            <a:endParaRPr lang="en-US" sz="950" dirty="0"/>
          </a:p>
        </p:txBody>
      </p:sp>
      <p:sp>
        <p:nvSpPr>
          <p:cNvPr id="30" name="Text 26"/>
          <p:cNvSpPr/>
          <p:nvPr/>
        </p:nvSpPr>
        <p:spPr>
          <a:xfrm>
            <a:off x="5440680" y="3035808"/>
            <a:ext cx="3108960" cy="347472"/>
          </a:xfrm>
          <a:prstGeom prst="rect">
            <a:avLst/>
          </a:prstGeom>
          <a:noFill/>
          <a:ln/>
        </p:spPr>
        <p:txBody>
          <a:bodyPr wrap="square" lIns="0" tIns="0" rIns="0" bIns="0" rtlCol="0" anchor="ctr"/>
          <a:lstStyle/>
          <a:p>
            <a:pPr marL="0" indent="0" algn="l">
              <a:buNone/>
            </a:pPr>
            <a:r>
              <a:rPr lang="en-US" sz="950" b="1" dirty="0">
                <a:solidFill>
                  <a:srgbClr val="00897B"/>
                </a:solidFill>
              </a:rPr>
              <a:t>4.  </a:t>
            </a:r>
            <a:r>
              <a:rPr lang="en-US" sz="950" dirty="0">
                <a:solidFill>
                  <a:srgbClr val="E8F4FD"/>
                </a:solidFill>
              </a:rPr>
              <a:t>Upload failsafe-reports artefact using upload-artifact@v4 with if: always()</a:t>
            </a:r>
            <a:endParaRPr lang="en-US" sz="950" dirty="0"/>
          </a:p>
        </p:txBody>
      </p:sp>
      <p:sp>
        <p:nvSpPr>
          <p:cNvPr id="31" name="Shape 27"/>
          <p:cNvSpPr/>
          <p:nvPr/>
        </p:nvSpPr>
        <p:spPr>
          <a:xfrm>
            <a:off x="365760" y="3602736"/>
            <a:ext cx="8412480" cy="1261872"/>
          </a:xfrm>
          <a:prstGeom prst="rect">
            <a:avLst/>
          </a:prstGeom>
          <a:solidFill>
            <a:srgbClr val="112233"/>
          </a:solidFill>
          <a:ln w="12700">
            <a:solidFill>
              <a:srgbClr val="00BCD4"/>
            </a:solidFill>
            <a:prstDash val="solid"/>
          </a:ln>
        </p:spPr>
      </p:sp>
      <p:sp>
        <p:nvSpPr>
          <p:cNvPr id="32" name="Shape 28"/>
          <p:cNvSpPr/>
          <p:nvPr/>
        </p:nvSpPr>
        <p:spPr>
          <a:xfrm>
            <a:off x="365760" y="3602736"/>
            <a:ext cx="1737360" cy="1261872"/>
          </a:xfrm>
          <a:prstGeom prst="rect">
            <a:avLst/>
          </a:prstGeom>
          <a:solidFill>
            <a:srgbClr val="0E1F35"/>
          </a:solidFill>
          <a:ln w="12700">
            <a:solidFill>
              <a:srgbClr val="0E1F35"/>
            </a:solidFill>
            <a:prstDash val="solid"/>
          </a:ln>
        </p:spPr>
      </p:sp>
      <p:pic>
        <p:nvPicPr>
          <p:cNvPr id="33" name="Image 2" descr="preencoded.png"/>
          <p:cNvPicPr>
            <a:picLocks noChangeAspect="1"/>
          </p:cNvPicPr>
          <p:nvPr/>
        </p:nvPicPr>
        <p:blipFill>
          <a:blip r:embed="rId5"/>
          <a:stretch>
            <a:fillRect/>
          </a:stretch>
        </p:blipFill>
        <p:spPr>
          <a:xfrm>
            <a:off x="685800" y="3767328"/>
            <a:ext cx="457200" cy="457200"/>
          </a:xfrm>
          <a:prstGeom prst="rect">
            <a:avLst/>
          </a:prstGeom>
        </p:spPr>
      </p:pic>
      <p:sp>
        <p:nvSpPr>
          <p:cNvPr id="34" name="Text 29"/>
          <p:cNvSpPr/>
          <p:nvPr/>
        </p:nvSpPr>
        <p:spPr>
          <a:xfrm>
            <a:off x="365760" y="4270248"/>
            <a:ext cx="1737360" cy="256032"/>
          </a:xfrm>
          <a:prstGeom prst="rect">
            <a:avLst/>
          </a:prstGeom>
          <a:noFill/>
          <a:ln/>
        </p:spPr>
        <p:txBody>
          <a:bodyPr wrap="square" lIns="0" tIns="0" rIns="0" bIns="0" rtlCol="0" anchor="ctr"/>
          <a:lstStyle/>
          <a:p>
            <a:pPr marL="0" indent="0" algn="ctr">
              <a:buNone/>
            </a:pPr>
            <a:r>
              <a:rPr lang="en-US" sz="900" b="1" dirty="0">
                <a:solidFill>
                  <a:srgbClr val="00BCD4"/>
                </a:solidFill>
              </a:rPr>
              <a:t>Task 3</a:t>
            </a:r>
            <a:endParaRPr lang="en-US" sz="900" dirty="0"/>
          </a:p>
        </p:txBody>
      </p:sp>
      <p:sp>
        <p:nvSpPr>
          <p:cNvPr id="35" name="Text 30"/>
          <p:cNvSpPr/>
          <p:nvPr/>
        </p:nvSpPr>
        <p:spPr>
          <a:xfrm>
            <a:off x="365760" y="4553712"/>
            <a:ext cx="1737360" cy="256032"/>
          </a:xfrm>
          <a:prstGeom prst="rect">
            <a:avLst/>
          </a:prstGeom>
          <a:noFill/>
          <a:ln/>
        </p:spPr>
        <p:txBody>
          <a:bodyPr wrap="square" lIns="0" tIns="0" rIns="0" bIns="0" rtlCol="0" anchor="ctr"/>
          <a:lstStyle/>
          <a:p>
            <a:pPr marL="0" indent="0" algn="ctr">
              <a:buNone/>
            </a:pPr>
            <a:r>
              <a:rPr lang="en-US" sz="750" dirty="0">
                <a:solidFill>
                  <a:srgbClr val="90A4AE"/>
                </a:solidFill>
              </a:rPr>
              <a:t>CI evidence: annotated JUnit XML</a:t>
            </a:r>
            <a:endParaRPr lang="en-US" sz="750" dirty="0"/>
          </a:p>
        </p:txBody>
      </p:sp>
      <p:sp>
        <p:nvSpPr>
          <p:cNvPr id="36" name="Text 31"/>
          <p:cNvSpPr/>
          <p:nvPr/>
        </p:nvSpPr>
        <p:spPr>
          <a:xfrm>
            <a:off x="2194560" y="3657600"/>
            <a:ext cx="6492240" cy="274320"/>
          </a:xfrm>
          <a:prstGeom prst="rect">
            <a:avLst/>
          </a:prstGeom>
          <a:noFill/>
          <a:ln/>
        </p:spPr>
        <p:txBody>
          <a:bodyPr wrap="square" lIns="0" tIns="0" rIns="0" bIns="0" rtlCol="0" anchor="ctr"/>
          <a:lstStyle/>
          <a:p>
            <a:pPr marL="0" indent="0" algn="l">
              <a:buNone/>
            </a:pPr>
            <a:r>
              <a:rPr lang="en-US" sz="1200" b="1" dirty="0">
                <a:solidFill>
                  <a:srgbClr val="00BCD4"/>
                </a:solidFill>
              </a:rPr>
              <a:t>Validate Response Data and Status Codes</a:t>
            </a:r>
            <a:endParaRPr lang="en-US" sz="1200" dirty="0"/>
          </a:p>
        </p:txBody>
      </p:sp>
      <p:sp>
        <p:nvSpPr>
          <p:cNvPr id="37" name="Text 32"/>
          <p:cNvSpPr/>
          <p:nvPr/>
        </p:nvSpPr>
        <p:spPr>
          <a:xfrm>
            <a:off x="2194560" y="3986784"/>
            <a:ext cx="3108960" cy="347472"/>
          </a:xfrm>
          <a:prstGeom prst="rect">
            <a:avLst/>
          </a:prstGeom>
          <a:noFill/>
          <a:ln/>
        </p:spPr>
        <p:txBody>
          <a:bodyPr wrap="square" lIns="0" tIns="0" rIns="0" bIns="0" rtlCol="0" anchor="ctr"/>
          <a:lstStyle/>
          <a:p>
            <a:pPr marL="0" indent="0" algn="l">
              <a:buNone/>
            </a:pPr>
            <a:r>
              <a:rPr lang="en-US" sz="950" b="1" dirty="0">
                <a:solidFill>
                  <a:srgbClr val="00BCD4"/>
                </a:solidFill>
              </a:rPr>
              <a:t>1.  </a:t>
            </a:r>
            <a:r>
              <a:rPr lang="en-US" sz="950" dirty="0">
                <a:solidFill>
                  <a:srgbClr val="E8F4FD"/>
                </a:solidFill>
              </a:rPr>
              <a:t>Add a negative test: GET /users/99999 → expect 404 status code</a:t>
            </a:r>
            <a:endParaRPr lang="en-US" sz="950" dirty="0"/>
          </a:p>
        </p:txBody>
      </p:sp>
      <p:sp>
        <p:nvSpPr>
          <p:cNvPr id="38" name="Text 33"/>
          <p:cNvSpPr/>
          <p:nvPr/>
        </p:nvSpPr>
        <p:spPr>
          <a:xfrm>
            <a:off x="2194560" y="4379976"/>
            <a:ext cx="3108960" cy="347472"/>
          </a:xfrm>
          <a:prstGeom prst="rect">
            <a:avLst/>
          </a:prstGeom>
          <a:noFill/>
          <a:ln/>
        </p:spPr>
        <p:txBody>
          <a:bodyPr wrap="square" lIns="0" tIns="0" rIns="0" bIns="0" rtlCol="0" anchor="ctr"/>
          <a:lstStyle/>
          <a:p>
            <a:pPr marL="0" indent="0" algn="l">
              <a:buNone/>
            </a:pPr>
            <a:r>
              <a:rPr lang="en-US" sz="950" b="1" dirty="0">
                <a:solidFill>
                  <a:srgbClr val="00BCD4"/>
                </a:solidFill>
              </a:rPr>
              <a:t>2.  </a:t>
            </a:r>
            <a:r>
              <a:rPr lang="en-US" sz="950" dirty="0">
                <a:solidFill>
                  <a:srgbClr val="E8F4FD"/>
                </a:solidFill>
              </a:rPr>
              <a:t>Add a POST test: create a user → assert 201 + Location header present</a:t>
            </a:r>
            <a:endParaRPr lang="en-US" sz="950" dirty="0"/>
          </a:p>
        </p:txBody>
      </p:sp>
      <p:sp>
        <p:nvSpPr>
          <p:cNvPr id="39" name="Text 34"/>
          <p:cNvSpPr/>
          <p:nvPr/>
        </p:nvSpPr>
        <p:spPr>
          <a:xfrm>
            <a:off x="5440680" y="3986784"/>
            <a:ext cx="3108960" cy="347472"/>
          </a:xfrm>
          <a:prstGeom prst="rect">
            <a:avLst/>
          </a:prstGeom>
          <a:noFill/>
          <a:ln/>
        </p:spPr>
        <p:txBody>
          <a:bodyPr wrap="square" lIns="0" tIns="0" rIns="0" bIns="0" rtlCol="0" anchor="ctr"/>
          <a:lstStyle/>
          <a:p>
            <a:pPr marL="0" indent="0" algn="l">
              <a:buNone/>
            </a:pPr>
            <a:r>
              <a:rPr lang="en-US" sz="950" b="1" dirty="0">
                <a:solidFill>
                  <a:srgbClr val="00BCD4"/>
                </a:solidFill>
              </a:rPr>
              <a:t>3.  </a:t>
            </a:r>
            <a:r>
              <a:rPr lang="en-US" sz="950" dirty="0">
                <a:solidFill>
                  <a:srgbClr val="E8F4FD"/>
                </a:solidFill>
              </a:rPr>
              <a:t>Deliberately break one assertion — observe pipeline failure and JUnit XML failure node</a:t>
            </a:r>
            <a:endParaRPr lang="en-US" sz="950" dirty="0"/>
          </a:p>
        </p:txBody>
      </p:sp>
      <p:sp>
        <p:nvSpPr>
          <p:cNvPr id="40" name="Text 35"/>
          <p:cNvSpPr/>
          <p:nvPr/>
        </p:nvSpPr>
        <p:spPr>
          <a:xfrm>
            <a:off x="5440680" y="4379976"/>
            <a:ext cx="3108960" cy="347472"/>
          </a:xfrm>
          <a:prstGeom prst="rect">
            <a:avLst/>
          </a:prstGeom>
          <a:noFill/>
          <a:ln/>
        </p:spPr>
        <p:txBody>
          <a:bodyPr wrap="square" lIns="0" tIns="0" rIns="0" bIns="0" rtlCol="0" anchor="ctr"/>
          <a:lstStyle/>
          <a:p>
            <a:pPr marL="0" indent="0" algn="l">
              <a:buNone/>
            </a:pPr>
            <a:r>
              <a:rPr lang="en-US" sz="950" b="1" dirty="0">
                <a:solidFill>
                  <a:srgbClr val="00BCD4"/>
                </a:solidFill>
              </a:rPr>
              <a:t>4.  </a:t>
            </a:r>
            <a:r>
              <a:rPr lang="en-US" sz="950" dirty="0">
                <a:solidFill>
                  <a:srgbClr val="E8F4FD"/>
                </a:solidFill>
              </a:rPr>
              <a:t>Fix, re-push, verify CI returns fully green across all three test jobs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DELIVERABLES</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Day 5 Deliverables &amp; Key Takeaways</a:t>
            </a:r>
            <a:endParaRPr lang="en-US" sz="2200" dirty="0"/>
          </a:p>
        </p:txBody>
      </p:sp>
      <p:sp>
        <p:nvSpPr>
          <p:cNvPr id="9" name="Shape 7"/>
          <p:cNvSpPr/>
          <p:nvPr/>
        </p:nvSpPr>
        <p:spPr>
          <a:xfrm>
            <a:off x="365760" y="868680"/>
            <a:ext cx="3931920" cy="347472"/>
          </a:xfrm>
          <a:prstGeom prst="rect">
            <a:avLst/>
          </a:prstGeom>
          <a:solidFill>
            <a:srgbClr val="1565C0"/>
          </a:solidFill>
          <a:ln w="12700">
            <a:solidFill>
              <a:srgbClr val="1565C0"/>
            </a:solidFill>
            <a:prstDash val="solid"/>
          </a:ln>
        </p:spPr>
      </p:sp>
      <p:sp>
        <p:nvSpPr>
          <p:cNvPr id="10" name="Text 8"/>
          <p:cNvSpPr/>
          <p:nvPr/>
        </p:nvSpPr>
        <p:spPr>
          <a:xfrm>
            <a:off x="365760" y="868680"/>
            <a:ext cx="3931920" cy="347472"/>
          </a:xfrm>
          <a:prstGeom prst="rect">
            <a:avLst/>
          </a:prstGeom>
          <a:noFill/>
          <a:ln/>
        </p:spPr>
        <p:txBody>
          <a:bodyPr wrap="square" lIns="0" tIns="0" rIns="0" bIns="0" rtlCol="0" anchor="ctr"/>
          <a:lstStyle/>
          <a:p>
            <a:pPr marL="0" indent="0" algn="ctr">
              <a:buNone/>
            </a:pPr>
            <a:r>
              <a:rPr lang="en-US" sz="1100" b="1" dirty="0">
                <a:solidFill>
                  <a:srgbClr val="FFFFFF"/>
                </a:solidFill>
              </a:rPr>
              <a:t>📦  Deliverables You Take Away</a:t>
            </a:r>
            <a:endParaRPr lang="en-US" sz="1100" dirty="0"/>
          </a:p>
        </p:txBody>
      </p:sp>
      <p:sp>
        <p:nvSpPr>
          <p:cNvPr id="11" name="Shape 9"/>
          <p:cNvSpPr/>
          <p:nvPr/>
        </p:nvSpPr>
        <p:spPr>
          <a:xfrm>
            <a:off x="365760" y="1280160"/>
            <a:ext cx="3931920" cy="603504"/>
          </a:xfrm>
          <a:prstGeom prst="rect">
            <a:avLst/>
          </a:prstGeom>
          <a:solidFill>
            <a:srgbClr val="112233"/>
          </a:solidFill>
          <a:ln w="12700">
            <a:solidFill>
              <a:srgbClr val="1976D2"/>
            </a:solidFill>
            <a:prstDash val="solid"/>
          </a:ln>
        </p:spPr>
      </p:sp>
      <p:pic>
        <p:nvPicPr>
          <p:cNvPr id="12" name="Image 0" descr="preencoded.png"/>
          <p:cNvPicPr>
            <a:picLocks noChangeAspect="1"/>
          </p:cNvPicPr>
          <p:nvPr/>
        </p:nvPicPr>
        <p:blipFill>
          <a:blip r:embed="rId3"/>
          <a:stretch>
            <a:fillRect/>
          </a:stretch>
        </p:blipFill>
        <p:spPr>
          <a:xfrm>
            <a:off x="502920" y="1344168"/>
            <a:ext cx="384048" cy="384048"/>
          </a:xfrm>
          <a:prstGeom prst="rect">
            <a:avLst/>
          </a:prstGeom>
        </p:spPr>
      </p:pic>
      <p:sp>
        <p:nvSpPr>
          <p:cNvPr id="13" name="Text 10"/>
          <p:cNvSpPr/>
          <p:nvPr/>
        </p:nvSpPr>
        <p:spPr>
          <a:xfrm>
            <a:off x="987552" y="1325880"/>
            <a:ext cx="3200400" cy="548640"/>
          </a:xfrm>
          <a:prstGeom prst="rect">
            <a:avLst/>
          </a:prstGeom>
          <a:noFill/>
          <a:ln/>
        </p:spPr>
        <p:txBody>
          <a:bodyPr wrap="square" lIns="0" tIns="0" rIns="0" bIns="0" rtlCol="0" anchor="ctr"/>
          <a:lstStyle/>
          <a:p>
            <a:pPr marL="0" indent="0" algn="l">
              <a:buNone/>
            </a:pPr>
            <a:r>
              <a:rPr lang="en-US" sz="1050" dirty="0">
                <a:solidFill>
                  <a:srgbClr val="E8F4FD"/>
                </a:solidFill>
              </a:rPr>
              <a:t>API Automation Test Suite (REST Assured + JSON Schema validator)</a:t>
            </a:r>
            <a:endParaRPr lang="en-US" sz="1050" dirty="0"/>
          </a:p>
        </p:txBody>
      </p:sp>
      <p:sp>
        <p:nvSpPr>
          <p:cNvPr id="14" name="Shape 11"/>
          <p:cNvSpPr/>
          <p:nvPr/>
        </p:nvSpPr>
        <p:spPr>
          <a:xfrm>
            <a:off x="365760" y="1938528"/>
            <a:ext cx="3931920" cy="603504"/>
          </a:xfrm>
          <a:prstGeom prst="rect">
            <a:avLst/>
          </a:prstGeom>
          <a:solidFill>
            <a:srgbClr val="112233"/>
          </a:solidFill>
          <a:ln w="12700">
            <a:solidFill>
              <a:srgbClr val="1976D2"/>
            </a:solidFill>
            <a:prstDash val="solid"/>
          </a:ln>
        </p:spPr>
      </p:sp>
      <p:pic>
        <p:nvPicPr>
          <p:cNvPr id="15" name="Image 1" descr="preencoded.png"/>
          <p:cNvPicPr>
            <a:picLocks noChangeAspect="1"/>
          </p:cNvPicPr>
          <p:nvPr/>
        </p:nvPicPr>
        <p:blipFill>
          <a:blip r:embed="rId4"/>
          <a:stretch>
            <a:fillRect/>
          </a:stretch>
        </p:blipFill>
        <p:spPr>
          <a:xfrm>
            <a:off x="502920" y="2002536"/>
            <a:ext cx="384048" cy="384048"/>
          </a:xfrm>
          <a:prstGeom prst="rect">
            <a:avLst/>
          </a:prstGeom>
        </p:spPr>
      </p:pic>
      <p:sp>
        <p:nvSpPr>
          <p:cNvPr id="16" name="Text 12"/>
          <p:cNvSpPr/>
          <p:nvPr/>
        </p:nvSpPr>
        <p:spPr>
          <a:xfrm>
            <a:off x="987552" y="1984248"/>
            <a:ext cx="3200400" cy="548640"/>
          </a:xfrm>
          <a:prstGeom prst="rect">
            <a:avLst/>
          </a:prstGeom>
          <a:noFill/>
          <a:ln/>
        </p:spPr>
        <p:txBody>
          <a:bodyPr wrap="square" lIns="0" tIns="0" rIns="0" bIns="0" rtlCol="0" anchor="ctr"/>
          <a:lstStyle/>
          <a:p>
            <a:pPr marL="0" indent="0" algn="l">
              <a:buNone/>
            </a:pPr>
            <a:r>
              <a:rPr lang="en-US" sz="1050" dirty="0">
                <a:solidFill>
                  <a:srgbClr val="E8F4FD"/>
                </a:solidFill>
              </a:rPr>
              <a:t>CI Execution Evidence — green pipeline run with api-test job</a:t>
            </a:r>
            <a:endParaRPr lang="en-US" sz="1050" dirty="0"/>
          </a:p>
        </p:txBody>
      </p:sp>
      <p:sp>
        <p:nvSpPr>
          <p:cNvPr id="17" name="Shape 13"/>
          <p:cNvSpPr/>
          <p:nvPr/>
        </p:nvSpPr>
        <p:spPr>
          <a:xfrm>
            <a:off x="4663440" y="868680"/>
            <a:ext cx="4114800" cy="347472"/>
          </a:xfrm>
          <a:prstGeom prst="rect">
            <a:avLst/>
          </a:prstGeom>
          <a:solidFill>
            <a:srgbClr val="00897B"/>
          </a:solidFill>
          <a:ln w="12700">
            <a:solidFill>
              <a:srgbClr val="00897B"/>
            </a:solidFill>
            <a:prstDash val="solid"/>
          </a:ln>
        </p:spPr>
      </p:sp>
      <p:sp>
        <p:nvSpPr>
          <p:cNvPr id="18" name="Text 14"/>
          <p:cNvSpPr/>
          <p:nvPr/>
        </p:nvSpPr>
        <p:spPr>
          <a:xfrm>
            <a:off x="4663440" y="868680"/>
            <a:ext cx="4114800" cy="347472"/>
          </a:xfrm>
          <a:prstGeom prst="rect">
            <a:avLst/>
          </a:prstGeom>
          <a:noFill/>
          <a:ln/>
        </p:spPr>
        <p:txBody>
          <a:bodyPr wrap="square" lIns="0" tIns="0" rIns="0" bIns="0" rtlCol="0" anchor="ctr"/>
          <a:lstStyle/>
          <a:p>
            <a:pPr marL="0" indent="0" algn="ctr">
              <a:buNone/>
            </a:pPr>
            <a:r>
              <a:rPr lang="en-US" sz="1100" b="1" dirty="0">
                <a:solidFill>
                  <a:srgbClr val="FFFFFF"/>
                </a:solidFill>
              </a:rPr>
              <a:t>💡  Key Takeaways</a:t>
            </a:r>
            <a:endParaRPr lang="en-US" sz="1100" dirty="0"/>
          </a:p>
        </p:txBody>
      </p:sp>
      <p:sp>
        <p:nvSpPr>
          <p:cNvPr id="19" name="Shape 15"/>
          <p:cNvSpPr/>
          <p:nvPr/>
        </p:nvSpPr>
        <p:spPr>
          <a:xfrm>
            <a:off x="4663440" y="1280160"/>
            <a:ext cx="4114800" cy="457200"/>
          </a:xfrm>
          <a:prstGeom prst="rect">
            <a:avLst/>
          </a:prstGeom>
          <a:solidFill>
            <a:srgbClr val="112233"/>
          </a:solidFill>
          <a:ln w="12700">
            <a:solidFill>
              <a:srgbClr val="1F3A55"/>
            </a:solidFill>
            <a:prstDash val="solid"/>
          </a:ln>
        </p:spPr>
      </p:sp>
      <p:sp>
        <p:nvSpPr>
          <p:cNvPr id="20" name="Text 16"/>
          <p:cNvSpPr/>
          <p:nvPr/>
        </p:nvSpPr>
        <p:spPr>
          <a:xfrm>
            <a:off x="4754880" y="1289304"/>
            <a:ext cx="3886200" cy="438912"/>
          </a:xfrm>
          <a:prstGeom prst="rect">
            <a:avLst/>
          </a:prstGeom>
          <a:noFill/>
          <a:ln/>
        </p:spPr>
        <p:txBody>
          <a:bodyPr wrap="square" lIns="0" tIns="0" rIns="0" bIns="0" rtlCol="0" anchor="ctr"/>
          <a:lstStyle/>
          <a:p>
            <a:pPr marL="0" indent="0" algn="l">
              <a:buNone/>
            </a:pPr>
            <a:r>
              <a:rPr lang="en-US" sz="900" b="1" dirty="0">
                <a:solidFill>
                  <a:srgbClr val="00BCD4"/>
                </a:solidFill>
              </a:rPr>
              <a:t>1.  </a:t>
            </a:r>
            <a:r>
              <a:rPr lang="en-US" sz="900" dirty="0">
                <a:solidFill>
                  <a:srgbClr val="E8F4FD"/>
                </a:solidFill>
              </a:rPr>
              <a:t>API tests catch integration defects faster and more reliably than UI tests — invest in the service layer</a:t>
            </a:r>
            <a:endParaRPr lang="en-US" sz="900" dirty="0"/>
          </a:p>
        </p:txBody>
      </p:sp>
      <p:sp>
        <p:nvSpPr>
          <p:cNvPr id="21" name="Shape 17"/>
          <p:cNvSpPr/>
          <p:nvPr/>
        </p:nvSpPr>
        <p:spPr>
          <a:xfrm>
            <a:off x="4663440" y="1792224"/>
            <a:ext cx="4114800" cy="457200"/>
          </a:xfrm>
          <a:prstGeom prst="rect">
            <a:avLst/>
          </a:prstGeom>
          <a:solidFill>
            <a:srgbClr val="0E1F35"/>
          </a:solidFill>
          <a:ln w="12700">
            <a:solidFill>
              <a:srgbClr val="1F3A55"/>
            </a:solidFill>
            <a:prstDash val="solid"/>
          </a:ln>
        </p:spPr>
      </p:sp>
      <p:sp>
        <p:nvSpPr>
          <p:cNvPr id="22" name="Text 18"/>
          <p:cNvSpPr/>
          <p:nvPr/>
        </p:nvSpPr>
        <p:spPr>
          <a:xfrm>
            <a:off x="4754880" y="1801368"/>
            <a:ext cx="3886200" cy="438912"/>
          </a:xfrm>
          <a:prstGeom prst="rect">
            <a:avLst/>
          </a:prstGeom>
          <a:noFill/>
          <a:ln/>
        </p:spPr>
        <p:txBody>
          <a:bodyPr wrap="square" lIns="0" tIns="0" rIns="0" bIns="0" rtlCol="0" anchor="ctr"/>
          <a:lstStyle/>
          <a:p>
            <a:pPr marL="0" indent="0" algn="l">
              <a:buNone/>
            </a:pPr>
            <a:r>
              <a:rPr lang="en-US" sz="900" b="1" dirty="0">
                <a:solidFill>
                  <a:srgbClr val="00BCD4"/>
                </a:solidFill>
              </a:rPr>
              <a:t>2.  </a:t>
            </a:r>
            <a:r>
              <a:rPr lang="en-US" sz="900" dirty="0">
                <a:solidFill>
                  <a:srgbClr val="E8F4FD"/>
                </a:solidFill>
              </a:rPr>
              <a:t>REST Assured 6.0.0 requires Java 17+; use 5.5.x for Java 11 projects (LTS backport available)</a:t>
            </a:r>
            <a:endParaRPr lang="en-US" sz="900" dirty="0"/>
          </a:p>
        </p:txBody>
      </p:sp>
      <p:sp>
        <p:nvSpPr>
          <p:cNvPr id="23" name="Shape 19"/>
          <p:cNvSpPr/>
          <p:nvPr/>
        </p:nvSpPr>
        <p:spPr>
          <a:xfrm>
            <a:off x="4663440" y="2304288"/>
            <a:ext cx="4114800" cy="457200"/>
          </a:xfrm>
          <a:prstGeom prst="rect">
            <a:avLst/>
          </a:prstGeom>
          <a:solidFill>
            <a:srgbClr val="112233"/>
          </a:solidFill>
          <a:ln w="12700">
            <a:solidFill>
              <a:srgbClr val="1F3A55"/>
            </a:solidFill>
            <a:prstDash val="solid"/>
          </a:ln>
        </p:spPr>
      </p:sp>
      <p:sp>
        <p:nvSpPr>
          <p:cNvPr id="24" name="Text 20"/>
          <p:cNvSpPr/>
          <p:nvPr/>
        </p:nvSpPr>
        <p:spPr>
          <a:xfrm>
            <a:off x="4754880" y="2313432"/>
            <a:ext cx="3886200" cy="438912"/>
          </a:xfrm>
          <a:prstGeom prst="rect">
            <a:avLst/>
          </a:prstGeom>
          <a:noFill/>
          <a:ln/>
        </p:spPr>
        <p:txBody>
          <a:bodyPr wrap="square" lIns="0" tIns="0" rIns="0" bIns="0" rtlCol="0" anchor="ctr"/>
          <a:lstStyle/>
          <a:p>
            <a:pPr marL="0" indent="0" algn="l">
              <a:buNone/>
            </a:pPr>
            <a:r>
              <a:rPr lang="en-US" sz="900" b="1" dirty="0">
                <a:solidFill>
                  <a:srgbClr val="00BCD4"/>
                </a:solidFill>
              </a:rPr>
              <a:t>3.  </a:t>
            </a:r>
            <a:r>
              <a:rPr lang="en-US" sz="900" dirty="0">
                <a:solidFill>
                  <a:srgbClr val="E8F4FD"/>
                </a:solidFill>
              </a:rPr>
              <a:t>JSON Schema validation catches contract drift — the response structure changed, not just one value</a:t>
            </a:r>
            <a:endParaRPr lang="en-US" sz="900" dirty="0"/>
          </a:p>
        </p:txBody>
      </p:sp>
      <p:sp>
        <p:nvSpPr>
          <p:cNvPr id="25" name="Shape 21"/>
          <p:cNvSpPr/>
          <p:nvPr/>
        </p:nvSpPr>
        <p:spPr>
          <a:xfrm>
            <a:off x="4663440" y="2816352"/>
            <a:ext cx="4114800" cy="457200"/>
          </a:xfrm>
          <a:prstGeom prst="rect">
            <a:avLst/>
          </a:prstGeom>
          <a:solidFill>
            <a:srgbClr val="0E1F35"/>
          </a:solidFill>
          <a:ln w="12700">
            <a:solidFill>
              <a:srgbClr val="1F3A55"/>
            </a:solidFill>
            <a:prstDash val="solid"/>
          </a:ln>
        </p:spPr>
      </p:sp>
      <p:sp>
        <p:nvSpPr>
          <p:cNvPr id="26" name="Text 22"/>
          <p:cNvSpPr/>
          <p:nvPr/>
        </p:nvSpPr>
        <p:spPr>
          <a:xfrm>
            <a:off x="4754880" y="2825496"/>
            <a:ext cx="3886200" cy="438912"/>
          </a:xfrm>
          <a:prstGeom prst="rect">
            <a:avLst/>
          </a:prstGeom>
          <a:noFill/>
          <a:ln/>
        </p:spPr>
        <p:txBody>
          <a:bodyPr wrap="square" lIns="0" tIns="0" rIns="0" bIns="0" rtlCol="0" anchor="ctr"/>
          <a:lstStyle/>
          <a:p>
            <a:pPr marL="0" indent="0" algn="l">
              <a:buNone/>
            </a:pPr>
            <a:r>
              <a:rPr lang="en-US" sz="900" b="1" dirty="0">
                <a:solidFill>
                  <a:srgbClr val="00BCD4"/>
                </a:solidFill>
              </a:rPr>
              <a:t>4.  </a:t>
            </a:r>
            <a:r>
              <a:rPr lang="en-US" sz="900" dirty="0">
                <a:solidFill>
                  <a:srgbClr val="E8F4FD"/>
                </a:solidFill>
              </a:rPr>
              <a:t>Newman produces JUnit XML natively (-r junit); upload as an artefact and add a reporting action to surface summaries in CI</a:t>
            </a:r>
            <a:endParaRPr lang="en-US" sz="900" dirty="0"/>
          </a:p>
        </p:txBody>
      </p:sp>
      <p:sp>
        <p:nvSpPr>
          <p:cNvPr id="27" name="Shape 23"/>
          <p:cNvSpPr/>
          <p:nvPr/>
        </p:nvSpPr>
        <p:spPr>
          <a:xfrm>
            <a:off x="4663440" y="3328416"/>
            <a:ext cx="4114800" cy="457200"/>
          </a:xfrm>
          <a:prstGeom prst="rect">
            <a:avLst/>
          </a:prstGeom>
          <a:solidFill>
            <a:srgbClr val="112233"/>
          </a:solidFill>
          <a:ln w="12700">
            <a:solidFill>
              <a:srgbClr val="1F3A55"/>
            </a:solidFill>
            <a:prstDash val="solid"/>
          </a:ln>
        </p:spPr>
      </p:sp>
      <p:sp>
        <p:nvSpPr>
          <p:cNvPr id="28" name="Text 24"/>
          <p:cNvSpPr/>
          <p:nvPr/>
        </p:nvSpPr>
        <p:spPr>
          <a:xfrm>
            <a:off x="4754880" y="3337560"/>
            <a:ext cx="3886200" cy="438912"/>
          </a:xfrm>
          <a:prstGeom prst="rect">
            <a:avLst/>
          </a:prstGeom>
          <a:noFill/>
          <a:ln/>
        </p:spPr>
        <p:txBody>
          <a:bodyPr wrap="square" lIns="0" tIns="0" rIns="0" bIns="0" rtlCol="0" anchor="ctr"/>
          <a:lstStyle/>
          <a:p>
            <a:pPr marL="0" indent="0" algn="l">
              <a:buNone/>
            </a:pPr>
            <a:r>
              <a:rPr lang="en-US" sz="900" b="1" dirty="0">
                <a:solidFill>
                  <a:srgbClr val="00BCD4"/>
                </a:solidFill>
              </a:rPr>
              <a:t>5.  </a:t>
            </a:r>
            <a:r>
              <a:rPr lang="en-US" sz="900" dirty="0">
                <a:solidFill>
                  <a:srgbClr val="E8F4FD"/>
                </a:solidFill>
              </a:rPr>
              <a:t>Inject base URLs and API keys via CI env-vars and secrets — never hardcode in test code</a:t>
            </a:r>
            <a:endParaRPr lang="en-US" sz="900" dirty="0"/>
          </a:p>
        </p:txBody>
      </p:sp>
      <p:sp>
        <p:nvSpPr>
          <p:cNvPr id="29" name="Shape 25"/>
          <p:cNvSpPr/>
          <p:nvPr/>
        </p:nvSpPr>
        <p:spPr>
          <a:xfrm>
            <a:off x="365760" y="4206240"/>
            <a:ext cx="8412480" cy="566928"/>
          </a:xfrm>
          <a:prstGeom prst="rect">
            <a:avLst/>
          </a:prstGeom>
          <a:solidFill>
            <a:srgbClr val="0E1F35"/>
          </a:solidFill>
          <a:ln w="12700">
            <a:solidFill>
              <a:srgbClr val="FFD600"/>
            </a:solidFill>
            <a:prstDash val="solid"/>
          </a:ln>
        </p:spPr>
      </p:sp>
      <p:sp>
        <p:nvSpPr>
          <p:cNvPr id="30" name="Text 26"/>
          <p:cNvSpPr/>
          <p:nvPr/>
        </p:nvSpPr>
        <p:spPr>
          <a:xfrm>
            <a:off x="548640" y="4233672"/>
            <a:ext cx="1645920" cy="256032"/>
          </a:xfrm>
          <a:prstGeom prst="rect">
            <a:avLst/>
          </a:prstGeom>
          <a:noFill/>
          <a:ln/>
        </p:spPr>
        <p:txBody>
          <a:bodyPr wrap="square" lIns="0" tIns="0" rIns="0" bIns="0" rtlCol="0" anchor="ctr"/>
          <a:lstStyle/>
          <a:p>
            <a:pPr marL="0" indent="0" algn="l">
              <a:buNone/>
            </a:pPr>
            <a:r>
              <a:rPr lang="en-US" sz="1000" b="1" dirty="0">
                <a:solidFill>
                  <a:srgbClr val="FFD600"/>
                </a:solidFill>
              </a:rPr>
              <a:t>▶  Tomorrow — Day 6:</a:t>
            </a:r>
            <a:endParaRPr lang="en-US" sz="1000" dirty="0"/>
          </a:p>
        </p:txBody>
      </p:sp>
      <p:sp>
        <p:nvSpPr>
          <p:cNvPr id="31" name="Text 27"/>
          <p:cNvSpPr/>
          <p:nvPr/>
        </p:nvSpPr>
        <p:spPr>
          <a:xfrm>
            <a:off x="2148840" y="4233672"/>
            <a:ext cx="6492240" cy="256032"/>
          </a:xfrm>
          <a:prstGeom prst="rect">
            <a:avLst/>
          </a:prstGeom>
          <a:noFill/>
          <a:ln/>
        </p:spPr>
        <p:txBody>
          <a:bodyPr wrap="square" lIns="0" tIns="0" rIns="0" bIns="0" rtlCol="0" anchor="ctr"/>
          <a:lstStyle/>
          <a:p>
            <a:pPr marL="0" indent="0" algn="l">
              <a:buNone/>
            </a:pPr>
            <a:r>
              <a:rPr lang="en-US" sz="1000" dirty="0">
                <a:solidFill>
                  <a:srgbClr val="E8F4FD"/>
                </a:solidFill>
              </a:rPr>
              <a:t>Test Environment, Containers &amp; Test Data  ·  Docker for test execution, env provisioning, test data strategies</a:t>
            </a:r>
            <a:endParaRPr lang="en-US" sz="1000" dirty="0"/>
          </a:p>
        </p:txBody>
      </p:sp>
      <p:sp>
        <p:nvSpPr>
          <p:cNvPr id="32" name="Text 28"/>
          <p:cNvSpPr/>
          <p:nvPr/>
        </p:nvSpPr>
        <p:spPr>
          <a:xfrm>
            <a:off x="548640" y="4507992"/>
            <a:ext cx="8229600" cy="219456"/>
          </a:xfrm>
          <a:prstGeom prst="rect">
            <a:avLst/>
          </a:prstGeom>
          <a:noFill/>
          <a:ln/>
        </p:spPr>
        <p:txBody>
          <a:bodyPr wrap="square" lIns="0" tIns="0" rIns="0" bIns="0" rtlCol="0" anchor="ctr"/>
          <a:lstStyle/>
          <a:p>
            <a:pPr marL="0" indent="0" algn="l">
              <a:buNone/>
            </a:pPr>
            <a:r>
              <a:rPr lang="en-US" sz="900" dirty="0">
                <a:solidFill>
                  <a:srgbClr val="90A4AE"/>
                </a:solidFill>
              </a:rPr>
              <a:t>Hands-on: Containerise test execution · configure pipeline to use Docker · manage test data across environments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565C0"/>
          </a:solidFill>
          <a:ln w="12700">
            <a:solidFill>
              <a:srgbClr val="1565C0"/>
            </a:solidFill>
            <a:prstDash val="solid"/>
          </a:ln>
        </p:spPr>
      </p:sp>
      <p:sp>
        <p:nvSpPr>
          <p:cNvPr id="3" name="Shape 1"/>
          <p:cNvSpPr/>
          <p:nvPr/>
        </p:nvSpPr>
        <p:spPr>
          <a:xfrm>
            <a:off x="0" y="5029200"/>
            <a:ext cx="9144000" cy="114300"/>
          </a:xfrm>
          <a:prstGeom prst="rect">
            <a:avLst/>
          </a:prstGeom>
          <a:solidFill>
            <a:srgbClr val="112233"/>
          </a:solidFill>
          <a:ln w="12700">
            <a:solidFill>
              <a:srgbClr val="112233"/>
            </a:solidFill>
            <a:prstDash val="solid"/>
          </a:ln>
        </p:spPr>
      </p:sp>
      <p:sp>
        <p:nvSpPr>
          <p:cNvPr id="4" name="Text 2"/>
          <p:cNvSpPr/>
          <p:nvPr/>
        </p:nvSpPr>
        <p:spPr>
          <a:xfrm>
            <a:off x="274320" y="5056632"/>
            <a:ext cx="6858000" cy="109728"/>
          </a:xfrm>
          <a:prstGeom prst="rect">
            <a:avLst/>
          </a:prstGeom>
          <a:noFill/>
          <a:ln/>
        </p:spPr>
        <p:txBody>
          <a:bodyPr wrap="square" lIns="0" tIns="0" rIns="0" bIns="0" rtlCol="0" anchor="ctr"/>
          <a:lstStyle/>
          <a:p>
            <a:pPr marL="0" indent="0" algn="l">
              <a:buNone/>
            </a:pPr>
            <a:r>
              <a:rPr lang="en-US" sz="750" dirty="0">
                <a:solidFill>
                  <a:srgbClr val="90A4AE"/>
                </a:solidFill>
              </a:rPr>
              <a:t>Continuous Testing with CI/CD  |  Day 5  |  Jai Singh</a:t>
            </a:r>
            <a:endParaRPr lang="en-US" sz="750" dirty="0"/>
          </a:p>
        </p:txBody>
      </p:sp>
      <p:sp>
        <p:nvSpPr>
          <p:cNvPr id="5" name="Text 3"/>
          <p:cNvSpPr/>
          <p:nvPr/>
        </p:nvSpPr>
        <p:spPr>
          <a:xfrm>
            <a:off x="7315200" y="5056632"/>
            <a:ext cx="1554480" cy="109728"/>
          </a:xfrm>
          <a:prstGeom prst="rect">
            <a:avLst/>
          </a:prstGeom>
          <a:noFill/>
          <a:ln/>
        </p:spPr>
        <p:txBody>
          <a:bodyPr wrap="square" lIns="0" tIns="0" rIns="0" bIns="0" rtlCol="0" anchor="ctr"/>
          <a:lstStyle/>
          <a:p>
            <a:pPr marL="0" indent="0" algn="r">
              <a:buNone/>
            </a:pPr>
            <a:r>
              <a:rPr lang="en-US" sz="750" dirty="0">
                <a:solidFill>
                  <a:srgbClr val="90A4AE"/>
                </a:solidFill>
              </a:rPr>
              <a:t>Module 5</a:t>
            </a:r>
            <a:endParaRPr lang="en-US" sz="750" dirty="0"/>
          </a:p>
        </p:txBody>
      </p:sp>
      <p:sp>
        <p:nvSpPr>
          <p:cNvPr id="6" name="Shape 4"/>
          <p:cNvSpPr/>
          <p:nvPr/>
        </p:nvSpPr>
        <p:spPr>
          <a:xfrm>
            <a:off x="365760" y="137160"/>
            <a:ext cx="1463040" cy="201168"/>
          </a:xfrm>
          <a:prstGeom prst="rect">
            <a:avLst/>
          </a:prstGeom>
          <a:solidFill>
            <a:srgbClr val="1565C0"/>
          </a:solidFill>
          <a:ln w="12700">
            <a:solidFill>
              <a:srgbClr val="1565C0"/>
            </a:solidFill>
            <a:prstDash val="solid"/>
          </a:ln>
        </p:spPr>
      </p:sp>
      <p:sp>
        <p:nvSpPr>
          <p:cNvPr id="7" name="Text 5"/>
          <p:cNvSpPr/>
          <p:nvPr/>
        </p:nvSpPr>
        <p:spPr>
          <a:xfrm>
            <a:off x="365760" y="146304"/>
            <a:ext cx="1463040" cy="201168"/>
          </a:xfrm>
          <a:prstGeom prst="rect">
            <a:avLst/>
          </a:prstGeom>
          <a:noFill/>
          <a:ln/>
        </p:spPr>
        <p:txBody>
          <a:bodyPr wrap="square" lIns="0" tIns="0" rIns="0" bIns="0" rtlCol="0" anchor="ctr"/>
          <a:lstStyle/>
          <a:p>
            <a:pPr marL="0" indent="0" algn="ctr">
              <a:buNone/>
            </a:pPr>
            <a:r>
              <a:rPr lang="en-US" sz="700" b="1" dirty="0">
                <a:solidFill>
                  <a:srgbClr val="FFFFFF"/>
                </a:solidFill>
              </a:rPr>
              <a:t>RECAP QUIZ</a:t>
            </a:r>
            <a:endParaRPr lang="en-US" sz="700" dirty="0"/>
          </a:p>
        </p:txBody>
      </p:sp>
      <p:sp>
        <p:nvSpPr>
          <p:cNvPr id="8" name="Text 6"/>
          <p:cNvSpPr/>
          <p:nvPr/>
        </p:nvSpPr>
        <p:spPr>
          <a:xfrm>
            <a:off x="365760" y="384048"/>
            <a:ext cx="8412480" cy="411480"/>
          </a:xfrm>
          <a:prstGeom prst="rect">
            <a:avLst/>
          </a:prstGeom>
          <a:noFill/>
          <a:ln/>
        </p:spPr>
        <p:txBody>
          <a:bodyPr wrap="square" lIns="0" tIns="0" rIns="0" bIns="0" rtlCol="0" anchor="ctr"/>
          <a:lstStyle/>
          <a:p>
            <a:pPr marL="0" indent="0" algn="l">
              <a:buNone/>
            </a:pPr>
            <a:r>
              <a:rPr lang="en-US" sz="2200" b="1" dirty="0">
                <a:solidFill>
                  <a:srgbClr val="FFFFFF"/>
                </a:solidFill>
              </a:rPr>
              <a:t>Module 5 – Quick Knowledge Check</a:t>
            </a:r>
            <a:endParaRPr lang="en-US" sz="2200" dirty="0"/>
          </a:p>
        </p:txBody>
      </p:sp>
      <p:sp>
        <p:nvSpPr>
          <p:cNvPr id="9" name="Shape 7"/>
          <p:cNvSpPr/>
          <p:nvPr/>
        </p:nvSpPr>
        <p:spPr>
          <a:xfrm>
            <a:off x="365760" y="914400"/>
            <a:ext cx="8412480" cy="969264"/>
          </a:xfrm>
          <a:prstGeom prst="rect">
            <a:avLst/>
          </a:prstGeom>
          <a:solidFill>
            <a:srgbClr val="112233"/>
          </a:solidFill>
          <a:ln w="12700">
            <a:solidFill>
              <a:srgbClr val="1565C0"/>
            </a:solidFill>
            <a:prstDash val="solid"/>
          </a:ln>
        </p:spPr>
      </p:sp>
      <p:sp>
        <p:nvSpPr>
          <p:cNvPr id="10" name="Shape 8"/>
          <p:cNvSpPr/>
          <p:nvPr/>
        </p:nvSpPr>
        <p:spPr>
          <a:xfrm>
            <a:off x="365760" y="914400"/>
            <a:ext cx="73152" cy="969264"/>
          </a:xfrm>
          <a:prstGeom prst="rect">
            <a:avLst/>
          </a:prstGeom>
          <a:solidFill>
            <a:srgbClr val="1565C0"/>
          </a:solidFill>
          <a:ln w="12700">
            <a:solidFill>
              <a:srgbClr val="1565C0"/>
            </a:solidFill>
            <a:prstDash val="solid"/>
          </a:ln>
        </p:spPr>
      </p:sp>
      <p:sp>
        <p:nvSpPr>
          <p:cNvPr id="11" name="Text 9"/>
          <p:cNvSpPr/>
          <p:nvPr/>
        </p:nvSpPr>
        <p:spPr>
          <a:xfrm>
            <a:off x="548640" y="960120"/>
            <a:ext cx="8046720" cy="292608"/>
          </a:xfrm>
          <a:prstGeom prst="rect">
            <a:avLst/>
          </a:prstGeom>
          <a:noFill/>
          <a:ln/>
        </p:spPr>
        <p:txBody>
          <a:bodyPr wrap="square" lIns="0" tIns="0" rIns="0" bIns="0" rtlCol="0" anchor="ctr"/>
          <a:lstStyle/>
          <a:p>
            <a:pPr marL="0" indent="0" algn="l">
              <a:buNone/>
            </a:pPr>
            <a:r>
              <a:rPr lang="en-US" sz="1100" b="1" dirty="0">
                <a:solidFill>
                  <a:srgbClr val="1565C0"/>
                </a:solidFill>
              </a:rPr>
              <a:t>Q1.  What is the difference between a status code assertion and a JSON Schema validation in an API test?</a:t>
            </a:r>
            <a:endParaRPr lang="en-US" sz="1100" dirty="0"/>
          </a:p>
        </p:txBody>
      </p:sp>
      <p:sp>
        <p:nvSpPr>
          <p:cNvPr id="12" name="Text 10"/>
          <p:cNvSpPr/>
          <p:nvPr/>
        </p:nvSpPr>
        <p:spPr>
          <a:xfrm>
            <a:off x="548640" y="1298448"/>
            <a:ext cx="8046720" cy="512064"/>
          </a:xfrm>
          <a:prstGeom prst="rect">
            <a:avLst/>
          </a:prstGeom>
          <a:noFill/>
          <a:ln/>
        </p:spPr>
        <p:txBody>
          <a:bodyPr wrap="square" lIns="0" tIns="0" rIns="0" bIns="0" rtlCol="0" anchor="ctr"/>
          <a:lstStyle/>
          <a:p>
            <a:pPr marL="0" indent="0" algn="l">
              <a:buNone/>
            </a:pPr>
            <a:r>
              <a:rPr lang="en-US" sz="950" dirty="0">
                <a:solidFill>
                  <a:srgbClr val="E8F4FD"/>
                </a:solidFill>
              </a:rPr>
              <a:t>▸  A status code assertion checks the HTTP response code (e.g. 200, 404). A JSON Schema validation checks the shape of the response body — field names, data types, required fields — against a defined schema. Schema validation catches contract drift that status codes alone cannot detect.</a:t>
            </a:r>
            <a:endParaRPr lang="en-US" sz="950" dirty="0"/>
          </a:p>
        </p:txBody>
      </p:sp>
      <p:sp>
        <p:nvSpPr>
          <p:cNvPr id="13" name="Shape 11"/>
          <p:cNvSpPr/>
          <p:nvPr/>
        </p:nvSpPr>
        <p:spPr>
          <a:xfrm>
            <a:off x="365760" y="1947672"/>
            <a:ext cx="8412480" cy="969264"/>
          </a:xfrm>
          <a:prstGeom prst="rect">
            <a:avLst/>
          </a:prstGeom>
          <a:solidFill>
            <a:srgbClr val="112233"/>
          </a:solidFill>
          <a:ln w="12700">
            <a:solidFill>
              <a:srgbClr val="00897B"/>
            </a:solidFill>
            <a:prstDash val="solid"/>
          </a:ln>
        </p:spPr>
      </p:sp>
      <p:sp>
        <p:nvSpPr>
          <p:cNvPr id="14" name="Shape 12"/>
          <p:cNvSpPr/>
          <p:nvPr/>
        </p:nvSpPr>
        <p:spPr>
          <a:xfrm>
            <a:off x="365760" y="1947672"/>
            <a:ext cx="73152" cy="969264"/>
          </a:xfrm>
          <a:prstGeom prst="rect">
            <a:avLst/>
          </a:prstGeom>
          <a:solidFill>
            <a:srgbClr val="00897B"/>
          </a:solidFill>
          <a:ln w="12700">
            <a:solidFill>
              <a:srgbClr val="00897B"/>
            </a:solidFill>
            <a:prstDash val="solid"/>
          </a:ln>
        </p:spPr>
      </p:sp>
      <p:sp>
        <p:nvSpPr>
          <p:cNvPr id="15" name="Text 13"/>
          <p:cNvSpPr/>
          <p:nvPr/>
        </p:nvSpPr>
        <p:spPr>
          <a:xfrm>
            <a:off x="548640" y="1993392"/>
            <a:ext cx="8046720" cy="292608"/>
          </a:xfrm>
          <a:prstGeom prst="rect">
            <a:avLst/>
          </a:prstGeom>
          <a:noFill/>
          <a:ln/>
        </p:spPr>
        <p:txBody>
          <a:bodyPr wrap="square" lIns="0" tIns="0" rIns="0" bIns="0" rtlCol="0" anchor="ctr"/>
          <a:lstStyle/>
          <a:p>
            <a:pPr marL="0" indent="0" algn="l">
              <a:buNone/>
            </a:pPr>
            <a:r>
              <a:rPr lang="en-US" sz="1100" b="1" dirty="0">
                <a:solidFill>
                  <a:srgbClr val="00897B"/>
                </a:solidFill>
              </a:rPr>
              <a:t>Q2.  Why is REST Assured 6.0.0 not suitable for Java 11 projects?</a:t>
            </a:r>
            <a:endParaRPr lang="en-US" sz="1100" dirty="0"/>
          </a:p>
        </p:txBody>
      </p:sp>
      <p:sp>
        <p:nvSpPr>
          <p:cNvPr id="16" name="Text 14"/>
          <p:cNvSpPr/>
          <p:nvPr/>
        </p:nvSpPr>
        <p:spPr>
          <a:xfrm>
            <a:off x="548640" y="2331720"/>
            <a:ext cx="8046720" cy="512064"/>
          </a:xfrm>
          <a:prstGeom prst="rect">
            <a:avLst/>
          </a:prstGeom>
          <a:noFill/>
          <a:ln/>
        </p:spPr>
        <p:txBody>
          <a:bodyPr wrap="square" lIns="0" tIns="0" rIns="0" bIns="0" rtlCol="0" anchor="ctr"/>
          <a:lstStyle/>
          <a:p>
            <a:pPr marL="0" indent="0" algn="l">
              <a:buNone/>
            </a:pPr>
            <a:r>
              <a:rPr lang="en-US" sz="950" dirty="0">
                <a:solidFill>
                  <a:srgbClr val="E8F4FD"/>
                </a:solidFill>
              </a:rPr>
              <a:t>▸  REST Assured 6.0.0 raised the minimum baseline to Java 17 (released Dec 2025). It also upgraded to Groovy 5. Java 11 projects should use REST Assured 5.5.x, which has a backported LTS release with Spring 7 MockMvc support.</a:t>
            </a:r>
            <a:endParaRPr lang="en-US" sz="950" dirty="0"/>
          </a:p>
        </p:txBody>
      </p:sp>
      <p:sp>
        <p:nvSpPr>
          <p:cNvPr id="17" name="Shape 15"/>
          <p:cNvSpPr/>
          <p:nvPr/>
        </p:nvSpPr>
        <p:spPr>
          <a:xfrm>
            <a:off x="365760" y="2980944"/>
            <a:ext cx="8412480" cy="969264"/>
          </a:xfrm>
          <a:prstGeom prst="rect">
            <a:avLst/>
          </a:prstGeom>
          <a:solidFill>
            <a:srgbClr val="112233"/>
          </a:solidFill>
          <a:ln w="12700">
            <a:solidFill>
              <a:srgbClr val="00BCD4"/>
            </a:solidFill>
            <a:prstDash val="solid"/>
          </a:ln>
        </p:spPr>
      </p:sp>
      <p:sp>
        <p:nvSpPr>
          <p:cNvPr id="18" name="Shape 16"/>
          <p:cNvSpPr/>
          <p:nvPr/>
        </p:nvSpPr>
        <p:spPr>
          <a:xfrm>
            <a:off x="365760" y="2980944"/>
            <a:ext cx="73152" cy="969264"/>
          </a:xfrm>
          <a:prstGeom prst="rect">
            <a:avLst/>
          </a:prstGeom>
          <a:solidFill>
            <a:srgbClr val="00BCD4"/>
          </a:solidFill>
          <a:ln w="12700">
            <a:solidFill>
              <a:srgbClr val="00BCD4"/>
            </a:solidFill>
            <a:prstDash val="solid"/>
          </a:ln>
        </p:spPr>
      </p:sp>
      <p:sp>
        <p:nvSpPr>
          <p:cNvPr id="19" name="Text 17"/>
          <p:cNvSpPr/>
          <p:nvPr/>
        </p:nvSpPr>
        <p:spPr>
          <a:xfrm>
            <a:off x="548640" y="3026664"/>
            <a:ext cx="8046720" cy="292608"/>
          </a:xfrm>
          <a:prstGeom prst="rect">
            <a:avLst/>
          </a:prstGeom>
          <a:noFill/>
          <a:ln/>
        </p:spPr>
        <p:txBody>
          <a:bodyPr wrap="square" lIns="0" tIns="0" rIns="0" bIns="0" rtlCol="0" anchor="ctr"/>
          <a:lstStyle/>
          <a:p>
            <a:pPr marL="0" indent="0" algn="l">
              <a:buNone/>
            </a:pPr>
            <a:r>
              <a:rPr lang="en-US" sz="1100" b="1" dirty="0">
                <a:solidFill>
                  <a:srgbClr val="00BCD4"/>
                </a:solidFill>
              </a:rPr>
              <a:t>Q3.  How does Newman produce CI-compatible test results, and how do they surface in GitHub Actions?</a:t>
            </a:r>
            <a:endParaRPr lang="en-US" sz="1100" dirty="0"/>
          </a:p>
        </p:txBody>
      </p:sp>
      <p:sp>
        <p:nvSpPr>
          <p:cNvPr id="20" name="Text 18"/>
          <p:cNvSpPr/>
          <p:nvPr/>
        </p:nvSpPr>
        <p:spPr>
          <a:xfrm>
            <a:off x="548640" y="3364992"/>
            <a:ext cx="8046720" cy="512064"/>
          </a:xfrm>
          <a:prstGeom prst="rect">
            <a:avLst/>
          </a:prstGeom>
          <a:noFill/>
          <a:ln/>
        </p:spPr>
        <p:txBody>
          <a:bodyPr wrap="square" lIns="0" tIns="0" rIns="0" bIns="0" rtlCol="0" anchor="ctr"/>
          <a:lstStyle/>
          <a:p>
            <a:pPr marL="0" indent="0" algn="l">
              <a:buNone/>
            </a:pPr>
            <a:r>
              <a:rPr lang="en-US" sz="950" dirty="0">
                <a:solidFill>
                  <a:srgbClr val="E8F4FD"/>
                </a:solidFill>
              </a:rPr>
              <a:t>▸  Newman with -r junit and --reporter-junit-export produces a JUnit XML file. upload-artifact@v4 (with if: always()) stores the file so it can be downloaded from the pipeline run. To surface results as job-summary annotations or PR check results, teams add a dedicated test-reporting action (e.g. dorny/test-reporter) that parses the JUnit XML — upload-artifact alone does not do this.</a:t>
            </a:r>
            <a:endParaRPr lang="en-US" sz="950" dirty="0"/>
          </a:p>
        </p:txBody>
      </p:sp>
      <p:sp>
        <p:nvSpPr>
          <p:cNvPr id="21" name="Shape 19"/>
          <p:cNvSpPr/>
          <p:nvPr/>
        </p:nvSpPr>
        <p:spPr>
          <a:xfrm>
            <a:off x="365760" y="4014216"/>
            <a:ext cx="8412480" cy="969264"/>
          </a:xfrm>
          <a:prstGeom prst="rect">
            <a:avLst/>
          </a:prstGeom>
          <a:solidFill>
            <a:srgbClr val="112233"/>
          </a:solidFill>
          <a:ln w="12700">
            <a:solidFill>
              <a:srgbClr val="FFD600"/>
            </a:solidFill>
            <a:prstDash val="solid"/>
          </a:ln>
        </p:spPr>
      </p:sp>
      <p:sp>
        <p:nvSpPr>
          <p:cNvPr id="22" name="Shape 20"/>
          <p:cNvSpPr/>
          <p:nvPr/>
        </p:nvSpPr>
        <p:spPr>
          <a:xfrm>
            <a:off x="365760" y="4014216"/>
            <a:ext cx="73152" cy="969264"/>
          </a:xfrm>
          <a:prstGeom prst="rect">
            <a:avLst/>
          </a:prstGeom>
          <a:solidFill>
            <a:srgbClr val="FFD600"/>
          </a:solidFill>
          <a:ln w="12700">
            <a:solidFill>
              <a:srgbClr val="FFD600"/>
            </a:solidFill>
            <a:prstDash val="solid"/>
          </a:ln>
        </p:spPr>
      </p:sp>
      <p:sp>
        <p:nvSpPr>
          <p:cNvPr id="23" name="Text 21"/>
          <p:cNvSpPr/>
          <p:nvPr/>
        </p:nvSpPr>
        <p:spPr>
          <a:xfrm>
            <a:off x="548640" y="4059936"/>
            <a:ext cx="8046720" cy="292608"/>
          </a:xfrm>
          <a:prstGeom prst="rect">
            <a:avLst/>
          </a:prstGeom>
          <a:noFill/>
          <a:ln/>
        </p:spPr>
        <p:txBody>
          <a:bodyPr wrap="square" lIns="0" tIns="0" rIns="0" bIns="0" rtlCol="0" anchor="ctr"/>
          <a:lstStyle/>
          <a:p>
            <a:pPr marL="0" indent="0" algn="l">
              <a:buNone/>
            </a:pPr>
            <a:r>
              <a:rPr lang="en-US" sz="1100" b="1" dirty="0">
                <a:solidFill>
                  <a:srgbClr val="FFD600"/>
                </a:solidFill>
              </a:rPr>
              <a:t>Q4.  A REST Assured test passes locally but gets a 401 in CI. What are the two most likely causes?</a:t>
            </a:r>
            <a:endParaRPr lang="en-US" sz="1100" dirty="0"/>
          </a:p>
        </p:txBody>
      </p:sp>
      <p:sp>
        <p:nvSpPr>
          <p:cNvPr id="24" name="Text 22"/>
          <p:cNvSpPr/>
          <p:nvPr/>
        </p:nvSpPr>
        <p:spPr>
          <a:xfrm>
            <a:off x="548640" y="4398264"/>
            <a:ext cx="8046720" cy="512064"/>
          </a:xfrm>
          <a:prstGeom prst="rect">
            <a:avLst/>
          </a:prstGeom>
          <a:noFill/>
          <a:ln/>
        </p:spPr>
        <p:txBody>
          <a:bodyPr wrap="square" lIns="0" tIns="0" rIns="0" bIns="0" rtlCol="0" anchor="ctr"/>
          <a:lstStyle/>
          <a:p>
            <a:pPr marL="0" indent="0" algn="l">
              <a:buNone/>
            </a:pPr>
            <a:r>
              <a:rPr lang="en-US" sz="950" dirty="0">
                <a:solidFill>
                  <a:srgbClr val="E8F4FD"/>
                </a:solidFill>
              </a:rPr>
              <a:t>▸  1) The API key secret was not correctly injected — check that the secret name in the YAML matches the GitHub repo secret name exactly. 2) The API key has expired or the secret value is wrong. Check the CI env-var injection with echo (masked) and verify the key is still valid.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FDBD12B-C607-2E48-B47A-E347C59F8AB4}">
  <we:reference id="wa200010001" version="1.0.0.1" store="en-GB" storeType="OMEX"/>
  <we:alternateReferences>
    <we:reference id="wa200010001" version="1.0.0.1" store="wa200010001" storeType="OMEX"/>
  </we:alternateReferences>
  <we:properties>
    <we:property name="claude.fileId" value="&quot;d18c59f7-71d1-4698-81c5-39b10752b3a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69</TotalTime>
  <Words>3320</Words>
  <Application>Microsoft Macintosh PowerPoint</Application>
  <PresentationFormat>On-screen Show (16:9)</PresentationFormat>
  <Paragraphs>403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Testing with CI/CD – Day 5</dc:title>
  <dc:subject>PptxGenJS Presentation</dc:subject>
  <dc:creator>Jai Singh</dc:creator>
  <cp:lastModifiedBy>Jai Singh</cp:lastModifiedBy>
  <cp:revision>8</cp:revision>
  <dcterms:created xsi:type="dcterms:W3CDTF">2026-04-11T10:59:28Z</dcterms:created>
  <dcterms:modified xsi:type="dcterms:W3CDTF">2026-04-11T12:35:25Z</dcterms:modified>
</cp:coreProperties>
</file>