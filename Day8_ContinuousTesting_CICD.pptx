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960120"/>
            <a:ext cx="155448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48132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End-to-End Continuous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Testing Strategy &amp;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Capstone Preparation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74320" y="3401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9A825"/>
                </a:solidFill>
              </a:rPr>
              <a:t>Day 8  ·  Module 8  ·  2 Hours  ·  Final Session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858768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858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A825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858768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858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A825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858768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858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A825"/>
                </a:solidFill>
              </a:rPr>
              <a:t>30% Strategy / 70% Capstone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TODAY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825496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25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Integrate Days 1–7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80760" y="3136392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136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Capstone Project Brief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80760" y="3447288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447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Strategy Document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80760" y="3758184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758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Peer Review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SESSION GOALS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Today's Session Achieves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Synthesise all seven modules into a coherent strategy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Walk through how the course's seven topics (frameworks, version control, CI pipelines, API testing, containers, reporting, optimisation) connect into a single, deliverable continuous testing practice.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Produce a Capstone Project — end-to-end pipeline design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Design and document a complete CI pipeline for a sample application: test strategy, tool choices, pipeline stages, environment configuration, quality gates, and reporting approach.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53"/>
                </a:solidFill>
              </a:rPr>
              <a:t>Present, peer-review, and refine the strategy document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Each participant or team presents their pipeline design. Peers provide structured feedback. Trainer facilitates alignment to industry best practices.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COURSE JOURNEY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8-Day Journey — What We Built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86968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86968"/>
            <a:ext cx="2048256" cy="4206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60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978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CT Fundamentals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380744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Shift-left/right · Test pyramid · DORA · CI/CD pipeline stages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23744" y="886968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886968"/>
            <a:ext cx="204825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960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80944" y="978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Test Frameworks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15184" y="1380744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JUnit 5 · PyTest · TestNG · Maven/Gradle · CI-friendly design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81728" y="886968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886968"/>
            <a:ext cx="2048256" cy="42062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60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978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Version Control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380744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Git workflows · PR best practices · Branch protection · CODEOWNERS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39712" y="886968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886968"/>
            <a:ext cx="2048256" cy="4206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960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96912" y="978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CI Pipeline Design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31152" y="1380744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GitHub Actions · Jenkins · Azure DevOps · Parallel/matrix · Flaky tests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953512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53512"/>
            <a:ext cx="2048256" cy="42062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044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API Testing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447288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REST Assured 6 · Postman/Newman · Contract/schema validation · CI integration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23744" y="2953512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23744" y="2953512"/>
            <a:ext cx="204825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96896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80944" y="3044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Containers &amp; 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15184" y="3447288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Docker · Testcontainers · Test data strategies · Env config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81728" y="2953512"/>
            <a:ext cx="2048256" cy="1938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1728" y="2953512"/>
            <a:ext cx="2048256" cy="42062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38928" y="3044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Reports &amp; Gates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3447288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Allure 3 · JaCoCo 0.8.14 · Coverage thresholds · Pipeline optimisation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39712" y="2953512"/>
            <a:ext cx="2048256" cy="1938528"/>
          </a:xfrm>
          <a:prstGeom prst="rect">
            <a:avLst/>
          </a:prstGeom>
          <a:solidFill>
            <a:srgbClr val="29B6F6"/>
          </a:solidFill>
          <a:ln w="25400">
            <a:solidFill>
              <a:srgbClr val="29B6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39712" y="2953512"/>
            <a:ext cx="2048256" cy="42062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2864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96912" y="3044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Strategy &amp; Capstone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31152" y="3447288"/>
            <a:ext cx="1883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1B2A"/>
                </a:solidFill>
              </a:rPr>
              <a:t>End-to-end integration · Pipeline design doc · Peer review</a:t>
            </a:r>
            <a:endParaRPr lang="en-US" sz="8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304495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E2E STRATEGY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Continuous Testing Strategy Framework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77824"/>
            <a:ext cx="1664208" cy="38953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77824"/>
            <a:ext cx="1664208" cy="5120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89611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Test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Portfolio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8912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Unit (60–70%) — fast, isolated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38912" y="195681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Integration (20–30%) — service boundary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38912" y="24505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API (service-level contract)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" y="29443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E2E (≤10%) — critical journeys only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8912" y="3438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Avoid over-indexing on E2E — slow &amp; fragile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121408" y="877824"/>
            <a:ext cx="1664208" cy="389534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21408" y="877824"/>
            <a:ext cx="1664208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95097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23744" y="89611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Pipeline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194560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Trigger strategy: push → unit; PR → full suite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194560" y="195681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Fail fast: unit tests first (needs:)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194560" y="24505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Parallel matrix for integration tests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194560" y="29443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Quality gates: JaCoCo + Allure trend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194560" y="3438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Artefact upload + reporting action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877056" y="877824"/>
            <a:ext cx="1664208" cy="38953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877056" y="877824"/>
            <a:ext cx="1664208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950976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279392" y="89611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Toolchain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Decisions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950208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Framework: JUnit 5 / PyTest / TestNG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950208" y="195681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API: REST Assured / Newman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950208" y="24505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Containers: Testcontainers / Compose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3950208" y="29443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Reports: Allure 3 + JaCoCo 0.8.14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950208" y="3438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CI platform: GitHub Actions / Jenkins / AzDO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5632704" y="877824"/>
            <a:ext cx="1664208" cy="389534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632704" y="877824"/>
            <a:ext cx="1664208" cy="5120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856" y="950976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035040" y="89611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Quality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Gates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5705856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Coverage: LINE ≥ 80%, BRANCH ≥ 70%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705856" y="195681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Pass rate target &gt; 95% per run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705856" y="24505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Flake rate &lt; 2% (quarantine policy)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5705856" y="29443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All CI steps: if: always() for reports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705856" y="3438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Block merge on gate failure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7388352" y="877824"/>
            <a:ext cx="1664208" cy="38953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388352" y="877824"/>
            <a:ext cx="1664208" cy="5120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950976"/>
            <a:ext cx="292608" cy="29260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790688" y="89611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Metrics &amp;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Feedback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7461504" y="1463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Pipeline duration &lt; 10 min target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7461504" y="195681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Test pass rate trend (Allure history)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7461504" y="24505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Mean time to green — track weekly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7461504" y="29443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Coverage trend — enforce via JaCoCo check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7461504" y="3438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Flaky test SLA — assign owner, fix or quarantine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CAPSTONE BRIEF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Capstone Project Brief — Design Your CI Pipeline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77824"/>
            <a:ext cx="84124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961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🎯  Scenario: You are joining a team as SDET / DevOps Engineer. The team has a Java Spring Boot REST API with no automated CI pipeline. Your task: design and document a complete continuous testing pipeline from scratch using the tools and practices from this course.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26464"/>
            <a:ext cx="640080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92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Test Strategy Document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81051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Test pyramid allocation — % split and rationale for your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1488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Tool choices — framework, API testing tool, CI platform, reporting tool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1051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Quality gate definitions — coverage thresholds, pass rate target, flake policy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Test data strategy — seed scripts, UUID isolation, environment config approach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15184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15184"/>
            <a:ext cx="640080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809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670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CI Pipeline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29992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Pipeline YAML skeleton (GitHub Actions / Jenkins / Azure DevOps — your choice)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333756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Job dependency graph: which jobs are parallel, which require needs: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9992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Trigger strategy: push / PR / schedule / merge — what runs when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Report publishing: Allure history + JaCoCo gate integrated into pipeline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03904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803904"/>
            <a:ext cx="640080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696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Environment &amp; Data Configuration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18795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Docker / Testcontainers strategy for integration tests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45262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application-test.properties with env-var injection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418795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Seed data approach and secret management (no hardcoded credentials)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5262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Branch protection rules and CODEOWNERS definition for the test repo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EVALUATION CRITERIA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Capstone Evaluation Criteria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77824"/>
            <a:ext cx="40233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778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Scoring Rubric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4023360" cy="6949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61872"/>
            <a:ext cx="585216" cy="6949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4475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3075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Test Strategy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1591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Clear pyramid rationale, appropriate tool choices, documented quality gate definitions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4023360" cy="69494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11680"/>
            <a:ext cx="585216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9456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0574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Pipeline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23408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Correct YAML structure, logical job dependencies, appropriate trigger strategy, parallel execution where applicable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4023360" cy="6949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61488"/>
            <a:ext cx="585216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4436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2807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Env &amp; Data Config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3090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Docker/Testcontainers usage, env-var injection, no hardcoded secrets, test data isolation strategy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4023360" cy="69494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11296"/>
            <a:ext cx="585216" cy="69494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9417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557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Reports &amp; Gates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3840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Allure integration, JaCoCo coverage gate configured, reporting step with if: always()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4023360" cy="694944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61104"/>
            <a:ext cx="585216" cy="69494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4398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4306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Presentation &amp; Peer Review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" y="4590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Clear delivery, ability to justify decisions, constructive peer feedback given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877824"/>
            <a:ext cx="4160520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8778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Peer Review Guide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1261872"/>
            <a:ext cx="4160520" cy="84124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481328"/>
            <a:ext cx="256032" cy="25603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001768" y="131673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What works well?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001768" y="160020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Start with genuine strengths: a well-structured pipeline graph, a clear data strategy, good use of fail-fast sequencing. Be specific, not generic.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617720" y="2157984"/>
            <a:ext cx="4160520" cy="84124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77440"/>
            <a:ext cx="256032" cy="25603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001768" y="221284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What would you question?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5001768" y="2496312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Probe decisions: 'Why E2E tests on every PR push?' / 'How does the coverage threshold handle legacy code?' / 'What happens when the DB container doesn't start?'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617720" y="3054096"/>
            <a:ext cx="4160520" cy="84124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273552"/>
            <a:ext cx="256032" cy="256032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5001768" y="31089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What would you improve?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5001768" y="3392424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Offer one concrete suggestion with rationale: 'Adding a nightly schedule for E2E would remove them from the PR gate and reduce PR wait time.'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4617720" y="3950208"/>
            <a:ext cx="4160520" cy="841248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169664"/>
            <a:ext cx="256032" cy="256032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001768" y="40050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9B6F6"/>
                </a:solidFill>
              </a:rPr>
              <a:t>Presentation checklist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5001768" y="4288536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5 min presentation + 5 min Q&amp;A per participant. Walk through: scenario → decisions → pipeline diagram → quality gate → what you would iterate next.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ANTI-PATTERNS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CI Testing Anti-Patterns — What to Avoid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2706624" cy="32918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950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9509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Ice-cream cone test distribution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More E2E than unit tests. Slow, brittle, expensive to maintain. Flip the pyramid: invest heavily at unit and service layers; keep E2E thin and stable for critical journeys only.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14400"/>
            <a:ext cx="2706624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50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9584" y="9509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Hardcoding environment config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298448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Base URLs, DB credentials, or API keys committed to test code or compose files. Use env-var injection and CI secrets exclusively. Violates security and portability principles.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914400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914400"/>
            <a:ext cx="2706624" cy="32918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950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9509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Over-relying on retries for flaky tests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298448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Retries mask flakiness — they do not fix it. A retry culture accumulates technical debt and erodes CI trust. Detect → quarantine → assign owner → fix.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962656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62656"/>
            <a:ext cx="2706624" cy="32918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" y="29992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Targeting 100% coverage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346704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100% coverage leads to tests that verify implementation details rather than behaviour. Set risk-based thresholds (70–85% typical; 85–95% critical logic). Exclude generated/config code.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2962656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962656"/>
            <a:ext cx="2706624" cy="32918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55264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29584" y="29992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Full E2E suite on every PR push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3346704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E2E tests are slow and environment-sensitive. Run fast unit + API tests on PR push. Reserve full regression for scheduled/nightly runs or post-merge to main.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2962656"/>
            <a:ext cx="2706624" cy="1956816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962656"/>
            <a:ext cx="2706624" cy="32918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64224" y="29992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No test reports on failure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346704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Not using if: always() on report steps means the report disappears when you need it most. Every Allure, JUnit XML upload, and JaCoCo publish step must use if: always().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CAPSTONE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Capstone Work Session — Build Your Pipeline Design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0" y="347472"/>
            <a:ext cx="237744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47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A825"/>
                </a:solidFill>
              </a:rPr>
              <a:t>70% of today's session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3327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087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30 min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5760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A4AE"/>
                </a:solidFill>
              </a:rPr>
              <a:t>Test strategy section of design doc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Draft Test Strategy &amp; Tool Selection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Define your test pyramid split: what % unit / integration / API / E2E and why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Choose your CI platform (GitHub Actions recommended) and justify the choice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Define quality gates: coverage %, pass rate target, flake policy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Choose your reporting toolchain: Allure + JaCoCo — configure dependency versions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8529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</a:rPr>
              <a:t>Phase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</a:rPr>
              <a:t>30 min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65760" y="32644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A4AE"/>
                </a:solidFill>
              </a:rPr>
              <a:t>Pipeline YAML skeleton (ci.yml)</a:t>
            </a:r>
            <a:endParaRPr lang="en-US" sz="72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Design CI Pipeline YAML Structure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Sketch job graph: unit-test → api-test (parallel) → integration-test → report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Write GitHub Actions YAML skeleton: triggers, jobs, needs:, runs-on: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Add: checkout@v4, setup-java@v5 (temurin 21), cache@v4, upload-artifact@v4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Wire in: mvn test → mvn verify → mvn allure:report → peaceiris gh-pages publish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2160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197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Phase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20 min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365760" y="46085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A4AE"/>
                </a:solidFill>
              </a:rPr>
              <a:t>Peer feedback form + refined strategy doc</a:t>
            </a:r>
            <a:endParaRPr lang="en-US" sz="72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Peer Review &amp; Presentation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5-min walk-through: scenario → decisions → pipeline diagram → quality gate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Peer asks: one strength, one question, one suggestion (structured feedback)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Trainer facilitates: aligns to patterns seen across Days 1–7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Capture: what would you iterate next? Add to your strategy doc as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Take Away From This Course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Complete Course Deliverable Portfolio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420624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5361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D1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1463040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9536" y="1353312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 pipeline concept map — stages, triggers, test levels, shift-left/right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81728" y="1280160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280160"/>
            <a:ext cx="420624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304" y="15361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D2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6304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75504" y="1353312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CI-ready test automation framework skeleton (Maven / JUnit 5 / TestNG)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65760" y="2176272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2176272"/>
            <a:ext cx="420624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2336" y="24323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D3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35915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9536" y="2249424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Git repository with test code, branch protection rules, CODEOWNERS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81728" y="2176272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81728" y="2176272"/>
            <a:ext cx="420624" cy="8229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18304" y="24323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D4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35915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75504" y="2249424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 pipeline configuration file (GitHub Actions / Jenkins / Azure DevOps)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65760" y="3072384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65760" y="3072384"/>
            <a:ext cx="420624" cy="8229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02336" y="33284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D5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325526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59536" y="3145536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API test suite (REST Assured + JSON Schema) integrated into CI pipeline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681728" y="3072384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681728" y="3072384"/>
            <a:ext cx="420624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18304" y="33284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25526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175504" y="3145536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Dockerfile + docker-compose.test.yml + environment configuration documentation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65760" y="3968496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65760" y="3968496"/>
            <a:ext cx="420624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02336" y="42245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D7</a:t>
            </a:r>
            <a:endParaRPr lang="en-US" sz="9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52" y="4151376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59536" y="4041648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Published Allure report + JaCoCo coverage gate evidence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681728" y="3968496"/>
            <a:ext cx="41605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81728" y="3968496"/>
            <a:ext cx="420624" cy="8229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718304" y="42245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D8</a:t>
            </a:r>
            <a:endParaRPr lang="en-US" sz="9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151376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175504" y="4041648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Capstone: End-to-end CI pipeline design document + peer-reviewed strategy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8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KEY TAKEAWAYS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Course Key Takeaways &amp; Your Next Steps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77824"/>
            <a:ext cx="40233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778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The Big Ideas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9844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Continuous testing is a culture, not a tool — every team member owns quality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77393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The test pyramid reduces CI time and flakiness — invest at unit and service 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4942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Pipeline-as-code means test strategy is version-controlled and reviewable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2491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B6F6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Quality gates (JaCoCo + Allure) are your safety net — enforce them, don't ignore them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20040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5.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Environment parity (Docker/Testcontainers) eliminates 'works on my machine' permanently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7588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6.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Diagnose bottlenecks before optimising — step timings in CI are your primary signal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877824"/>
            <a:ext cx="4160520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8778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Your Next Steps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1261872"/>
            <a:ext cx="4160520" cy="676656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426464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74336" y="1307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This week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74336" y="157276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Apply the pipeline design from your capstone to a real project. Start with the unit-test job and add stages incrementally.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17720" y="1993392"/>
            <a:ext cx="4160520" cy="676656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57984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74336" y="2039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Next month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974336" y="230428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Enable JaCoCo coverage gate in production pipeline. Set initial threshold at current coverage – 5%, then tighten quarterly.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17720" y="2724912"/>
            <a:ext cx="4160520" cy="676656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889504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74336" y="2770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Next quarter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974336" y="303580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Introduce Testcontainers for your heaviest integration tests. Eliminate the shared staging dependency for at least one test suite.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617720" y="3456432"/>
            <a:ext cx="4160520" cy="676656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621024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974336" y="3502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B6F6"/>
                </a:solidFill>
              </a:rPr>
              <a:t>Ongoing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974336" y="376732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Track pipeline duration and flake rate weekly. Review Allure trend charts in sprint retrospectives. Treat test health as a first-class engineering metric.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617720" y="4187952"/>
            <a:ext cx="4160520" cy="676656"/>
          </a:xfrm>
          <a:prstGeom prst="rect">
            <a:avLst/>
          </a:prstGeom>
          <a:solidFill>
            <a:srgbClr val="112233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352544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974336" y="4233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Resources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974336" y="449884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testcontainers.com · allurereport.org · rest-assured.io · docs.github.com/actions · jacoco.org · DORA (dora.dev)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65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933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825"/>
                </a:solidFill>
              </a:rPr>
              <a:t>Congratulations!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You have completed Continuous Testing with CI/CD — Intermediate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D1: CT Fundamentals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42032" y="3017520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42032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D2: Test Frameworks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26864" y="3017520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D3: Version Control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711696" y="3017520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11696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D4: CI Pipeline Design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3493008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930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D5: API Testing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42032" y="3493008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42032" y="34930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D6: Containers &amp; Data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3493008"/>
            <a:ext cx="1975104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4930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D7: Reports &amp; Gates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711696" y="3493008"/>
            <a:ext cx="1975104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11696" y="34930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D8: Strategy &amp; Capstone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1ClickTech Global Services  ·  Jai Singh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8</dc:title>
  <dc:subject>PptxGenJS Presentation</dc:subject>
  <dc:creator>Jai Singh</dc:creator>
  <cp:lastModifiedBy>Jai Singh</cp:lastModifiedBy>
  <cp:revision>1</cp:revision>
  <dcterms:created xsi:type="dcterms:W3CDTF">2026-04-12T20:35:27Z</dcterms:created>
  <dcterms:modified xsi:type="dcterms:W3CDTF">2026-04-12T20:35:27Z</dcterms:modified>
</cp:coreProperties>
</file>